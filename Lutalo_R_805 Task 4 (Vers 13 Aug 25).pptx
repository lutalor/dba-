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handoutMasterIdLst>
    <p:handoutMasterId r:id="rId29"/>
  </p:handoutMasterIdLst>
  <p:sldIdLst>
    <p:sldId id="323" r:id="rId2"/>
    <p:sldId id="269" r:id="rId3"/>
    <p:sldId id="321" r:id="rId4"/>
    <p:sldId id="322" r:id="rId5"/>
    <p:sldId id="363" r:id="rId6"/>
    <p:sldId id="256" r:id="rId7"/>
    <p:sldId id="359" r:id="rId8"/>
    <p:sldId id="327" r:id="rId9"/>
    <p:sldId id="259" r:id="rId10"/>
    <p:sldId id="330" r:id="rId11"/>
    <p:sldId id="336" r:id="rId12"/>
    <p:sldId id="338" r:id="rId13"/>
    <p:sldId id="339" r:id="rId14"/>
    <p:sldId id="342" r:id="rId15"/>
    <p:sldId id="343" r:id="rId16"/>
    <p:sldId id="344" r:id="rId17"/>
    <p:sldId id="349" r:id="rId18"/>
    <p:sldId id="364" r:id="rId19"/>
    <p:sldId id="348" r:id="rId20"/>
    <p:sldId id="350" r:id="rId21"/>
    <p:sldId id="351" r:id="rId22"/>
    <p:sldId id="352" r:id="rId23"/>
    <p:sldId id="360" r:id="rId24"/>
    <p:sldId id="314" r:id="rId25"/>
    <p:sldId id="358" r:id="rId26"/>
    <p:sldId id="362" r:id="rId27"/>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B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49" autoAdjust="0"/>
    <p:restoredTop sz="61520" autoAdjust="0"/>
  </p:normalViewPr>
  <p:slideViewPr>
    <p:cSldViewPr snapToGrid="0" snapToObjects="1">
      <p:cViewPr>
        <p:scale>
          <a:sx n="110" d="100"/>
          <a:sy n="110" d="100"/>
        </p:scale>
        <p:origin x="1208" y="-336"/>
      </p:cViewPr>
      <p:guideLst/>
    </p:cSldViewPr>
  </p:slideViewPr>
  <p:outlineViewPr>
    <p:cViewPr>
      <p:scale>
        <a:sx n="33" d="100"/>
        <a:sy n="33" d="100"/>
      </p:scale>
      <p:origin x="0" y="-23368"/>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p:scale>
          <a:sx n="120" d="100"/>
          <a:sy n="120" d="100"/>
        </p:scale>
        <p:origin x="-104" y="2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Users/rodger.lutalo/Desktop/DRP%20804/Document%20Reviews/Visual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b="1"/>
              <a:t>Effectiveness of current training programs</a:t>
            </a:r>
          </a:p>
        </c:rich>
      </c:tx>
      <c:layout>
        <c:manualLayout>
          <c:xMode val="edge"/>
          <c:yMode val="edge"/>
          <c:x val="0.17341526879164776"/>
          <c:y val="0"/>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G"/>
        </a:p>
      </c:txPr>
    </c:title>
    <c:autoTitleDeleted val="0"/>
    <c:plotArea>
      <c:layout/>
      <c:barChart>
        <c:barDir val="bar"/>
        <c:grouping val="clustered"/>
        <c:varyColors val="0"/>
        <c:ser>
          <c:idx val="0"/>
          <c:order val="0"/>
          <c:tx>
            <c:strRef>
              <c:f>'Eff of Training'!$D$2:$D$4</c:f>
              <c:strCache>
                <c:ptCount val="3"/>
                <c:pt idx="0">
                  <c:v>Effectiveness of current training programs</c:v>
                </c:pt>
                <c:pt idx="2">
                  <c:v>% Respondents</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G"/>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round/>
                    </a:ln>
                    <a:effectLst/>
                  </c:spPr>
                </c15:leaderLines>
              </c:ext>
            </c:extLst>
          </c:dLbls>
          <c:cat>
            <c:strRef>
              <c:f>'Eff of Training'!$C$5:$C$9</c:f>
              <c:strCache>
                <c:ptCount val="5"/>
                <c:pt idx="0">
                  <c:v>Very effective</c:v>
                </c:pt>
                <c:pt idx="1">
                  <c:v>Moderately effective</c:v>
                </c:pt>
                <c:pt idx="2">
                  <c:v>Slightly effective</c:v>
                </c:pt>
                <c:pt idx="3">
                  <c:v>Not effective at all</c:v>
                </c:pt>
                <c:pt idx="4">
                  <c:v>Slightly + Not eff.</c:v>
                </c:pt>
              </c:strCache>
            </c:strRef>
          </c:cat>
          <c:val>
            <c:numRef>
              <c:f>'Eff of Training'!$D$5:$D$9</c:f>
              <c:numCache>
                <c:formatCode>0%</c:formatCode>
                <c:ptCount val="5"/>
                <c:pt idx="0">
                  <c:v>0.25</c:v>
                </c:pt>
                <c:pt idx="1">
                  <c:v>0.4375</c:v>
                </c:pt>
                <c:pt idx="2">
                  <c:v>0.125</c:v>
                </c:pt>
                <c:pt idx="3">
                  <c:v>0.125</c:v>
                </c:pt>
                <c:pt idx="4">
                  <c:v>6.25E-2</c:v>
                </c:pt>
              </c:numCache>
            </c:numRef>
          </c:val>
          <c:extLst>
            <c:ext xmlns:c16="http://schemas.microsoft.com/office/drawing/2014/chart" uri="{C3380CC4-5D6E-409C-BE32-E72D297353CC}">
              <c16:uniqueId val="{00000000-2DC7-EC4A-AF3F-65D9FC2D31E7}"/>
            </c:ext>
          </c:extLst>
        </c:ser>
        <c:dLbls>
          <c:showLegendKey val="0"/>
          <c:showVal val="0"/>
          <c:showCatName val="0"/>
          <c:showSerName val="0"/>
          <c:showPercent val="0"/>
          <c:showBubbleSize val="0"/>
        </c:dLbls>
        <c:gapWidth val="182"/>
        <c:axId val="843539423"/>
        <c:axId val="875720911"/>
        <c:extLst>
          <c:ext xmlns:c15="http://schemas.microsoft.com/office/drawing/2012/chart" uri="{02D57815-91ED-43cb-92C2-25804820EDAC}">
            <c15:filteredBarSeries>
              <c15:ser>
                <c:idx val="1"/>
                <c:order val="1"/>
                <c:tx>
                  <c:strRef>
                    <c:extLst>
                      <c:ext uri="{02D57815-91ED-43cb-92C2-25804820EDAC}">
                        <c15:formulaRef>
                          <c15:sqref>'Eff of Training'!$E$2:$E$4</c15:sqref>
                        </c15:formulaRef>
                      </c:ext>
                    </c:extLst>
                    <c:strCache>
                      <c:ptCount val="3"/>
                      <c:pt idx="0">
                        <c:v>Effectiveness of current training programs</c:v>
                      </c:pt>
                      <c:pt idx="2">
                        <c:v>% Respondents</c:v>
                      </c:pt>
                    </c:strCache>
                  </c:strRef>
                </c:tx>
                <c:spPr>
                  <a:solidFill>
                    <a:schemeClr val="accent2"/>
                  </a:solidFill>
                  <a:ln>
                    <a:noFill/>
                  </a:ln>
                  <a:effectLst/>
                </c:spPr>
                <c:invertIfNegative val="0"/>
                <c:cat>
                  <c:strRef>
                    <c:extLst>
                      <c:ext uri="{02D57815-91ED-43cb-92C2-25804820EDAC}">
                        <c15:formulaRef>
                          <c15:sqref>'Eff of Training'!$C$5:$C$9</c15:sqref>
                        </c15:formulaRef>
                      </c:ext>
                    </c:extLst>
                    <c:strCache>
                      <c:ptCount val="5"/>
                      <c:pt idx="0">
                        <c:v>Very effective</c:v>
                      </c:pt>
                      <c:pt idx="1">
                        <c:v>Moderately effective</c:v>
                      </c:pt>
                      <c:pt idx="2">
                        <c:v>Slightly effective</c:v>
                      </c:pt>
                      <c:pt idx="3">
                        <c:v>Not effective at all</c:v>
                      </c:pt>
                      <c:pt idx="4">
                        <c:v>Slightly + Not eff.</c:v>
                      </c:pt>
                    </c:strCache>
                  </c:strRef>
                </c:cat>
                <c:val>
                  <c:numRef>
                    <c:extLst>
                      <c:ext uri="{02D57815-91ED-43cb-92C2-25804820EDAC}">
                        <c15:formulaRef>
                          <c15:sqref>'Eff of Training'!$E$5:$E$9</c15:sqref>
                        </c15:formulaRef>
                      </c:ext>
                    </c:extLst>
                    <c:numCache>
                      <c:formatCode>General</c:formatCode>
                      <c:ptCount val="5"/>
                    </c:numCache>
                  </c:numRef>
                </c:val>
                <c:extLst>
                  <c:ext xmlns:c16="http://schemas.microsoft.com/office/drawing/2014/chart" uri="{C3380CC4-5D6E-409C-BE32-E72D297353CC}">
                    <c16:uniqueId val="{00000001-2DC7-EC4A-AF3F-65D9FC2D31E7}"/>
                  </c:ext>
                </c:extLst>
              </c15:ser>
            </c15:filteredBarSeries>
          </c:ext>
        </c:extLst>
      </c:barChart>
      <c:catAx>
        <c:axId val="843539423"/>
        <c:scaling>
          <c:orientation val="minMax"/>
        </c:scaling>
        <c:delete val="0"/>
        <c:axPos val="l"/>
        <c:numFmt formatCode="General" sourceLinked="1"/>
        <c:majorTickMark val="none"/>
        <c:minorTickMark val="none"/>
        <c:tickLblPos val="nextTo"/>
        <c:spPr>
          <a:noFill/>
          <a:ln w="9525">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G"/>
          </a:p>
        </c:txPr>
        <c:crossAx val="875720911"/>
        <c:crosses val="autoZero"/>
        <c:auto val="1"/>
        <c:lblAlgn val="ctr"/>
        <c:lblOffset val="100"/>
        <c:noMultiLvlLbl val="0"/>
      </c:catAx>
      <c:valAx>
        <c:axId val="875720911"/>
        <c:scaling>
          <c:orientation val="minMax"/>
        </c:scaling>
        <c:delete val="1"/>
        <c:axPos val="b"/>
        <c:numFmt formatCode="0%" sourceLinked="1"/>
        <c:majorTickMark val="none"/>
        <c:minorTickMark val="none"/>
        <c:tickLblPos val="nextTo"/>
        <c:crossAx val="843539423"/>
        <c:crosses val="autoZero"/>
        <c:crossBetween val="between"/>
      </c:valAx>
      <c:spPr>
        <a:noFill/>
        <a:ln>
          <a:noFill/>
        </a:ln>
        <a:effectLst/>
      </c:spPr>
    </c:plotArea>
    <c:plotVisOnly val="1"/>
    <c:dispBlanksAs val="gap"/>
    <c:showDLblsOverMax val="0"/>
  </c:chart>
  <c:spPr>
    <a:noFill/>
    <a:ln w="25400">
      <a:solidFill>
        <a:schemeClr val="tx1"/>
      </a:solidFill>
    </a:ln>
    <a:effectLst/>
  </c:spPr>
  <c:txPr>
    <a:bodyPr/>
    <a:lstStyle/>
    <a:p>
      <a:pPr>
        <a:defRPr sz="1000">
          <a:latin typeface="Times New Roman" panose="02020603050405020304" pitchFamily="18" charset="0"/>
          <a:cs typeface="Times New Roman" panose="02020603050405020304" pitchFamily="18" charset="0"/>
        </a:defRPr>
      </a:pPr>
      <a:endParaRPr lang="en-UG"/>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round/>
      </a:ln>
    </cs:spPr>
  </cs:downBar>
  <cs:dropLine>
    <cs:lnRef idx="0"/>
    <cs:fillRef idx="0"/>
    <cs:effectRef idx="0"/>
    <cs:fontRef idx="minor">
      <a:schemeClr val="tx1"/>
    </cs:fontRef>
    <cs:spPr>
      <a:ln w="9525">
        <a:solidFill>
          <a:schemeClr val="tx1">
            <a:lumMod val="35000"/>
            <a:lumOff val="65000"/>
          </a:schemeClr>
        </a:solidFill>
        <a:round/>
      </a:ln>
    </cs:spPr>
  </cs:dropLine>
  <cs:errorBar>
    <cs:lnRef idx="0"/>
    <cs:fillRef idx="0"/>
    <cs:effectRef idx="0"/>
    <cs:fontRef idx="minor">
      <a:schemeClr val="tx1"/>
    </cs:fontRef>
    <cs:spPr>
      <a:ln w="9525">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a:solidFill>
          <a:schemeClr val="tx1">
            <a:lumMod val="15000"/>
            <a:lumOff val="85000"/>
          </a:schemeClr>
        </a:solidFill>
        <a:round/>
      </a:ln>
    </cs:spPr>
  </cs:gridlineMajor>
  <cs:gridlineMinor>
    <cs:lnRef idx="0"/>
    <cs:fillRef idx="0"/>
    <cs:effectRef idx="0"/>
    <cs:fontRef idx="minor">
      <a:schemeClr val="tx1"/>
    </cs:fontRef>
    <cs:spPr>
      <a:ln w="9525">
        <a:solidFill>
          <a:schemeClr val="tx1">
            <a:lumMod val="5000"/>
            <a:lumOff val="95000"/>
          </a:schemeClr>
        </a:solidFill>
        <a:round/>
      </a:ln>
    </cs:spPr>
  </cs:gridlineMinor>
  <cs:hiLoLine>
    <cs:lnRef idx="0"/>
    <cs:fillRef idx="0"/>
    <cs:effectRef idx="0"/>
    <cs:fontRef idx="minor">
      <a:schemeClr val="tx1"/>
    </cs:fontRef>
    <cs:spPr>
      <a:ln w="9525">
        <a:solidFill>
          <a:schemeClr val="tx1">
            <a:lumMod val="50000"/>
            <a:lumOff val="50000"/>
          </a:schemeClr>
        </a:solidFill>
        <a:round/>
      </a:ln>
    </cs:spPr>
  </cs:hiLoLine>
  <cs:leaderLine>
    <cs:lnRef idx="0"/>
    <cs:fillRef idx="0"/>
    <cs:effectRef idx="0"/>
    <cs:fontRef idx="minor">
      <a:schemeClr val="tx1"/>
    </cs:fontRef>
    <cs:spPr>
      <a:ln w="9525">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13EBDD-FE17-4E4D-8A13-DFB3A4BE32AF}" type="doc">
      <dgm:prSet loTypeId="urn:microsoft.com/office/officeart/2008/layout/LinedList" loCatId="list" qsTypeId="urn:microsoft.com/office/officeart/2005/8/quickstyle/simple5" qsCatId="simple" csTypeId="urn:microsoft.com/office/officeart/2005/8/colors/accent1_2" csCatId="accent1"/>
      <dgm:spPr/>
      <dgm:t>
        <a:bodyPr/>
        <a:lstStyle/>
        <a:p>
          <a:endParaRPr lang="en-US"/>
        </a:p>
      </dgm:t>
    </dgm:pt>
    <dgm:pt modelId="{9E7CE38A-5086-4A9D-BEBE-F718729E2CCB}">
      <dgm:prSet/>
      <dgm:spPr/>
      <dgm:t>
        <a:bodyPr/>
        <a:lstStyle/>
        <a:p>
          <a:r>
            <a:rPr lang="en-US" dirty="0">
              <a:latin typeface="Century Gothic" panose="020B0502020202020204" pitchFamily="34" charset="0"/>
            </a:rPr>
            <a:t>Background to the Study</a:t>
          </a:r>
        </a:p>
      </dgm:t>
    </dgm:pt>
    <dgm:pt modelId="{40E93E50-3E81-40C6-9E51-9DDC72C63916}" type="parTrans" cxnId="{4C3BBFCE-8165-4806-81C9-BED86DA7B9E4}">
      <dgm:prSet/>
      <dgm:spPr/>
      <dgm:t>
        <a:bodyPr/>
        <a:lstStyle/>
        <a:p>
          <a:endParaRPr lang="en-US">
            <a:latin typeface="Century Gothic" panose="020B0502020202020204" pitchFamily="34" charset="0"/>
          </a:endParaRPr>
        </a:p>
      </dgm:t>
    </dgm:pt>
    <dgm:pt modelId="{A96B9532-BF3F-4C23-A1CA-4EA654DD6FF2}" type="sibTrans" cxnId="{4C3BBFCE-8165-4806-81C9-BED86DA7B9E4}">
      <dgm:prSet/>
      <dgm:spPr/>
      <dgm:t>
        <a:bodyPr/>
        <a:lstStyle/>
        <a:p>
          <a:endParaRPr lang="en-US">
            <a:latin typeface="Century Gothic" panose="020B0502020202020204" pitchFamily="34" charset="0"/>
          </a:endParaRPr>
        </a:p>
      </dgm:t>
    </dgm:pt>
    <dgm:pt modelId="{31A75377-65CD-4EB7-BBC4-2A812520991F}">
      <dgm:prSet/>
      <dgm:spPr/>
      <dgm:t>
        <a:bodyPr/>
        <a:lstStyle/>
        <a:p>
          <a:r>
            <a:rPr lang="en-US">
              <a:latin typeface="Century Gothic" panose="020B0502020202020204" pitchFamily="34" charset="0"/>
            </a:rPr>
            <a:t>Problem Statements</a:t>
          </a:r>
        </a:p>
      </dgm:t>
    </dgm:pt>
    <dgm:pt modelId="{66B677EC-F762-4092-A2C0-E769952BEE1A}" type="parTrans" cxnId="{3780561B-1399-4E03-8CCB-D9E91C8EB02B}">
      <dgm:prSet/>
      <dgm:spPr/>
      <dgm:t>
        <a:bodyPr/>
        <a:lstStyle/>
        <a:p>
          <a:endParaRPr lang="en-US">
            <a:latin typeface="Century Gothic" panose="020B0502020202020204" pitchFamily="34" charset="0"/>
          </a:endParaRPr>
        </a:p>
      </dgm:t>
    </dgm:pt>
    <dgm:pt modelId="{FD91009B-0046-46EE-9689-EC4706331DD7}" type="sibTrans" cxnId="{3780561B-1399-4E03-8CCB-D9E91C8EB02B}">
      <dgm:prSet/>
      <dgm:spPr/>
      <dgm:t>
        <a:bodyPr/>
        <a:lstStyle/>
        <a:p>
          <a:endParaRPr lang="en-US">
            <a:latin typeface="Century Gothic" panose="020B0502020202020204" pitchFamily="34" charset="0"/>
          </a:endParaRPr>
        </a:p>
      </dgm:t>
    </dgm:pt>
    <dgm:pt modelId="{F77F7AC7-1113-485C-871B-EE4FD5D8F09F}">
      <dgm:prSet/>
      <dgm:spPr/>
      <dgm:t>
        <a:bodyPr/>
        <a:lstStyle/>
        <a:p>
          <a:r>
            <a:rPr lang="en-US">
              <a:latin typeface="Century Gothic" panose="020B0502020202020204" pitchFamily="34" charset="0"/>
            </a:rPr>
            <a:t>Literature Support</a:t>
          </a:r>
        </a:p>
      </dgm:t>
    </dgm:pt>
    <dgm:pt modelId="{CCC55D0E-19A6-4CFB-9E9D-EE291A8663FD}" type="parTrans" cxnId="{41E662B7-7F41-4F83-87F8-8E5B6A567CE8}">
      <dgm:prSet/>
      <dgm:spPr/>
      <dgm:t>
        <a:bodyPr/>
        <a:lstStyle/>
        <a:p>
          <a:endParaRPr lang="en-US">
            <a:latin typeface="Century Gothic" panose="020B0502020202020204" pitchFamily="34" charset="0"/>
          </a:endParaRPr>
        </a:p>
      </dgm:t>
    </dgm:pt>
    <dgm:pt modelId="{6B3C6D41-996F-47AA-B0CC-BFC16644B2B7}" type="sibTrans" cxnId="{41E662B7-7F41-4F83-87F8-8E5B6A567CE8}">
      <dgm:prSet/>
      <dgm:spPr/>
      <dgm:t>
        <a:bodyPr/>
        <a:lstStyle/>
        <a:p>
          <a:endParaRPr lang="en-US">
            <a:latin typeface="Century Gothic" panose="020B0502020202020204" pitchFamily="34" charset="0"/>
          </a:endParaRPr>
        </a:p>
      </dgm:t>
    </dgm:pt>
    <dgm:pt modelId="{1A549F33-16FC-47F8-8EBA-3C217A0017DE}">
      <dgm:prSet/>
      <dgm:spPr/>
      <dgm:t>
        <a:bodyPr/>
        <a:lstStyle/>
        <a:p>
          <a:r>
            <a:rPr lang="en-US">
              <a:latin typeface="Century Gothic" panose="020B0502020202020204" pitchFamily="34" charset="0"/>
            </a:rPr>
            <a:t>Research Framework</a:t>
          </a:r>
        </a:p>
      </dgm:t>
    </dgm:pt>
    <dgm:pt modelId="{365EAC8F-3C3B-4E83-AE27-9B12CE4BF6BD}" type="parTrans" cxnId="{B99D6E10-09CB-4DC5-A7C9-26B00B609040}">
      <dgm:prSet/>
      <dgm:spPr/>
      <dgm:t>
        <a:bodyPr/>
        <a:lstStyle/>
        <a:p>
          <a:endParaRPr lang="en-US">
            <a:latin typeface="Century Gothic" panose="020B0502020202020204" pitchFamily="34" charset="0"/>
          </a:endParaRPr>
        </a:p>
      </dgm:t>
    </dgm:pt>
    <dgm:pt modelId="{44B32A98-18B0-4959-85DD-2660302EDB74}" type="sibTrans" cxnId="{B99D6E10-09CB-4DC5-A7C9-26B00B609040}">
      <dgm:prSet/>
      <dgm:spPr/>
      <dgm:t>
        <a:bodyPr/>
        <a:lstStyle/>
        <a:p>
          <a:endParaRPr lang="en-US">
            <a:latin typeface="Century Gothic" panose="020B0502020202020204" pitchFamily="34" charset="0"/>
          </a:endParaRPr>
        </a:p>
      </dgm:t>
    </dgm:pt>
    <dgm:pt modelId="{B1E687A5-6597-4D2B-9B27-75BEE4AF8C43}">
      <dgm:prSet/>
      <dgm:spPr/>
      <dgm:t>
        <a:bodyPr/>
        <a:lstStyle/>
        <a:p>
          <a:r>
            <a:rPr lang="en-US">
              <a:latin typeface="Century Gothic" panose="020B0502020202020204" pitchFamily="34" charset="0"/>
            </a:rPr>
            <a:t>Assumptions, Limitations and Delimitations</a:t>
          </a:r>
        </a:p>
      </dgm:t>
    </dgm:pt>
    <dgm:pt modelId="{744D91EE-E3CB-4C7D-B783-19FEF8D86697}" type="parTrans" cxnId="{1DF2E546-C43D-4693-8877-40C7B9355A18}">
      <dgm:prSet/>
      <dgm:spPr/>
      <dgm:t>
        <a:bodyPr/>
        <a:lstStyle/>
        <a:p>
          <a:endParaRPr lang="en-US">
            <a:latin typeface="Century Gothic" panose="020B0502020202020204" pitchFamily="34" charset="0"/>
          </a:endParaRPr>
        </a:p>
      </dgm:t>
    </dgm:pt>
    <dgm:pt modelId="{0BAEBBA4-B562-45DF-80D9-A1F9A6BF97E7}" type="sibTrans" cxnId="{1DF2E546-C43D-4693-8877-40C7B9355A18}">
      <dgm:prSet/>
      <dgm:spPr/>
      <dgm:t>
        <a:bodyPr/>
        <a:lstStyle/>
        <a:p>
          <a:endParaRPr lang="en-US">
            <a:latin typeface="Century Gothic" panose="020B0502020202020204" pitchFamily="34" charset="0"/>
          </a:endParaRPr>
        </a:p>
      </dgm:t>
    </dgm:pt>
    <dgm:pt modelId="{39926D68-5EFC-48E6-9ECB-F9B60B7C68CC}">
      <dgm:prSet/>
      <dgm:spPr/>
      <dgm:t>
        <a:bodyPr/>
        <a:lstStyle/>
        <a:p>
          <a:r>
            <a:rPr lang="en-US">
              <a:latin typeface="Century Gothic" panose="020B0502020202020204" pitchFamily="34" charset="0"/>
            </a:rPr>
            <a:t>Research Methodology</a:t>
          </a:r>
        </a:p>
      </dgm:t>
    </dgm:pt>
    <dgm:pt modelId="{144AC1C3-7CAE-4D6F-8FE1-1C2CB76267FA}" type="parTrans" cxnId="{D145E55A-AA15-4563-AA14-4C981DABA47D}">
      <dgm:prSet/>
      <dgm:spPr/>
      <dgm:t>
        <a:bodyPr/>
        <a:lstStyle/>
        <a:p>
          <a:endParaRPr lang="en-US">
            <a:latin typeface="Century Gothic" panose="020B0502020202020204" pitchFamily="34" charset="0"/>
          </a:endParaRPr>
        </a:p>
      </dgm:t>
    </dgm:pt>
    <dgm:pt modelId="{50E623E6-063B-48BA-AC1C-03847906796B}" type="sibTrans" cxnId="{D145E55A-AA15-4563-AA14-4C981DABA47D}">
      <dgm:prSet/>
      <dgm:spPr/>
      <dgm:t>
        <a:bodyPr/>
        <a:lstStyle/>
        <a:p>
          <a:endParaRPr lang="en-US">
            <a:latin typeface="Century Gothic" panose="020B0502020202020204" pitchFamily="34" charset="0"/>
          </a:endParaRPr>
        </a:p>
      </dgm:t>
    </dgm:pt>
    <dgm:pt modelId="{0D590D41-CF6C-489D-ADA0-5410CE18DFCC}">
      <dgm:prSet/>
      <dgm:spPr/>
      <dgm:t>
        <a:bodyPr/>
        <a:lstStyle/>
        <a:p>
          <a:r>
            <a:rPr lang="en-US">
              <a:latin typeface="Century Gothic" panose="020B0502020202020204" pitchFamily="34" charset="0"/>
            </a:rPr>
            <a:t>Population and Sampling</a:t>
          </a:r>
        </a:p>
      </dgm:t>
    </dgm:pt>
    <dgm:pt modelId="{5D42C0BA-0003-4FFD-91C1-3C1CAC7C5C5C}" type="parTrans" cxnId="{57A2101F-01E9-4FF0-97C1-6DC2A55CB310}">
      <dgm:prSet/>
      <dgm:spPr/>
      <dgm:t>
        <a:bodyPr/>
        <a:lstStyle/>
        <a:p>
          <a:endParaRPr lang="en-US">
            <a:latin typeface="Century Gothic" panose="020B0502020202020204" pitchFamily="34" charset="0"/>
          </a:endParaRPr>
        </a:p>
      </dgm:t>
    </dgm:pt>
    <dgm:pt modelId="{E8065869-2992-4DB8-B2AF-439AB429BBF3}" type="sibTrans" cxnId="{57A2101F-01E9-4FF0-97C1-6DC2A55CB310}">
      <dgm:prSet/>
      <dgm:spPr/>
      <dgm:t>
        <a:bodyPr/>
        <a:lstStyle/>
        <a:p>
          <a:endParaRPr lang="en-US">
            <a:latin typeface="Century Gothic" panose="020B0502020202020204" pitchFamily="34" charset="0"/>
          </a:endParaRPr>
        </a:p>
      </dgm:t>
    </dgm:pt>
    <dgm:pt modelId="{E4B9B6A8-D4DF-4BDE-9B5A-E922FA5ECBCA}">
      <dgm:prSet/>
      <dgm:spPr/>
      <dgm:t>
        <a:bodyPr/>
        <a:lstStyle/>
        <a:p>
          <a:r>
            <a:rPr lang="en-US">
              <a:latin typeface="Century Gothic" panose="020B0502020202020204" pitchFamily="34" charset="0"/>
            </a:rPr>
            <a:t>Data collection and Analysis</a:t>
          </a:r>
        </a:p>
      </dgm:t>
    </dgm:pt>
    <dgm:pt modelId="{FB42BF5A-12F4-48B3-B6CB-AFD552FACCF6}" type="parTrans" cxnId="{8255EE39-ED43-4A36-A7ED-3C565F94316D}">
      <dgm:prSet/>
      <dgm:spPr/>
      <dgm:t>
        <a:bodyPr/>
        <a:lstStyle/>
        <a:p>
          <a:endParaRPr lang="en-US">
            <a:latin typeface="Century Gothic" panose="020B0502020202020204" pitchFamily="34" charset="0"/>
          </a:endParaRPr>
        </a:p>
      </dgm:t>
    </dgm:pt>
    <dgm:pt modelId="{25FCA99E-36DD-436A-BA4D-BAC297EEBE49}" type="sibTrans" cxnId="{8255EE39-ED43-4A36-A7ED-3C565F94316D}">
      <dgm:prSet/>
      <dgm:spPr/>
      <dgm:t>
        <a:bodyPr/>
        <a:lstStyle/>
        <a:p>
          <a:endParaRPr lang="en-US">
            <a:latin typeface="Century Gothic" panose="020B0502020202020204" pitchFamily="34" charset="0"/>
          </a:endParaRPr>
        </a:p>
      </dgm:t>
    </dgm:pt>
    <dgm:pt modelId="{92B81EE3-EED3-4194-B5CB-DC31CF835C7A}">
      <dgm:prSet/>
      <dgm:spPr/>
      <dgm:t>
        <a:bodyPr/>
        <a:lstStyle/>
        <a:p>
          <a:r>
            <a:rPr lang="en-US">
              <a:latin typeface="Century Gothic" panose="020B0502020202020204" pitchFamily="34" charset="0"/>
            </a:rPr>
            <a:t>Results, Discussion and Implications</a:t>
          </a:r>
        </a:p>
      </dgm:t>
    </dgm:pt>
    <dgm:pt modelId="{9154F799-D3B3-45B4-A642-30C3E75C6471}" type="parTrans" cxnId="{BAFCD7C7-4F7D-4CF2-A978-99965FA6CC4E}">
      <dgm:prSet/>
      <dgm:spPr/>
      <dgm:t>
        <a:bodyPr/>
        <a:lstStyle/>
        <a:p>
          <a:endParaRPr lang="en-US">
            <a:latin typeface="Century Gothic" panose="020B0502020202020204" pitchFamily="34" charset="0"/>
          </a:endParaRPr>
        </a:p>
      </dgm:t>
    </dgm:pt>
    <dgm:pt modelId="{5E8D1C1E-B844-4FB6-848E-B0C9016C044A}" type="sibTrans" cxnId="{BAFCD7C7-4F7D-4CF2-A978-99965FA6CC4E}">
      <dgm:prSet/>
      <dgm:spPr/>
      <dgm:t>
        <a:bodyPr/>
        <a:lstStyle/>
        <a:p>
          <a:endParaRPr lang="en-US">
            <a:latin typeface="Century Gothic" panose="020B0502020202020204" pitchFamily="34" charset="0"/>
          </a:endParaRPr>
        </a:p>
      </dgm:t>
    </dgm:pt>
    <dgm:pt modelId="{3B5C16DA-5A89-4A7A-9AB4-BEA932503A7D}">
      <dgm:prSet/>
      <dgm:spPr/>
      <dgm:t>
        <a:bodyPr/>
        <a:lstStyle/>
        <a:p>
          <a:r>
            <a:rPr lang="en-US">
              <a:latin typeface="Century Gothic" panose="020B0502020202020204" pitchFamily="34" charset="0"/>
            </a:rPr>
            <a:t>Recommendations for Future Research</a:t>
          </a:r>
        </a:p>
      </dgm:t>
    </dgm:pt>
    <dgm:pt modelId="{5138AD89-A5C0-4103-AD8E-00A0169B9DBE}" type="parTrans" cxnId="{2067A2E4-660B-4252-97D8-CB3BF773B0B8}">
      <dgm:prSet/>
      <dgm:spPr/>
      <dgm:t>
        <a:bodyPr/>
        <a:lstStyle/>
        <a:p>
          <a:endParaRPr lang="en-US">
            <a:latin typeface="Century Gothic" panose="020B0502020202020204" pitchFamily="34" charset="0"/>
          </a:endParaRPr>
        </a:p>
      </dgm:t>
    </dgm:pt>
    <dgm:pt modelId="{5A9619B4-7FD4-429D-B4D9-07C4EF4E5038}" type="sibTrans" cxnId="{2067A2E4-660B-4252-97D8-CB3BF773B0B8}">
      <dgm:prSet/>
      <dgm:spPr/>
      <dgm:t>
        <a:bodyPr/>
        <a:lstStyle/>
        <a:p>
          <a:endParaRPr lang="en-US">
            <a:latin typeface="Century Gothic" panose="020B0502020202020204" pitchFamily="34" charset="0"/>
          </a:endParaRPr>
        </a:p>
      </dgm:t>
    </dgm:pt>
    <dgm:pt modelId="{403F6813-9453-468E-ACA0-5D6C49FFDD41}">
      <dgm:prSet/>
      <dgm:spPr/>
      <dgm:t>
        <a:bodyPr/>
        <a:lstStyle/>
        <a:p>
          <a:r>
            <a:rPr lang="en-US" dirty="0">
              <a:latin typeface="Century Gothic" panose="020B0502020202020204" pitchFamily="34" charset="0"/>
            </a:rPr>
            <a:t>Closing Remarks</a:t>
          </a:r>
        </a:p>
      </dgm:t>
    </dgm:pt>
    <dgm:pt modelId="{5012DE05-48BF-4FE8-8AF7-6B59AA5E670C}" type="parTrans" cxnId="{BC830102-F595-4C6A-9276-674F9C10B0BE}">
      <dgm:prSet/>
      <dgm:spPr/>
      <dgm:t>
        <a:bodyPr/>
        <a:lstStyle/>
        <a:p>
          <a:endParaRPr lang="en-US">
            <a:latin typeface="Century Gothic" panose="020B0502020202020204" pitchFamily="34" charset="0"/>
          </a:endParaRPr>
        </a:p>
      </dgm:t>
    </dgm:pt>
    <dgm:pt modelId="{EAA1371E-FE70-42FA-8B96-7CD131932462}" type="sibTrans" cxnId="{BC830102-F595-4C6A-9276-674F9C10B0BE}">
      <dgm:prSet/>
      <dgm:spPr/>
      <dgm:t>
        <a:bodyPr/>
        <a:lstStyle/>
        <a:p>
          <a:endParaRPr lang="en-US">
            <a:latin typeface="Century Gothic" panose="020B0502020202020204" pitchFamily="34" charset="0"/>
          </a:endParaRPr>
        </a:p>
      </dgm:t>
    </dgm:pt>
    <dgm:pt modelId="{C1CA0EBA-BC24-954F-B3D2-1BDC24BC9D48}" type="pres">
      <dgm:prSet presAssocID="{FC13EBDD-FE17-4E4D-8A13-DFB3A4BE32AF}" presName="vert0" presStyleCnt="0">
        <dgm:presLayoutVars>
          <dgm:dir/>
          <dgm:animOne val="branch"/>
          <dgm:animLvl val="lvl"/>
        </dgm:presLayoutVars>
      </dgm:prSet>
      <dgm:spPr/>
    </dgm:pt>
    <dgm:pt modelId="{7F244A00-DA47-CF49-BFA3-70E4BCB62915}" type="pres">
      <dgm:prSet presAssocID="{9E7CE38A-5086-4A9D-BEBE-F718729E2CCB}" presName="thickLine" presStyleLbl="alignNode1" presStyleIdx="0" presStyleCnt="11"/>
      <dgm:spPr/>
    </dgm:pt>
    <dgm:pt modelId="{6D10B23A-5B92-1E4E-8ADF-E139AC5A4694}" type="pres">
      <dgm:prSet presAssocID="{9E7CE38A-5086-4A9D-BEBE-F718729E2CCB}" presName="horz1" presStyleCnt="0"/>
      <dgm:spPr/>
    </dgm:pt>
    <dgm:pt modelId="{EE44E3CB-1D55-0F44-A1DD-B674CE178659}" type="pres">
      <dgm:prSet presAssocID="{9E7CE38A-5086-4A9D-BEBE-F718729E2CCB}" presName="tx1" presStyleLbl="revTx" presStyleIdx="0" presStyleCnt="11"/>
      <dgm:spPr/>
    </dgm:pt>
    <dgm:pt modelId="{BB2CF863-7F0F-E64A-9FDF-D2735C914B5E}" type="pres">
      <dgm:prSet presAssocID="{9E7CE38A-5086-4A9D-BEBE-F718729E2CCB}" presName="vert1" presStyleCnt="0"/>
      <dgm:spPr/>
    </dgm:pt>
    <dgm:pt modelId="{186944E8-8E6A-4542-BBC4-8BF89C9A4035}" type="pres">
      <dgm:prSet presAssocID="{31A75377-65CD-4EB7-BBC4-2A812520991F}" presName="thickLine" presStyleLbl="alignNode1" presStyleIdx="1" presStyleCnt="11"/>
      <dgm:spPr/>
    </dgm:pt>
    <dgm:pt modelId="{34AEA047-A9AD-B04D-8C60-1719BBBA8C8D}" type="pres">
      <dgm:prSet presAssocID="{31A75377-65CD-4EB7-BBC4-2A812520991F}" presName="horz1" presStyleCnt="0"/>
      <dgm:spPr/>
    </dgm:pt>
    <dgm:pt modelId="{D8706BA6-9D45-4B42-9D86-518F4C9BEDF5}" type="pres">
      <dgm:prSet presAssocID="{31A75377-65CD-4EB7-BBC4-2A812520991F}" presName="tx1" presStyleLbl="revTx" presStyleIdx="1" presStyleCnt="11"/>
      <dgm:spPr/>
    </dgm:pt>
    <dgm:pt modelId="{E0CD3BEF-8F54-E04B-82DF-746D036279B1}" type="pres">
      <dgm:prSet presAssocID="{31A75377-65CD-4EB7-BBC4-2A812520991F}" presName="vert1" presStyleCnt="0"/>
      <dgm:spPr/>
    </dgm:pt>
    <dgm:pt modelId="{CB673681-E9B2-B441-8C6D-E7D14A270084}" type="pres">
      <dgm:prSet presAssocID="{F77F7AC7-1113-485C-871B-EE4FD5D8F09F}" presName="thickLine" presStyleLbl="alignNode1" presStyleIdx="2" presStyleCnt="11"/>
      <dgm:spPr/>
    </dgm:pt>
    <dgm:pt modelId="{5CDDA0FD-D704-5340-8185-D9B44DDC7113}" type="pres">
      <dgm:prSet presAssocID="{F77F7AC7-1113-485C-871B-EE4FD5D8F09F}" presName="horz1" presStyleCnt="0"/>
      <dgm:spPr/>
    </dgm:pt>
    <dgm:pt modelId="{2F908810-3D36-A645-9617-345EA2B6CA22}" type="pres">
      <dgm:prSet presAssocID="{F77F7AC7-1113-485C-871B-EE4FD5D8F09F}" presName="tx1" presStyleLbl="revTx" presStyleIdx="2" presStyleCnt="11"/>
      <dgm:spPr/>
    </dgm:pt>
    <dgm:pt modelId="{9393BDCB-27FB-EF43-85CD-43BECBA84C94}" type="pres">
      <dgm:prSet presAssocID="{F77F7AC7-1113-485C-871B-EE4FD5D8F09F}" presName="vert1" presStyleCnt="0"/>
      <dgm:spPr/>
    </dgm:pt>
    <dgm:pt modelId="{A935EDBA-DD14-C445-A9C8-3E20D2E20E4B}" type="pres">
      <dgm:prSet presAssocID="{1A549F33-16FC-47F8-8EBA-3C217A0017DE}" presName="thickLine" presStyleLbl="alignNode1" presStyleIdx="3" presStyleCnt="11"/>
      <dgm:spPr/>
    </dgm:pt>
    <dgm:pt modelId="{CFF616FF-E5D5-914F-B0F6-383DCA565D5D}" type="pres">
      <dgm:prSet presAssocID="{1A549F33-16FC-47F8-8EBA-3C217A0017DE}" presName="horz1" presStyleCnt="0"/>
      <dgm:spPr/>
    </dgm:pt>
    <dgm:pt modelId="{52B8BF82-3EFB-884A-8FCD-C741271F7811}" type="pres">
      <dgm:prSet presAssocID="{1A549F33-16FC-47F8-8EBA-3C217A0017DE}" presName="tx1" presStyleLbl="revTx" presStyleIdx="3" presStyleCnt="11"/>
      <dgm:spPr/>
    </dgm:pt>
    <dgm:pt modelId="{85CEED96-4FC0-334F-8FAF-C654E51A73BF}" type="pres">
      <dgm:prSet presAssocID="{1A549F33-16FC-47F8-8EBA-3C217A0017DE}" presName="vert1" presStyleCnt="0"/>
      <dgm:spPr/>
    </dgm:pt>
    <dgm:pt modelId="{50811C4C-E593-0C4D-927C-8AB8FDAF5115}" type="pres">
      <dgm:prSet presAssocID="{B1E687A5-6597-4D2B-9B27-75BEE4AF8C43}" presName="thickLine" presStyleLbl="alignNode1" presStyleIdx="4" presStyleCnt="11"/>
      <dgm:spPr/>
    </dgm:pt>
    <dgm:pt modelId="{E05A0848-065C-EF45-8D43-C5B4E1D9F902}" type="pres">
      <dgm:prSet presAssocID="{B1E687A5-6597-4D2B-9B27-75BEE4AF8C43}" presName="horz1" presStyleCnt="0"/>
      <dgm:spPr/>
    </dgm:pt>
    <dgm:pt modelId="{D2FC425A-E9AC-FF4D-8350-51B3C45D4B4A}" type="pres">
      <dgm:prSet presAssocID="{B1E687A5-6597-4D2B-9B27-75BEE4AF8C43}" presName="tx1" presStyleLbl="revTx" presStyleIdx="4" presStyleCnt="11"/>
      <dgm:spPr/>
    </dgm:pt>
    <dgm:pt modelId="{A1052A36-4DC2-504B-AB81-A439A2A64E34}" type="pres">
      <dgm:prSet presAssocID="{B1E687A5-6597-4D2B-9B27-75BEE4AF8C43}" presName="vert1" presStyleCnt="0"/>
      <dgm:spPr/>
    </dgm:pt>
    <dgm:pt modelId="{39917CBD-1B13-144F-8870-5EE2043EBD27}" type="pres">
      <dgm:prSet presAssocID="{39926D68-5EFC-48E6-9ECB-F9B60B7C68CC}" presName="thickLine" presStyleLbl="alignNode1" presStyleIdx="5" presStyleCnt="11"/>
      <dgm:spPr/>
    </dgm:pt>
    <dgm:pt modelId="{CE5ECD8C-9259-434E-BF6C-222693BB28D7}" type="pres">
      <dgm:prSet presAssocID="{39926D68-5EFC-48E6-9ECB-F9B60B7C68CC}" presName="horz1" presStyleCnt="0"/>
      <dgm:spPr/>
    </dgm:pt>
    <dgm:pt modelId="{FD107A42-EC2B-204A-93E2-8931A96E723E}" type="pres">
      <dgm:prSet presAssocID="{39926D68-5EFC-48E6-9ECB-F9B60B7C68CC}" presName="tx1" presStyleLbl="revTx" presStyleIdx="5" presStyleCnt="11"/>
      <dgm:spPr/>
    </dgm:pt>
    <dgm:pt modelId="{CE44EF53-4179-0647-831D-71CC8D04397F}" type="pres">
      <dgm:prSet presAssocID="{39926D68-5EFC-48E6-9ECB-F9B60B7C68CC}" presName="vert1" presStyleCnt="0"/>
      <dgm:spPr/>
    </dgm:pt>
    <dgm:pt modelId="{B401F7C3-22E6-C54F-8E92-F8EA3AFC8D13}" type="pres">
      <dgm:prSet presAssocID="{0D590D41-CF6C-489D-ADA0-5410CE18DFCC}" presName="thickLine" presStyleLbl="alignNode1" presStyleIdx="6" presStyleCnt="11"/>
      <dgm:spPr/>
    </dgm:pt>
    <dgm:pt modelId="{2BD212DB-F614-E348-A5E7-61AF7BE43132}" type="pres">
      <dgm:prSet presAssocID="{0D590D41-CF6C-489D-ADA0-5410CE18DFCC}" presName="horz1" presStyleCnt="0"/>
      <dgm:spPr/>
    </dgm:pt>
    <dgm:pt modelId="{60E850BA-7972-7A40-885E-6F002A26875D}" type="pres">
      <dgm:prSet presAssocID="{0D590D41-CF6C-489D-ADA0-5410CE18DFCC}" presName="tx1" presStyleLbl="revTx" presStyleIdx="6" presStyleCnt="11"/>
      <dgm:spPr/>
    </dgm:pt>
    <dgm:pt modelId="{F4A7C1A5-E16B-4C42-990E-C91A14E64AE8}" type="pres">
      <dgm:prSet presAssocID="{0D590D41-CF6C-489D-ADA0-5410CE18DFCC}" presName="vert1" presStyleCnt="0"/>
      <dgm:spPr/>
    </dgm:pt>
    <dgm:pt modelId="{84E55B47-EC5C-A848-89AA-B81AB4E029E1}" type="pres">
      <dgm:prSet presAssocID="{E4B9B6A8-D4DF-4BDE-9B5A-E922FA5ECBCA}" presName="thickLine" presStyleLbl="alignNode1" presStyleIdx="7" presStyleCnt="11"/>
      <dgm:spPr/>
    </dgm:pt>
    <dgm:pt modelId="{50319396-1059-1045-8B97-AD5135A0576E}" type="pres">
      <dgm:prSet presAssocID="{E4B9B6A8-D4DF-4BDE-9B5A-E922FA5ECBCA}" presName="horz1" presStyleCnt="0"/>
      <dgm:spPr/>
    </dgm:pt>
    <dgm:pt modelId="{3CE63F59-D23B-A349-87E3-AB48566DF2BF}" type="pres">
      <dgm:prSet presAssocID="{E4B9B6A8-D4DF-4BDE-9B5A-E922FA5ECBCA}" presName="tx1" presStyleLbl="revTx" presStyleIdx="7" presStyleCnt="11"/>
      <dgm:spPr/>
    </dgm:pt>
    <dgm:pt modelId="{7189D738-2444-D844-9733-BEF01824EA5A}" type="pres">
      <dgm:prSet presAssocID="{E4B9B6A8-D4DF-4BDE-9B5A-E922FA5ECBCA}" presName="vert1" presStyleCnt="0"/>
      <dgm:spPr/>
    </dgm:pt>
    <dgm:pt modelId="{6960BF18-B047-1D45-8F3A-6678E3C322A0}" type="pres">
      <dgm:prSet presAssocID="{92B81EE3-EED3-4194-B5CB-DC31CF835C7A}" presName="thickLine" presStyleLbl="alignNode1" presStyleIdx="8" presStyleCnt="11"/>
      <dgm:spPr/>
    </dgm:pt>
    <dgm:pt modelId="{6EA64C77-A844-CA47-A229-ED7243EB657D}" type="pres">
      <dgm:prSet presAssocID="{92B81EE3-EED3-4194-B5CB-DC31CF835C7A}" presName="horz1" presStyleCnt="0"/>
      <dgm:spPr/>
    </dgm:pt>
    <dgm:pt modelId="{7C4A5F10-0963-064C-8EFB-0558263426E6}" type="pres">
      <dgm:prSet presAssocID="{92B81EE3-EED3-4194-B5CB-DC31CF835C7A}" presName="tx1" presStyleLbl="revTx" presStyleIdx="8" presStyleCnt="11"/>
      <dgm:spPr/>
    </dgm:pt>
    <dgm:pt modelId="{F2E6522D-3A87-5343-9412-6ADCC76A37C6}" type="pres">
      <dgm:prSet presAssocID="{92B81EE3-EED3-4194-B5CB-DC31CF835C7A}" presName="vert1" presStyleCnt="0"/>
      <dgm:spPr/>
    </dgm:pt>
    <dgm:pt modelId="{D5FD3368-53D9-5649-B292-BF782BBA584C}" type="pres">
      <dgm:prSet presAssocID="{3B5C16DA-5A89-4A7A-9AB4-BEA932503A7D}" presName="thickLine" presStyleLbl="alignNode1" presStyleIdx="9" presStyleCnt="11"/>
      <dgm:spPr/>
    </dgm:pt>
    <dgm:pt modelId="{8645F7D3-C28B-B14E-B338-3596E0405E47}" type="pres">
      <dgm:prSet presAssocID="{3B5C16DA-5A89-4A7A-9AB4-BEA932503A7D}" presName="horz1" presStyleCnt="0"/>
      <dgm:spPr/>
    </dgm:pt>
    <dgm:pt modelId="{A413EA2D-2E2C-D944-A8B5-67CD060DA7F4}" type="pres">
      <dgm:prSet presAssocID="{3B5C16DA-5A89-4A7A-9AB4-BEA932503A7D}" presName="tx1" presStyleLbl="revTx" presStyleIdx="9" presStyleCnt="11"/>
      <dgm:spPr/>
    </dgm:pt>
    <dgm:pt modelId="{159BDB32-72FD-4247-BFEF-B6B42BE7E7E9}" type="pres">
      <dgm:prSet presAssocID="{3B5C16DA-5A89-4A7A-9AB4-BEA932503A7D}" presName="vert1" presStyleCnt="0"/>
      <dgm:spPr/>
    </dgm:pt>
    <dgm:pt modelId="{98EE844A-B3A4-514E-8D63-3814C9683E50}" type="pres">
      <dgm:prSet presAssocID="{403F6813-9453-468E-ACA0-5D6C49FFDD41}" presName="thickLine" presStyleLbl="alignNode1" presStyleIdx="10" presStyleCnt="11"/>
      <dgm:spPr/>
    </dgm:pt>
    <dgm:pt modelId="{1FAA3EE7-6372-6340-8C36-3B7E9D10654C}" type="pres">
      <dgm:prSet presAssocID="{403F6813-9453-468E-ACA0-5D6C49FFDD41}" presName="horz1" presStyleCnt="0"/>
      <dgm:spPr/>
    </dgm:pt>
    <dgm:pt modelId="{1032ECA6-9084-1D4D-85D2-FDB6058F2C6C}" type="pres">
      <dgm:prSet presAssocID="{403F6813-9453-468E-ACA0-5D6C49FFDD41}" presName="tx1" presStyleLbl="revTx" presStyleIdx="10" presStyleCnt="11"/>
      <dgm:spPr/>
    </dgm:pt>
    <dgm:pt modelId="{5A57E1EB-9098-D54A-B0FA-30196AEF1810}" type="pres">
      <dgm:prSet presAssocID="{403F6813-9453-468E-ACA0-5D6C49FFDD41}" presName="vert1" presStyleCnt="0"/>
      <dgm:spPr/>
    </dgm:pt>
  </dgm:ptLst>
  <dgm:cxnLst>
    <dgm:cxn modelId="{BC830102-F595-4C6A-9276-674F9C10B0BE}" srcId="{FC13EBDD-FE17-4E4D-8A13-DFB3A4BE32AF}" destId="{403F6813-9453-468E-ACA0-5D6C49FFDD41}" srcOrd="10" destOrd="0" parTransId="{5012DE05-48BF-4FE8-8AF7-6B59AA5E670C}" sibTransId="{EAA1371E-FE70-42FA-8B96-7CD131932462}"/>
    <dgm:cxn modelId="{8FA33706-202C-C742-B5A9-4C1B56E713E9}" type="presOf" srcId="{1A549F33-16FC-47F8-8EBA-3C217A0017DE}" destId="{52B8BF82-3EFB-884A-8FCD-C741271F7811}" srcOrd="0" destOrd="0" presId="urn:microsoft.com/office/officeart/2008/layout/LinedList"/>
    <dgm:cxn modelId="{B99D6E10-09CB-4DC5-A7C9-26B00B609040}" srcId="{FC13EBDD-FE17-4E4D-8A13-DFB3A4BE32AF}" destId="{1A549F33-16FC-47F8-8EBA-3C217A0017DE}" srcOrd="3" destOrd="0" parTransId="{365EAC8F-3C3B-4E83-AE27-9B12CE4BF6BD}" sibTransId="{44B32A98-18B0-4959-85DD-2660302EDB74}"/>
    <dgm:cxn modelId="{3780561B-1399-4E03-8CCB-D9E91C8EB02B}" srcId="{FC13EBDD-FE17-4E4D-8A13-DFB3A4BE32AF}" destId="{31A75377-65CD-4EB7-BBC4-2A812520991F}" srcOrd="1" destOrd="0" parTransId="{66B677EC-F762-4092-A2C0-E769952BEE1A}" sibTransId="{FD91009B-0046-46EE-9689-EC4706331DD7}"/>
    <dgm:cxn modelId="{57A2101F-01E9-4FF0-97C1-6DC2A55CB310}" srcId="{FC13EBDD-FE17-4E4D-8A13-DFB3A4BE32AF}" destId="{0D590D41-CF6C-489D-ADA0-5410CE18DFCC}" srcOrd="6" destOrd="0" parTransId="{5D42C0BA-0003-4FFD-91C1-3C1CAC7C5C5C}" sibTransId="{E8065869-2992-4DB8-B2AF-439AB429BBF3}"/>
    <dgm:cxn modelId="{0B2E2E2E-E4D3-D74C-B355-02E0E0C39ADC}" type="presOf" srcId="{FC13EBDD-FE17-4E4D-8A13-DFB3A4BE32AF}" destId="{C1CA0EBA-BC24-954F-B3D2-1BDC24BC9D48}" srcOrd="0" destOrd="0" presId="urn:microsoft.com/office/officeart/2008/layout/LinedList"/>
    <dgm:cxn modelId="{47DB762F-0C47-8342-B5C8-0E15C0E0820C}" type="presOf" srcId="{9E7CE38A-5086-4A9D-BEBE-F718729E2CCB}" destId="{EE44E3CB-1D55-0F44-A1DD-B674CE178659}" srcOrd="0" destOrd="0" presId="urn:microsoft.com/office/officeart/2008/layout/LinedList"/>
    <dgm:cxn modelId="{403F6233-5749-3B49-B700-804DA6D7EB98}" type="presOf" srcId="{403F6813-9453-468E-ACA0-5D6C49FFDD41}" destId="{1032ECA6-9084-1D4D-85D2-FDB6058F2C6C}" srcOrd="0" destOrd="0" presId="urn:microsoft.com/office/officeart/2008/layout/LinedList"/>
    <dgm:cxn modelId="{57C0EC39-AE7A-E74D-9604-F5FBF0C312D2}" type="presOf" srcId="{31A75377-65CD-4EB7-BBC4-2A812520991F}" destId="{D8706BA6-9D45-4B42-9D86-518F4C9BEDF5}" srcOrd="0" destOrd="0" presId="urn:microsoft.com/office/officeart/2008/layout/LinedList"/>
    <dgm:cxn modelId="{8255EE39-ED43-4A36-A7ED-3C565F94316D}" srcId="{FC13EBDD-FE17-4E4D-8A13-DFB3A4BE32AF}" destId="{E4B9B6A8-D4DF-4BDE-9B5A-E922FA5ECBCA}" srcOrd="7" destOrd="0" parTransId="{FB42BF5A-12F4-48B3-B6CB-AFD552FACCF6}" sibTransId="{25FCA99E-36DD-436A-BA4D-BAC297EEBE49}"/>
    <dgm:cxn modelId="{1DF2E546-C43D-4693-8877-40C7B9355A18}" srcId="{FC13EBDD-FE17-4E4D-8A13-DFB3A4BE32AF}" destId="{B1E687A5-6597-4D2B-9B27-75BEE4AF8C43}" srcOrd="4" destOrd="0" parTransId="{744D91EE-E3CB-4C7D-B783-19FEF8D86697}" sibTransId="{0BAEBBA4-B562-45DF-80D9-A1F9A6BF97E7}"/>
    <dgm:cxn modelId="{D145E55A-AA15-4563-AA14-4C981DABA47D}" srcId="{FC13EBDD-FE17-4E4D-8A13-DFB3A4BE32AF}" destId="{39926D68-5EFC-48E6-9ECB-F9B60B7C68CC}" srcOrd="5" destOrd="0" parTransId="{144AC1C3-7CAE-4D6F-8FE1-1C2CB76267FA}" sibTransId="{50E623E6-063B-48BA-AC1C-03847906796B}"/>
    <dgm:cxn modelId="{8959DE70-FEE7-7E47-9D81-7CEB196D6A7A}" type="presOf" srcId="{39926D68-5EFC-48E6-9ECB-F9B60B7C68CC}" destId="{FD107A42-EC2B-204A-93E2-8931A96E723E}" srcOrd="0" destOrd="0" presId="urn:microsoft.com/office/officeart/2008/layout/LinedList"/>
    <dgm:cxn modelId="{B9A67772-BA21-064E-A7CA-2CFBB9BC27E8}" type="presOf" srcId="{3B5C16DA-5A89-4A7A-9AB4-BEA932503A7D}" destId="{A413EA2D-2E2C-D944-A8B5-67CD060DA7F4}" srcOrd="0" destOrd="0" presId="urn:microsoft.com/office/officeart/2008/layout/LinedList"/>
    <dgm:cxn modelId="{CEB1B374-464A-CF48-BE44-10528A37B0BC}" type="presOf" srcId="{0D590D41-CF6C-489D-ADA0-5410CE18DFCC}" destId="{60E850BA-7972-7A40-885E-6F002A26875D}" srcOrd="0" destOrd="0" presId="urn:microsoft.com/office/officeart/2008/layout/LinedList"/>
    <dgm:cxn modelId="{B4F2229A-6495-BC4C-93D5-2EC9A74AFD9F}" type="presOf" srcId="{F77F7AC7-1113-485C-871B-EE4FD5D8F09F}" destId="{2F908810-3D36-A645-9617-345EA2B6CA22}" srcOrd="0" destOrd="0" presId="urn:microsoft.com/office/officeart/2008/layout/LinedList"/>
    <dgm:cxn modelId="{D1D8D3B2-6930-9245-9908-6E9731835F8D}" type="presOf" srcId="{92B81EE3-EED3-4194-B5CB-DC31CF835C7A}" destId="{7C4A5F10-0963-064C-8EFB-0558263426E6}" srcOrd="0" destOrd="0" presId="urn:microsoft.com/office/officeart/2008/layout/LinedList"/>
    <dgm:cxn modelId="{41E662B7-7F41-4F83-87F8-8E5B6A567CE8}" srcId="{FC13EBDD-FE17-4E4D-8A13-DFB3A4BE32AF}" destId="{F77F7AC7-1113-485C-871B-EE4FD5D8F09F}" srcOrd="2" destOrd="0" parTransId="{CCC55D0E-19A6-4CFB-9E9D-EE291A8663FD}" sibTransId="{6B3C6D41-996F-47AA-B0CC-BFC16644B2B7}"/>
    <dgm:cxn modelId="{BAFCD7C7-4F7D-4CF2-A978-99965FA6CC4E}" srcId="{FC13EBDD-FE17-4E4D-8A13-DFB3A4BE32AF}" destId="{92B81EE3-EED3-4194-B5CB-DC31CF835C7A}" srcOrd="8" destOrd="0" parTransId="{9154F799-D3B3-45B4-A642-30C3E75C6471}" sibTransId="{5E8D1C1E-B844-4FB6-848E-B0C9016C044A}"/>
    <dgm:cxn modelId="{4C3BBFCE-8165-4806-81C9-BED86DA7B9E4}" srcId="{FC13EBDD-FE17-4E4D-8A13-DFB3A4BE32AF}" destId="{9E7CE38A-5086-4A9D-BEBE-F718729E2CCB}" srcOrd="0" destOrd="0" parTransId="{40E93E50-3E81-40C6-9E51-9DDC72C63916}" sibTransId="{A96B9532-BF3F-4C23-A1CA-4EA654DD6FF2}"/>
    <dgm:cxn modelId="{2067A2E4-660B-4252-97D8-CB3BF773B0B8}" srcId="{FC13EBDD-FE17-4E4D-8A13-DFB3A4BE32AF}" destId="{3B5C16DA-5A89-4A7A-9AB4-BEA932503A7D}" srcOrd="9" destOrd="0" parTransId="{5138AD89-A5C0-4103-AD8E-00A0169B9DBE}" sibTransId="{5A9619B4-7FD4-429D-B4D9-07C4EF4E5038}"/>
    <dgm:cxn modelId="{371517EB-9255-D54A-BD37-8ED13241B2E8}" type="presOf" srcId="{E4B9B6A8-D4DF-4BDE-9B5A-E922FA5ECBCA}" destId="{3CE63F59-D23B-A349-87E3-AB48566DF2BF}" srcOrd="0" destOrd="0" presId="urn:microsoft.com/office/officeart/2008/layout/LinedList"/>
    <dgm:cxn modelId="{8090E4EC-0F09-CD41-839E-CE289B3197F2}" type="presOf" srcId="{B1E687A5-6597-4D2B-9B27-75BEE4AF8C43}" destId="{D2FC425A-E9AC-FF4D-8350-51B3C45D4B4A}" srcOrd="0" destOrd="0" presId="urn:microsoft.com/office/officeart/2008/layout/LinedList"/>
    <dgm:cxn modelId="{76EF56CA-04D9-AE48-AF5D-F532496FE26C}" type="presParOf" srcId="{C1CA0EBA-BC24-954F-B3D2-1BDC24BC9D48}" destId="{7F244A00-DA47-CF49-BFA3-70E4BCB62915}" srcOrd="0" destOrd="0" presId="urn:microsoft.com/office/officeart/2008/layout/LinedList"/>
    <dgm:cxn modelId="{F4EB4850-3B41-644C-8511-8E04EA8B434E}" type="presParOf" srcId="{C1CA0EBA-BC24-954F-B3D2-1BDC24BC9D48}" destId="{6D10B23A-5B92-1E4E-8ADF-E139AC5A4694}" srcOrd="1" destOrd="0" presId="urn:microsoft.com/office/officeart/2008/layout/LinedList"/>
    <dgm:cxn modelId="{12EE693C-1983-CA49-BFF6-7AFDDDC42478}" type="presParOf" srcId="{6D10B23A-5B92-1E4E-8ADF-E139AC5A4694}" destId="{EE44E3CB-1D55-0F44-A1DD-B674CE178659}" srcOrd="0" destOrd="0" presId="urn:microsoft.com/office/officeart/2008/layout/LinedList"/>
    <dgm:cxn modelId="{B91FE721-C141-D84D-8207-EC5A1A691DBE}" type="presParOf" srcId="{6D10B23A-5B92-1E4E-8ADF-E139AC5A4694}" destId="{BB2CF863-7F0F-E64A-9FDF-D2735C914B5E}" srcOrd="1" destOrd="0" presId="urn:microsoft.com/office/officeart/2008/layout/LinedList"/>
    <dgm:cxn modelId="{2ABE08B0-AC65-3649-B1DB-67BCE763BD6E}" type="presParOf" srcId="{C1CA0EBA-BC24-954F-B3D2-1BDC24BC9D48}" destId="{186944E8-8E6A-4542-BBC4-8BF89C9A4035}" srcOrd="2" destOrd="0" presId="urn:microsoft.com/office/officeart/2008/layout/LinedList"/>
    <dgm:cxn modelId="{B2DA2A29-6B3D-6041-86E1-C52CC1BF691C}" type="presParOf" srcId="{C1CA0EBA-BC24-954F-B3D2-1BDC24BC9D48}" destId="{34AEA047-A9AD-B04D-8C60-1719BBBA8C8D}" srcOrd="3" destOrd="0" presId="urn:microsoft.com/office/officeart/2008/layout/LinedList"/>
    <dgm:cxn modelId="{96E931BE-A0AA-6D4B-8534-AE251864C4E7}" type="presParOf" srcId="{34AEA047-A9AD-B04D-8C60-1719BBBA8C8D}" destId="{D8706BA6-9D45-4B42-9D86-518F4C9BEDF5}" srcOrd="0" destOrd="0" presId="urn:microsoft.com/office/officeart/2008/layout/LinedList"/>
    <dgm:cxn modelId="{D473F1B2-5F53-B846-B754-11D82A7AB94E}" type="presParOf" srcId="{34AEA047-A9AD-B04D-8C60-1719BBBA8C8D}" destId="{E0CD3BEF-8F54-E04B-82DF-746D036279B1}" srcOrd="1" destOrd="0" presId="urn:microsoft.com/office/officeart/2008/layout/LinedList"/>
    <dgm:cxn modelId="{6E0AAFE9-D174-214C-9831-EBD42A6ADBB9}" type="presParOf" srcId="{C1CA0EBA-BC24-954F-B3D2-1BDC24BC9D48}" destId="{CB673681-E9B2-B441-8C6D-E7D14A270084}" srcOrd="4" destOrd="0" presId="urn:microsoft.com/office/officeart/2008/layout/LinedList"/>
    <dgm:cxn modelId="{38E7D36B-1A7F-724F-BDAF-1469EE48F7D6}" type="presParOf" srcId="{C1CA0EBA-BC24-954F-B3D2-1BDC24BC9D48}" destId="{5CDDA0FD-D704-5340-8185-D9B44DDC7113}" srcOrd="5" destOrd="0" presId="urn:microsoft.com/office/officeart/2008/layout/LinedList"/>
    <dgm:cxn modelId="{91C2728A-5412-9845-93D2-677F4793B28C}" type="presParOf" srcId="{5CDDA0FD-D704-5340-8185-D9B44DDC7113}" destId="{2F908810-3D36-A645-9617-345EA2B6CA22}" srcOrd="0" destOrd="0" presId="urn:microsoft.com/office/officeart/2008/layout/LinedList"/>
    <dgm:cxn modelId="{9C29FEA0-DF8C-3F4E-9BE6-F8A7078C983D}" type="presParOf" srcId="{5CDDA0FD-D704-5340-8185-D9B44DDC7113}" destId="{9393BDCB-27FB-EF43-85CD-43BECBA84C94}" srcOrd="1" destOrd="0" presId="urn:microsoft.com/office/officeart/2008/layout/LinedList"/>
    <dgm:cxn modelId="{77F1E9BF-AA71-7F47-93AA-8978EC3F3C95}" type="presParOf" srcId="{C1CA0EBA-BC24-954F-B3D2-1BDC24BC9D48}" destId="{A935EDBA-DD14-C445-A9C8-3E20D2E20E4B}" srcOrd="6" destOrd="0" presId="urn:microsoft.com/office/officeart/2008/layout/LinedList"/>
    <dgm:cxn modelId="{BA9B1D3A-0BC8-894A-9E88-FEFA0F967422}" type="presParOf" srcId="{C1CA0EBA-BC24-954F-B3D2-1BDC24BC9D48}" destId="{CFF616FF-E5D5-914F-B0F6-383DCA565D5D}" srcOrd="7" destOrd="0" presId="urn:microsoft.com/office/officeart/2008/layout/LinedList"/>
    <dgm:cxn modelId="{4067CEC2-6897-6540-B2AA-DC7990BA32E2}" type="presParOf" srcId="{CFF616FF-E5D5-914F-B0F6-383DCA565D5D}" destId="{52B8BF82-3EFB-884A-8FCD-C741271F7811}" srcOrd="0" destOrd="0" presId="urn:microsoft.com/office/officeart/2008/layout/LinedList"/>
    <dgm:cxn modelId="{7CB18B42-4491-F244-A576-2F5CEACD8220}" type="presParOf" srcId="{CFF616FF-E5D5-914F-B0F6-383DCA565D5D}" destId="{85CEED96-4FC0-334F-8FAF-C654E51A73BF}" srcOrd="1" destOrd="0" presId="urn:microsoft.com/office/officeart/2008/layout/LinedList"/>
    <dgm:cxn modelId="{3C2A05FC-2678-8049-96C9-DD22D0DCD3A3}" type="presParOf" srcId="{C1CA0EBA-BC24-954F-B3D2-1BDC24BC9D48}" destId="{50811C4C-E593-0C4D-927C-8AB8FDAF5115}" srcOrd="8" destOrd="0" presId="urn:microsoft.com/office/officeart/2008/layout/LinedList"/>
    <dgm:cxn modelId="{B8EAB758-F9BA-6C45-BBFE-A5DD7119E219}" type="presParOf" srcId="{C1CA0EBA-BC24-954F-B3D2-1BDC24BC9D48}" destId="{E05A0848-065C-EF45-8D43-C5B4E1D9F902}" srcOrd="9" destOrd="0" presId="urn:microsoft.com/office/officeart/2008/layout/LinedList"/>
    <dgm:cxn modelId="{3DDF3366-DB0E-1949-AE48-C3F0287EFBF2}" type="presParOf" srcId="{E05A0848-065C-EF45-8D43-C5B4E1D9F902}" destId="{D2FC425A-E9AC-FF4D-8350-51B3C45D4B4A}" srcOrd="0" destOrd="0" presId="urn:microsoft.com/office/officeart/2008/layout/LinedList"/>
    <dgm:cxn modelId="{372D4011-83AF-8E4D-ADBE-4ED587119D6A}" type="presParOf" srcId="{E05A0848-065C-EF45-8D43-C5B4E1D9F902}" destId="{A1052A36-4DC2-504B-AB81-A439A2A64E34}" srcOrd="1" destOrd="0" presId="urn:microsoft.com/office/officeart/2008/layout/LinedList"/>
    <dgm:cxn modelId="{A3E37DD5-2675-CB44-BFD6-46E585913C87}" type="presParOf" srcId="{C1CA0EBA-BC24-954F-B3D2-1BDC24BC9D48}" destId="{39917CBD-1B13-144F-8870-5EE2043EBD27}" srcOrd="10" destOrd="0" presId="urn:microsoft.com/office/officeart/2008/layout/LinedList"/>
    <dgm:cxn modelId="{901BF782-A45D-D040-B488-E32C4D5CFD6C}" type="presParOf" srcId="{C1CA0EBA-BC24-954F-B3D2-1BDC24BC9D48}" destId="{CE5ECD8C-9259-434E-BF6C-222693BB28D7}" srcOrd="11" destOrd="0" presId="urn:microsoft.com/office/officeart/2008/layout/LinedList"/>
    <dgm:cxn modelId="{8B0F2A3B-A282-1340-B4DD-89E95E9192CA}" type="presParOf" srcId="{CE5ECD8C-9259-434E-BF6C-222693BB28D7}" destId="{FD107A42-EC2B-204A-93E2-8931A96E723E}" srcOrd="0" destOrd="0" presId="urn:microsoft.com/office/officeart/2008/layout/LinedList"/>
    <dgm:cxn modelId="{F7380A0B-BD86-1E4B-A553-0B194292D43A}" type="presParOf" srcId="{CE5ECD8C-9259-434E-BF6C-222693BB28D7}" destId="{CE44EF53-4179-0647-831D-71CC8D04397F}" srcOrd="1" destOrd="0" presId="urn:microsoft.com/office/officeart/2008/layout/LinedList"/>
    <dgm:cxn modelId="{FD7388B9-A60D-5B49-A161-EDF05DB8645B}" type="presParOf" srcId="{C1CA0EBA-BC24-954F-B3D2-1BDC24BC9D48}" destId="{B401F7C3-22E6-C54F-8E92-F8EA3AFC8D13}" srcOrd="12" destOrd="0" presId="urn:microsoft.com/office/officeart/2008/layout/LinedList"/>
    <dgm:cxn modelId="{7D06B15F-B826-AD43-8F54-AD498851C0A7}" type="presParOf" srcId="{C1CA0EBA-BC24-954F-B3D2-1BDC24BC9D48}" destId="{2BD212DB-F614-E348-A5E7-61AF7BE43132}" srcOrd="13" destOrd="0" presId="urn:microsoft.com/office/officeart/2008/layout/LinedList"/>
    <dgm:cxn modelId="{131DAEB9-85FE-E644-BB78-A4C28F2DACD8}" type="presParOf" srcId="{2BD212DB-F614-E348-A5E7-61AF7BE43132}" destId="{60E850BA-7972-7A40-885E-6F002A26875D}" srcOrd="0" destOrd="0" presId="urn:microsoft.com/office/officeart/2008/layout/LinedList"/>
    <dgm:cxn modelId="{2ED63B29-1FC2-6A47-9D8C-4569199974AE}" type="presParOf" srcId="{2BD212DB-F614-E348-A5E7-61AF7BE43132}" destId="{F4A7C1A5-E16B-4C42-990E-C91A14E64AE8}" srcOrd="1" destOrd="0" presId="urn:microsoft.com/office/officeart/2008/layout/LinedList"/>
    <dgm:cxn modelId="{928971DB-E260-A54D-947A-47E6BA9B6BF2}" type="presParOf" srcId="{C1CA0EBA-BC24-954F-B3D2-1BDC24BC9D48}" destId="{84E55B47-EC5C-A848-89AA-B81AB4E029E1}" srcOrd="14" destOrd="0" presId="urn:microsoft.com/office/officeart/2008/layout/LinedList"/>
    <dgm:cxn modelId="{B7AD4F16-8C68-FD40-A50D-CE95D3D41662}" type="presParOf" srcId="{C1CA0EBA-BC24-954F-B3D2-1BDC24BC9D48}" destId="{50319396-1059-1045-8B97-AD5135A0576E}" srcOrd="15" destOrd="0" presId="urn:microsoft.com/office/officeart/2008/layout/LinedList"/>
    <dgm:cxn modelId="{61B08B52-FFB8-B848-8C23-7D5E2F19656E}" type="presParOf" srcId="{50319396-1059-1045-8B97-AD5135A0576E}" destId="{3CE63F59-D23B-A349-87E3-AB48566DF2BF}" srcOrd="0" destOrd="0" presId="urn:microsoft.com/office/officeart/2008/layout/LinedList"/>
    <dgm:cxn modelId="{094B2EE9-0518-CC47-924A-9E07778D8D1A}" type="presParOf" srcId="{50319396-1059-1045-8B97-AD5135A0576E}" destId="{7189D738-2444-D844-9733-BEF01824EA5A}" srcOrd="1" destOrd="0" presId="urn:microsoft.com/office/officeart/2008/layout/LinedList"/>
    <dgm:cxn modelId="{2CAEA900-E1F7-174D-B28C-4DBAC808D066}" type="presParOf" srcId="{C1CA0EBA-BC24-954F-B3D2-1BDC24BC9D48}" destId="{6960BF18-B047-1D45-8F3A-6678E3C322A0}" srcOrd="16" destOrd="0" presId="urn:microsoft.com/office/officeart/2008/layout/LinedList"/>
    <dgm:cxn modelId="{D9AE3DF6-D5BC-8347-9D50-57840F629206}" type="presParOf" srcId="{C1CA0EBA-BC24-954F-B3D2-1BDC24BC9D48}" destId="{6EA64C77-A844-CA47-A229-ED7243EB657D}" srcOrd="17" destOrd="0" presId="urn:microsoft.com/office/officeart/2008/layout/LinedList"/>
    <dgm:cxn modelId="{3A803B29-F0DD-BE49-A8D2-56A26709EF21}" type="presParOf" srcId="{6EA64C77-A844-CA47-A229-ED7243EB657D}" destId="{7C4A5F10-0963-064C-8EFB-0558263426E6}" srcOrd="0" destOrd="0" presId="urn:microsoft.com/office/officeart/2008/layout/LinedList"/>
    <dgm:cxn modelId="{DC0F73B6-96CB-ED47-A7EA-DA86E9880116}" type="presParOf" srcId="{6EA64C77-A844-CA47-A229-ED7243EB657D}" destId="{F2E6522D-3A87-5343-9412-6ADCC76A37C6}" srcOrd="1" destOrd="0" presId="urn:microsoft.com/office/officeart/2008/layout/LinedList"/>
    <dgm:cxn modelId="{CFC272ED-B9B6-EE45-8C2A-BFA6A114C328}" type="presParOf" srcId="{C1CA0EBA-BC24-954F-B3D2-1BDC24BC9D48}" destId="{D5FD3368-53D9-5649-B292-BF782BBA584C}" srcOrd="18" destOrd="0" presId="urn:microsoft.com/office/officeart/2008/layout/LinedList"/>
    <dgm:cxn modelId="{6808EA44-6A4D-E848-9E3A-14A4326ED241}" type="presParOf" srcId="{C1CA0EBA-BC24-954F-B3D2-1BDC24BC9D48}" destId="{8645F7D3-C28B-B14E-B338-3596E0405E47}" srcOrd="19" destOrd="0" presId="urn:microsoft.com/office/officeart/2008/layout/LinedList"/>
    <dgm:cxn modelId="{6A17795A-474A-E740-9EDA-82742C6E1F34}" type="presParOf" srcId="{8645F7D3-C28B-B14E-B338-3596E0405E47}" destId="{A413EA2D-2E2C-D944-A8B5-67CD060DA7F4}" srcOrd="0" destOrd="0" presId="urn:microsoft.com/office/officeart/2008/layout/LinedList"/>
    <dgm:cxn modelId="{43782133-E4BA-024F-889E-615BA8DB9A13}" type="presParOf" srcId="{8645F7D3-C28B-B14E-B338-3596E0405E47}" destId="{159BDB32-72FD-4247-BFEF-B6B42BE7E7E9}" srcOrd="1" destOrd="0" presId="urn:microsoft.com/office/officeart/2008/layout/LinedList"/>
    <dgm:cxn modelId="{2BABC08D-C229-9D4E-956C-7A476AA21601}" type="presParOf" srcId="{C1CA0EBA-BC24-954F-B3D2-1BDC24BC9D48}" destId="{98EE844A-B3A4-514E-8D63-3814C9683E50}" srcOrd="20" destOrd="0" presId="urn:microsoft.com/office/officeart/2008/layout/LinedList"/>
    <dgm:cxn modelId="{15F7BB4D-5679-DB4E-B5BA-ED4B5DAD1BBF}" type="presParOf" srcId="{C1CA0EBA-BC24-954F-B3D2-1BDC24BC9D48}" destId="{1FAA3EE7-6372-6340-8C36-3B7E9D10654C}" srcOrd="21" destOrd="0" presId="urn:microsoft.com/office/officeart/2008/layout/LinedList"/>
    <dgm:cxn modelId="{723DAD83-79B5-C34A-B2B5-5754D7855EE8}" type="presParOf" srcId="{1FAA3EE7-6372-6340-8C36-3B7E9D10654C}" destId="{1032ECA6-9084-1D4D-85D2-FDB6058F2C6C}" srcOrd="0" destOrd="0" presId="urn:microsoft.com/office/officeart/2008/layout/LinedList"/>
    <dgm:cxn modelId="{5E44BC38-CF7F-1747-B9EC-29CDB3491C63}" type="presParOf" srcId="{1FAA3EE7-6372-6340-8C36-3B7E9D10654C}" destId="{5A57E1EB-9098-D54A-B0FA-30196AEF181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3174EA-068D-4544-A9E1-FFC376E19340}"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AA230A55-7EE0-4061-A4C5-79845BD0A107}">
      <dgm:prSet/>
      <dgm:spPr/>
      <dgm:t>
        <a:bodyPr/>
        <a:lstStyle/>
        <a:p>
          <a:r>
            <a:rPr lang="en-US" b="1" dirty="0">
              <a:latin typeface="Century Gothic" panose="020B0502020202020204" pitchFamily="34" charset="0"/>
            </a:rPr>
            <a:t>SMEs: The Backbone of the Global Economy</a:t>
          </a:r>
          <a:endParaRPr lang="en-US" dirty="0">
            <a:latin typeface="Century Gothic" panose="020B0502020202020204" pitchFamily="34" charset="0"/>
          </a:endParaRPr>
        </a:p>
      </dgm:t>
    </dgm:pt>
    <dgm:pt modelId="{F34633BE-C287-4975-BC7B-7023B01BB154}" type="parTrans" cxnId="{AF915679-1AB0-4BBE-9380-76CB5067CB54}">
      <dgm:prSet/>
      <dgm:spPr/>
      <dgm:t>
        <a:bodyPr/>
        <a:lstStyle/>
        <a:p>
          <a:endParaRPr lang="en-US"/>
        </a:p>
      </dgm:t>
    </dgm:pt>
    <dgm:pt modelId="{29E45E3E-64DB-4205-A911-601D20FE812D}" type="sibTrans" cxnId="{AF915679-1AB0-4BBE-9380-76CB5067CB54}">
      <dgm:prSet/>
      <dgm:spPr/>
      <dgm:t>
        <a:bodyPr/>
        <a:lstStyle/>
        <a:p>
          <a:endParaRPr lang="en-US"/>
        </a:p>
      </dgm:t>
    </dgm:pt>
    <dgm:pt modelId="{6EE89826-B2BD-4DC0-92BF-6B97FDECF695}">
      <dgm:prSet/>
      <dgm:spPr/>
      <dgm:t>
        <a:bodyPr/>
        <a:lstStyle/>
        <a:p>
          <a:r>
            <a:rPr lang="en-US" b="0" dirty="0">
              <a:solidFill>
                <a:schemeClr val="tx1"/>
              </a:solidFill>
              <a:latin typeface="Century Gothic" panose="020B0502020202020204" pitchFamily="34" charset="0"/>
            </a:rPr>
            <a:t>Represent &gt;90% of businesses worldwide</a:t>
          </a:r>
        </a:p>
      </dgm:t>
    </dgm:pt>
    <dgm:pt modelId="{DB4A198A-AA0B-40D1-BC53-36A895C26A22}" type="parTrans" cxnId="{97D3326B-D4DA-4930-A0E0-0AC0BF75942C}">
      <dgm:prSet/>
      <dgm:spPr/>
      <dgm:t>
        <a:bodyPr/>
        <a:lstStyle/>
        <a:p>
          <a:endParaRPr lang="en-US"/>
        </a:p>
      </dgm:t>
    </dgm:pt>
    <dgm:pt modelId="{92DD6DC6-FC90-4E3E-BCCA-E4565B691EBA}" type="sibTrans" cxnId="{97D3326B-D4DA-4930-A0E0-0AC0BF75942C}">
      <dgm:prSet/>
      <dgm:spPr/>
      <dgm:t>
        <a:bodyPr/>
        <a:lstStyle/>
        <a:p>
          <a:endParaRPr lang="en-US"/>
        </a:p>
      </dgm:t>
    </dgm:pt>
    <dgm:pt modelId="{4BD9A6F8-9EED-48B0-BFC0-6FD0C3C53970}">
      <dgm:prSet/>
      <dgm:spPr/>
      <dgm:t>
        <a:bodyPr/>
        <a:lstStyle/>
        <a:p>
          <a:r>
            <a:rPr lang="en-US" b="0" dirty="0">
              <a:solidFill>
                <a:schemeClr val="tx1"/>
              </a:solidFill>
              <a:latin typeface="Century Gothic" panose="020B0502020202020204" pitchFamily="34" charset="0"/>
            </a:rPr>
            <a:t>Key players in supply chains</a:t>
          </a:r>
        </a:p>
      </dgm:t>
    </dgm:pt>
    <dgm:pt modelId="{C3F3EE24-19D1-4DA8-ABF2-E427E83000F2}" type="parTrans" cxnId="{6FA594EC-DB42-478D-B886-93E8A9A7D78D}">
      <dgm:prSet/>
      <dgm:spPr/>
      <dgm:t>
        <a:bodyPr/>
        <a:lstStyle/>
        <a:p>
          <a:endParaRPr lang="en-US"/>
        </a:p>
      </dgm:t>
    </dgm:pt>
    <dgm:pt modelId="{9198C280-CD0D-4D0C-BACB-C6B6E2D108FB}" type="sibTrans" cxnId="{6FA594EC-DB42-478D-B886-93E8A9A7D78D}">
      <dgm:prSet/>
      <dgm:spPr/>
      <dgm:t>
        <a:bodyPr/>
        <a:lstStyle/>
        <a:p>
          <a:endParaRPr lang="en-US"/>
        </a:p>
      </dgm:t>
    </dgm:pt>
    <dgm:pt modelId="{0F579ECD-5D93-404C-B947-1EE02584B6D9}">
      <dgm:prSet/>
      <dgm:spPr/>
      <dgm:t>
        <a:bodyPr/>
        <a:lstStyle/>
        <a:p>
          <a:r>
            <a:rPr lang="en-US" b="1" dirty="0">
              <a:latin typeface="Century Gothic" panose="020B0502020202020204" pitchFamily="34" charset="0"/>
            </a:rPr>
            <a:t>Digital Transformation – Opportunity &amp; Risk</a:t>
          </a:r>
          <a:endParaRPr lang="en-US" dirty="0">
            <a:latin typeface="Century Gothic" panose="020B0502020202020204" pitchFamily="34" charset="0"/>
          </a:endParaRPr>
        </a:p>
      </dgm:t>
    </dgm:pt>
    <dgm:pt modelId="{D4DBFC35-7041-4B40-96CE-9C471B894236}" type="parTrans" cxnId="{FC4E0875-8562-4EBF-BC97-87DBFEEAE1C4}">
      <dgm:prSet/>
      <dgm:spPr/>
      <dgm:t>
        <a:bodyPr/>
        <a:lstStyle/>
        <a:p>
          <a:endParaRPr lang="en-US"/>
        </a:p>
      </dgm:t>
    </dgm:pt>
    <dgm:pt modelId="{D1E6F127-8127-4C93-AB02-12BCBBDFFE27}" type="sibTrans" cxnId="{FC4E0875-8562-4EBF-BC97-87DBFEEAE1C4}">
      <dgm:prSet/>
      <dgm:spPr/>
      <dgm:t>
        <a:bodyPr/>
        <a:lstStyle/>
        <a:p>
          <a:endParaRPr lang="en-US"/>
        </a:p>
      </dgm:t>
    </dgm:pt>
    <dgm:pt modelId="{FD834D3A-DA35-4A8D-8FDC-9224D039379F}">
      <dgm:prSet/>
      <dgm:spPr/>
      <dgm:t>
        <a:bodyPr/>
        <a:lstStyle/>
        <a:p>
          <a:r>
            <a:rPr lang="en-US" dirty="0">
              <a:latin typeface="Century Gothic" panose="020B0502020202020204" pitchFamily="34" charset="0"/>
            </a:rPr>
            <a:t>Cloud computing &amp; digital platforms boost efficiency &amp; competitiveness</a:t>
          </a:r>
        </a:p>
      </dgm:t>
    </dgm:pt>
    <dgm:pt modelId="{9BBC7DFC-5158-4F82-B932-10FDA9C70ACA}" type="parTrans" cxnId="{7112B2F0-803B-435D-A765-B2D88714A775}">
      <dgm:prSet/>
      <dgm:spPr/>
      <dgm:t>
        <a:bodyPr/>
        <a:lstStyle/>
        <a:p>
          <a:endParaRPr lang="en-US"/>
        </a:p>
      </dgm:t>
    </dgm:pt>
    <dgm:pt modelId="{E6920D14-15B3-4D4D-A0D4-809254AC21D0}" type="sibTrans" cxnId="{7112B2F0-803B-435D-A765-B2D88714A775}">
      <dgm:prSet/>
      <dgm:spPr/>
      <dgm:t>
        <a:bodyPr/>
        <a:lstStyle/>
        <a:p>
          <a:endParaRPr lang="en-US"/>
        </a:p>
      </dgm:t>
    </dgm:pt>
    <dgm:pt modelId="{70A3A6B1-5E6B-48CF-B28E-053F2D220D09}">
      <dgm:prSet/>
      <dgm:spPr/>
      <dgm:t>
        <a:bodyPr/>
        <a:lstStyle/>
        <a:p>
          <a:r>
            <a:rPr lang="en-US" dirty="0">
              <a:latin typeface="Century Gothic" panose="020B0502020202020204" pitchFamily="34" charset="0"/>
            </a:rPr>
            <a:t>Increased cyber vulnerability due to limited awareness of threats &amp; defenses</a:t>
          </a:r>
        </a:p>
      </dgm:t>
    </dgm:pt>
    <dgm:pt modelId="{B90B6192-3267-41CB-BD8F-D32BE98C8CC4}" type="parTrans" cxnId="{02A1E271-FA5B-490C-B9FA-C0DCA66614A6}">
      <dgm:prSet/>
      <dgm:spPr/>
      <dgm:t>
        <a:bodyPr/>
        <a:lstStyle/>
        <a:p>
          <a:endParaRPr lang="en-US"/>
        </a:p>
      </dgm:t>
    </dgm:pt>
    <dgm:pt modelId="{64474620-72BE-4945-9099-73A346C1013B}" type="sibTrans" cxnId="{02A1E271-FA5B-490C-B9FA-C0DCA66614A6}">
      <dgm:prSet/>
      <dgm:spPr/>
      <dgm:t>
        <a:bodyPr/>
        <a:lstStyle/>
        <a:p>
          <a:endParaRPr lang="en-US"/>
        </a:p>
      </dgm:t>
    </dgm:pt>
    <dgm:pt modelId="{A87D3A7A-A165-408A-BAA7-6D6845026840}">
      <dgm:prSet/>
      <dgm:spPr/>
      <dgm:t>
        <a:bodyPr/>
        <a:lstStyle/>
        <a:p>
          <a:r>
            <a:rPr lang="en-US" b="1" dirty="0">
              <a:latin typeface="Century Gothic" panose="020B0502020202020204" pitchFamily="34" charset="0"/>
            </a:rPr>
            <a:t>Cybersecurity Threat Landscape</a:t>
          </a:r>
          <a:endParaRPr lang="en-US" dirty="0">
            <a:latin typeface="Century Gothic" panose="020B0502020202020204" pitchFamily="34" charset="0"/>
          </a:endParaRPr>
        </a:p>
      </dgm:t>
    </dgm:pt>
    <dgm:pt modelId="{DEC0F61E-B5FF-4794-9296-C87CED85BFDE}" type="parTrans" cxnId="{82C7993C-9906-4EC7-8BA2-15452ACAF2DF}">
      <dgm:prSet/>
      <dgm:spPr/>
      <dgm:t>
        <a:bodyPr/>
        <a:lstStyle/>
        <a:p>
          <a:endParaRPr lang="en-US"/>
        </a:p>
      </dgm:t>
    </dgm:pt>
    <dgm:pt modelId="{9CD97CD5-E0B9-41A0-A6E6-1FC24F07201C}" type="sibTrans" cxnId="{82C7993C-9906-4EC7-8BA2-15452ACAF2DF}">
      <dgm:prSet/>
      <dgm:spPr/>
      <dgm:t>
        <a:bodyPr/>
        <a:lstStyle/>
        <a:p>
          <a:endParaRPr lang="en-US"/>
        </a:p>
      </dgm:t>
    </dgm:pt>
    <dgm:pt modelId="{AFE0B35C-74CB-42C8-B01D-43A66B0BD878}">
      <dgm:prSet/>
      <dgm:spPr/>
      <dgm:t>
        <a:bodyPr/>
        <a:lstStyle/>
        <a:p>
          <a:r>
            <a:rPr lang="en-US" dirty="0">
              <a:latin typeface="Century Gothic" panose="020B0502020202020204" pitchFamily="34" charset="0"/>
            </a:rPr>
            <a:t>Only 28% confident in risk management</a:t>
          </a:r>
        </a:p>
      </dgm:t>
    </dgm:pt>
    <dgm:pt modelId="{FC3B84E8-4446-4DCA-8B18-ECAD4CD25988}" type="parTrans" cxnId="{3640E418-45FD-4822-9F79-CEB02F2BCA21}">
      <dgm:prSet/>
      <dgm:spPr/>
      <dgm:t>
        <a:bodyPr/>
        <a:lstStyle/>
        <a:p>
          <a:endParaRPr lang="en-US"/>
        </a:p>
      </dgm:t>
    </dgm:pt>
    <dgm:pt modelId="{4F858289-A39D-428A-905E-CACE6BA882C7}" type="sibTrans" cxnId="{3640E418-45FD-4822-9F79-CEB02F2BCA21}">
      <dgm:prSet/>
      <dgm:spPr/>
      <dgm:t>
        <a:bodyPr/>
        <a:lstStyle/>
        <a:p>
          <a:endParaRPr lang="en-US"/>
        </a:p>
      </dgm:t>
    </dgm:pt>
    <dgm:pt modelId="{AF9E09F6-EED7-4796-9604-8A15399E8F9D}">
      <dgm:prSet/>
      <dgm:spPr/>
      <dgm:t>
        <a:bodyPr/>
        <a:lstStyle/>
        <a:p>
          <a:r>
            <a:rPr lang="en-US" dirty="0">
              <a:latin typeface="Century Gothic" panose="020B0502020202020204" pitchFamily="34" charset="0"/>
            </a:rPr>
            <a:t>67% targeted by cyberattacks; 58% breached</a:t>
          </a:r>
        </a:p>
      </dgm:t>
    </dgm:pt>
    <dgm:pt modelId="{53909FC6-CF85-43F1-AA7D-5C1604366F78}" type="parTrans" cxnId="{60A5600F-F891-425C-B89C-7034DB4813F8}">
      <dgm:prSet/>
      <dgm:spPr/>
      <dgm:t>
        <a:bodyPr/>
        <a:lstStyle/>
        <a:p>
          <a:endParaRPr lang="en-US"/>
        </a:p>
      </dgm:t>
    </dgm:pt>
    <dgm:pt modelId="{DC0B131C-A2F7-4955-94DC-74199C24D615}" type="sibTrans" cxnId="{60A5600F-F891-425C-B89C-7034DB4813F8}">
      <dgm:prSet/>
      <dgm:spPr/>
      <dgm:t>
        <a:bodyPr/>
        <a:lstStyle/>
        <a:p>
          <a:endParaRPr lang="en-US"/>
        </a:p>
      </dgm:t>
    </dgm:pt>
    <dgm:pt modelId="{7C3B9405-894F-48CD-92D4-703A438A61DC}">
      <dgm:prSet/>
      <dgm:spPr/>
      <dgm:t>
        <a:bodyPr/>
        <a:lstStyle/>
        <a:p>
          <a:r>
            <a:rPr lang="en-US" dirty="0">
              <a:latin typeface="Century Gothic" panose="020B0502020202020204" pitchFamily="34" charset="0"/>
            </a:rPr>
            <a:t>~50% lack clear protection strategies</a:t>
          </a:r>
        </a:p>
      </dgm:t>
    </dgm:pt>
    <dgm:pt modelId="{2C39D168-6C83-4E46-BE83-31285017E5F8}" type="parTrans" cxnId="{A64CBD4F-82D8-400E-A222-E24E07B73A64}">
      <dgm:prSet/>
      <dgm:spPr/>
      <dgm:t>
        <a:bodyPr/>
        <a:lstStyle/>
        <a:p>
          <a:endParaRPr lang="en-US"/>
        </a:p>
      </dgm:t>
    </dgm:pt>
    <dgm:pt modelId="{F0774106-2617-4FC2-9E34-E2BB6491834B}" type="sibTrans" cxnId="{A64CBD4F-82D8-400E-A222-E24E07B73A64}">
      <dgm:prSet/>
      <dgm:spPr/>
      <dgm:t>
        <a:bodyPr/>
        <a:lstStyle/>
        <a:p>
          <a:endParaRPr lang="en-US"/>
        </a:p>
      </dgm:t>
    </dgm:pt>
    <dgm:pt modelId="{B388109D-EE2E-0149-A60F-AC1C50611944}">
      <dgm:prSet/>
      <dgm:spPr/>
      <dgm:t>
        <a:bodyPr/>
        <a:lstStyle/>
        <a:p>
          <a:r>
            <a:rPr lang="en-US" b="0" dirty="0">
              <a:solidFill>
                <a:schemeClr val="tx1"/>
              </a:solidFill>
              <a:latin typeface="Century Gothic" panose="020B0502020202020204" pitchFamily="34" charset="0"/>
            </a:rPr>
            <a:t>Drive innovation, development, and job creation</a:t>
          </a:r>
        </a:p>
      </dgm:t>
    </dgm:pt>
    <dgm:pt modelId="{9F6EC711-9A32-0042-BA2C-887FF8A22C15}" type="parTrans" cxnId="{D86D066E-0F2C-1A41-9A07-57F466D86EBF}">
      <dgm:prSet/>
      <dgm:spPr/>
      <dgm:t>
        <a:bodyPr/>
        <a:lstStyle/>
        <a:p>
          <a:endParaRPr lang="en-US"/>
        </a:p>
      </dgm:t>
    </dgm:pt>
    <dgm:pt modelId="{DCD360B3-917A-544E-92E4-659727673860}" type="sibTrans" cxnId="{D86D066E-0F2C-1A41-9A07-57F466D86EBF}">
      <dgm:prSet/>
      <dgm:spPr/>
      <dgm:t>
        <a:bodyPr/>
        <a:lstStyle/>
        <a:p>
          <a:endParaRPr lang="en-US"/>
        </a:p>
      </dgm:t>
    </dgm:pt>
    <dgm:pt modelId="{62EC30FC-AE60-3E40-903B-AA74FF6944D0}" type="pres">
      <dgm:prSet presAssocID="{993174EA-068D-4544-A9E1-FFC376E19340}" presName="Name0" presStyleCnt="0">
        <dgm:presLayoutVars>
          <dgm:dir/>
          <dgm:animLvl val="lvl"/>
          <dgm:resizeHandles val="exact"/>
        </dgm:presLayoutVars>
      </dgm:prSet>
      <dgm:spPr/>
    </dgm:pt>
    <dgm:pt modelId="{93E1496D-F22C-EF48-9F81-649D26E24F2B}" type="pres">
      <dgm:prSet presAssocID="{AA230A55-7EE0-4061-A4C5-79845BD0A107}" presName="composite" presStyleCnt="0"/>
      <dgm:spPr/>
    </dgm:pt>
    <dgm:pt modelId="{24909356-B7B4-8943-8328-F91032F8C191}" type="pres">
      <dgm:prSet presAssocID="{AA230A55-7EE0-4061-A4C5-79845BD0A107}" presName="parTx" presStyleLbl="alignNode1" presStyleIdx="0" presStyleCnt="3">
        <dgm:presLayoutVars>
          <dgm:chMax val="0"/>
          <dgm:chPref val="0"/>
          <dgm:bulletEnabled val="1"/>
        </dgm:presLayoutVars>
      </dgm:prSet>
      <dgm:spPr/>
    </dgm:pt>
    <dgm:pt modelId="{2A0B8030-78B6-1549-A0BE-676FF6AE4891}" type="pres">
      <dgm:prSet presAssocID="{AA230A55-7EE0-4061-A4C5-79845BD0A107}" presName="desTx" presStyleLbl="alignAccFollowNode1" presStyleIdx="0" presStyleCnt="3">
        <dgm:presLayoutVars>
          <dgm:bulletEnabled val="1"/>
        </dgm:presLayoutVars>
      </dgm:prSet>
      <dgm:spPr/>
    </dgm:pt>
    <dgm:pt modelId="{602857BA-08F3-D64D-9940-9A2C222C7A11}" type="pres">
      <dgm:prSet presAssocID="{29E45E3E-64DB-4205-A911-601D20FE812D}" presName="space" presStyleCnt="0"/>
      <dgm:spPr/>
    </dgm:pt>
    <dgm:pt modelId="{C114786A-46B0-7A4F-8BC5-D30DC2921A6E}" type="pres">
      <dgm:prSet presAssocID="{0F579ECD-5D93-404C-B947-1EE02584B6D9}" presName="composite" presStyleCnt="0"/>
      <dgm:spPr/>
    </dgm:pt>
    <dgm:pt modelId="{DF4AF440-7943-7E40-9E8E-E3F44745BB9E}" type="pres">
      <dgm:prSet presAssocID="{0F579ECD-5D93-404C-B947-1EE02584B6D9}" presName="parTx" presStyleLbl="alignNode1" presStyleIdx="1" presStyleCnt="3">
        <dgm:presLayoutVars>
          <dgm:chMax val="0"/>
          <dgm:chPref val="0"/>
          <dgm:bulletEnabled val="1"/>
        </dgm:presLayoutVars>
      </dgm:prSet>
      <dgm:spPr/>
    </dgm:pt>
    <dgm:pt modelId="{5A0A3F22-C448-394F-A79C-B21B043F0D44}" type="pres">
      <dgm:prSet presAssocID="{0F579ECD-5D93-404C-B947-1EE02584B6D9}" presName="desTx" presStyleLbl="alignAccFollowNode1" presStyleIdx="1" presStyleCnt="3">
        <dgm:presLayoutVars>
          <dgm:bulletEnabled val="1"/>
        </dgm:presLayoutVars>
      </dgm:prSet>
      <dgm:spPr/>
    </dgm:pt>
    <dgm:pt modelId="{ABC782F9-3D06-BA46-B716-FBF4183A27AB}" type="pres">
      <dgm:prSet presAssocID="{D1E6F127-8127-4C93-AB02-12BCBBDFFE27}" presName="space" presStyleCnt="0"/>
      <dgm:spPr/>
    </dgm:pt>
    <dgm:pt modelId="{49AB5F8F-064E-AF41-BD86-A3F4D2933364}" type="pres">
      <dgm:prSet presAssocID="{A87D3A7A-A165-408A-BAA7-6D6845026840}" presName="composite" presStyleCnt="0"/>
      <dgm:spPr/>
    </dgm:pt>
    <dgm:pt modelId="{77418457-C11E-D147-BE4E-7DB6FFAAC747}" type="pres">
      <dgm:prSet presAssocID="{A87D3A7A-A165-408A-BAA7-6D6845026840}" presName="parTx" presStyleLbl="alignNode1" presStyleIdx="2" presStyleCnt="3">
        <dgm:presLayoutVars>
          <dgm:chMax val="0"/>
          <dgm:chPref val="0"/>
          <dgm:bulletEnabled val="1"/>
        </dgm:presLayoutVars>
      </dgm:prSet>
      <dgm:spPr/>
    </dgm:pt>
    <dgm:pt modelId="{AA269079-1446-2C4A-8436-AC3328CFB8B0}" type="pres">
      <dgm:prSet presAssocID="{A87D3A7A-A165-408A-BAA7-6D6845026840}" presName="desTx" presStyleLbl="alignAccFollowNode1" presStyleIdx="2" presStyleCnt="3">
        <dgm:presLayoutVars>
          <dgm:bulletEnabled val="1"/>
        </dgm:presLayoutVars>
      </dgm:prSet>
      <dgm:spPr/>
    </dgm:pt>
  </dgm:ptLst>
  <dgm:cxnLst>
    <dgm:cxn modelId="{1BE2E904-436D-0548-A415-CDA4C00A8F68}" type="presOf" srcId="{B388109D-EE2E-0149-A60F-AC1C50611944}" destId="{2A0B8030-78B6-1549-A0BE-676FF6AE4891}" srcOrd="0" destOrd="1" presId="urn:microsoft.com/office/officeart/2005/8/layout/hList1"/>
    <dgm:cxn modelId="{60A5600F-F891-425C-B89C-7034DB4813F8}" srcId="{A87D3A7A-A165-408A-BAA7-6D6845026840}" destId="{AF9E09F6-EED7-4796-9604-8A15399E8F9D}" srcOrd="1" destOrd="0" parTransId="{53909FC6-CF85-43F1-AA7D-5C1604366F78}" sibTransId="{DC0B131C-A2F7-4955-94DC-74199C24D615}"/>
    <dgm:cxn modelId="{3640E418-45FD-4822-9F79-CEB02F2BCA21}" srcId="{A87D3A7A-A165-408A-BAA7-6D6845026840}" destId="{AFE0B35C-74CB-42C8-B01D-43A66B0BD878}" srcOrd="0" destOrd="0" parTransId="{FC3B84E8-4446-4DCA-8B18-ECAD4CD25988}" sibTransId="{4F858289-A39D-428A-905E-CACE6BA882C7}"/>
    <dgm:cxn modelId="{FDBAA324-69AC-4847-AE2C-56E3113875D6}" type="presOf" srcId="{4BD9A6F8-9EED-48B0-BFC0-6FD0C3C53970}" destId="{2A0B8030-78B6-1549-A0BE-676FF6AE4891}" srcOrd="0" destOrd="2" presId="urn:microsoft.com/office/officeart/2005/8/layout/hList1"/>
    <dgm:cxn modelId="{B2AB1C26-2F7D-FF4E-92A5-36608FC5C517}" type="presOf" srcId="{0F579ECD-5D93-404C-B947-1EE02584B6D9}" destId="{DF4AF440-7943-7E40-9E8E-E3F44745BB9E}" srcOrd="0" destOrd="0" presId="urn:microsoft.com/office/officeart/2005/8/layout/hList1"/>
    <dgm:cxn modelId="{84BE6D28-8384-4648-AEA2-C50F013CF5CE}" type="presOf" srcId="{6EE89826-B2BD-4DC0-92BF-6B97FDECF695}" destId="{2A0B8030-78B6-1549-A0BE-676FF6AE4891}" srcOrd="0" destOrd="0" presId="urn:microsoft.com/office/officeart/2005/8/layout/hList1"/>
    <dgm:cxn modelId="{82C7993C-9906-4EC7-8BA2-15452ACAF2DF}" srcId="{993174EA-068D-4544-A9E1-FFC376E19340}" destId="{A87D3A7A-A165-408A-BAA7-6D6845026840}" srcOrd="2" destOrd="0" parTransId="{DEC0F61E-B5FF-4794-9296-C87CED85BFDE}" sibTransId="{9CD97CD5-E0B9-41A0-A6E6-1FC24F07201C}"/>
    <dgm:cxn modelId="{A64CBD4F-82D8-400E-A222-E24E07B73A64}" srcId="{A87D3A7A-A165-408A-BAA7-6D6845026840}" destId="{7C3B9405-894F-48CD-92D4-703A438A61DC}" srcOrd="2" destOrd="0" parTransId="{2C39D168-6C83-4E46-BE83-31285017E5F8}" sibTransId="{F0774106-2617-4FC2-9E34-E2BB6491834B}"/>
    <dgm:cxn modelId="{8152535A-8613-AE4A-8489-E46B293F2653}" type="presOf" srcId="{AFE0B35C-74CB-42C8-B01D-43A66B0BD878}" destId="{AA269079-1446-2C4A-8436-AC3328CFB8B0}" srcOrd="0" destOrd="0" presId="urn:microsoft.com/office/officeart/2005/8/layout/hList1"/>
    <dgm:cxn modelId="{97D3326B-D4DA-4930-A0E0-0AC0BF75942C}" srcId="{AA230A55-7EE0-4061-A4C5-79845BD0A107}" destId="{6EE89826-B2BD-4DC0-92BF-6B97FDECF695}" srcOrd="0" destOrd="0" parTransId="{DB4A198A-AA0B-40D1-BC53-36A895C26A22}" sibTransId="{92DD6DC6-FC90-4E3E-BCCA-E4565B691EBA}"/>
    <dgm:cxn modelId="{D86D066E-0F2C-1A41-9A07-57F466D86EBF}" srcId="{AA230A55-7EE0-4061-A4C5-79845BD0A107}" destId="{B388109D-EE2E-0149-A60F-AC1C50611944}" srcOrd="1" destOrd="0" parTransId="{9F6EC711-9A32-0042-BA2C-887FF8A22C15}" sibTransId="{DCD360B3-917A-544E-92E4-659727673860}"/>
    <dgm:cxn modelId="{02A1E271-FA5B-490C-B9FA-C0DCA66614A6}" srcId="{0F579ECD-5D93-404C-B947-1EE02584B6D9}" destId="{70A3A6B1-5E6B-48CF-B28E-053F2D220D09}" srcOrd="1" destOrd="0" parTransId="{B90B6192-3267-41CB-BD8F-D32BE98C8CC4}" sibTransId="{64474620-72BE-4945-9099-73A346C1013B}"/>
    <dgm:cxn modelId="{FC4E0875-8562-4EBF-BC97-87DBFEEAE1C4}" srcId="{993174EA-068D-4544-A9E1-FFC376E19340}" destId="{0F579ECD-5D93-404C-B947-1EE02584B6D9}" srcOrd="1" destOrd="0" parTransId="{D4DBFC35-7041-4B40-96CE-9C471B894236}" sibTransId="{D1E6F127-8127-4C93-AB02-12BCBBDFFE27}"/>
    <dgm:cxn modelId="{1F582F76-5946-0946-8B1A-257EFCB92828}" type="presOf" srcId="{7C3B9405-894F-48CD-92D4-703A438A61DC}" destId="{AA269079-1446-2C4A-8436-AC3328CFB8B0}" srcOrd="0" destOrd="2" presId="urn:microsoft.com/office/officeart/2005/8/layout/hList1"/>
    <dgm:cxn modelId="{AF915679-1AB0-4BBE-9380-76CB5067CB54}" srcId="{993174EA-068D-4544-A9E1-FFC376E19340}" destId="{AA230A55-7EE0-4061-A4C5-79845BD0A107}" srcOrd="0" destOrd="0" parTransId="{F34633BE-C287-4975-BC7B-7023B01BB154}" sibTransId="{29E45E3E-64DB-4205-A911-601D20FE812D}"/>
    <dgm:cxn modelId="{0A8BC8B0-20C7-A743-A5A8-E94708FC11EA}" type="presOf" srcId="{AA230A55-7EE0-4061-A4C5-79845BD0A107}" destId="{24909356-B7B4-8943-8328-F91032F8C191}" srcOrd="0" destOrd="0" presId="urn:microsoft.com/office/officeart/2005/8/layout/hList1"/>
    <dgm:cxn modelId="{30F2C4BD-BFE5-D04A-B604-0B4CD0E60C65}" type="presOf" srcId="{A87D3A7A-A165-408A-BAA7-6D6845026840}" destId="{77418457-C11E-D147-BE4E-7DB6FFAAC747}" srcOrd="0" destOrd="0" presId="urn:microsoft.com/office/officeart/2005/8/layout/hList1"/>
    <dgm:cxn modelId="{76B3E7E2-7DBC-914E-8772-F99A2644EF03}" type="presOf" srcId="{993174EA-068D-4544-A9E1-FFC376E19340}" destId="{62EC30FC-AE60-3E40-903B-AA74FF6944D0}" srcOrd="0" destOrd="0" presId="urn:microsoft.com/office/officeart/2005/8/layout/hList1"/>
    <dgm:cxn modelId="{CD9935E6-D2A1-7F42-9C16-0321155A0333}" type="presOf" srcId="{FD834D3A-DA35-4A8D-8FDC-9224D039379F}" destId="{5A0A3F22-C448-394F-A79C-B21B043F0D44}" srcOrd="0" destOrd="0" presId="urn:microsoft.com/office/officeart/2005/8/layout/hList1"/>
    <dgm:cxn modelId="{EF4977E9-FFF9-9744-A89C-F45B18D5A3DB}" type="presOf" srcId="{70A3A6B1-5E6B-48CF-B28E-053F2D220D09}" destId="{5A0A3F22-C448-394F-A79C-B21B043F0D44}" srcOrd="0" destOrd="1" presId="urn:microsoft.com/office/officeart/2005/8/layout/hList1"/>
    <dgm:cxn modelId="{02EE4DEB-7A32-B340-810B-7CA8047196D2}" type="presOf" srcId="{AF9E09F6-EED7-4796-9604-8A15399E8F9D}" destId="{AA269079-1446-2C4A-8436-AC3328CFB8B0}" srcOrd="0" destOrd="1" presId="urn:microsoft.com/office/officeart/2005/8/layout/hList1"/>
    <dgm:cxn modelId="{6FA594EC-DB42-478D-B886-93E8A9A7D78D}" srcId="{AA230A55-7EE0-4061-A4C5-79845BD0A107}" destId="{4BD9A6F8-9EED-48B0-BFC0-6FD0C3C53970}" srcOrd="2" destOrd="0" parTransId="{C3F3EE24-19D1-4DA8-ABF2-E427E83000F2}" sibTransId="{9198C280-CD0D-4D0C-BACB-C6B6E2D108FB}"/>
    <dgm:cxn modelId="{7112B2F0-803B-435D-A765-B2D88714A775}" srcId="{0F579ECD-5D93-404C-B947-1EE02584B6D9}" destId="{FD834D3A-DA35-4A8D-8FDC-9224D039379F}" srcOrd="0" destOrd="0" parTransId="{9BBC7DFC-5158-4F82-B932-10FDA9C70ACA}" sibTransId="{E6920D14-15B3-4D4D-A0D4-809254AC21D0}"/>
    <dgm:cxn modelId="{9B991722-16B0-5345-9984-CB095E4A2196}" type="presParOf" srcId="{62EC30FC-AE60-3E40-903B-AA74FF6944D0}" destId="{93E1496D-F22C-EF48-9F81-649D26E24F2B}" srcOrd="0" destOrd="0" presId="urn:microsoft.com/office/officeart/2005/8/layout/hList1"/>
    <dgm:cxn modelId="{DEB00E8D-B3A7-A54E-A6C0-42AA8DFBE38C}" type="presParOf" srcId="{93E1496D-F22C-EF48-9F81-649D26E24F2B}" destId="{24909356-B7B4-8943-8328-F91032F8C191}" srcOrd="0" destOrd="0" presId="urn:microsoft.com/office/officeart/2005/8/layout/hList1"/>
    <dgm:cxn modelId="{D173703C-5D09-8041-9375-1920107922F1}" type="presParOf" srcId="{93E1496D-F22C-EF48-9F81-649D26E24F2B}" destId="{2A0B8030-78B6-1549-A0BE-676FF6AE4891}" srcOrd="1" destOrd="0" presId="urn:microsoft.com/office/officeart/2005/8/layout/hList1"/>
    <dgm:cxn modelId="{76527EC7-80FE-824F-9C48-283D6BEE0119}" type="presParOf" srcId="{62EC30FC-AE60-3E40-903B-AA74FF6944D0}" destId="{602857BA-08F3-D64D-9940-9A2C222C7A11}" srcOrd="1" destOrd="0" presId="urn:microsoft.com/office/officeart/2005/8/layout/hList1"/>
    <dgm:cxn modelId="{13F16187-692E-B146-AD00-E833DB73B223}" type="presParOf" srcId="{62EC30FC-AE60-3E40-903B-AA74FF6944D0}" destId="{C114786A-46B0-7A4F-8BC5-D30DC2921A6E}" srcOrd="2" destOrd="0" presId="urn:microsoft.com/office/officeart/2005/8/layout/hList1"/>
    <dgm:cxn modelId="{BDA9A21E-303E-D14F-BD0C-59EB53A89926}" type="presParOf" srcId="{C114786A-46B0-7A4F-8BC5-D30DC2921A6E}" destId="{DF4AF440-7943-7E40-9E8E-E3F44745BB9E}" srcOrd="0" destOrd="0" presId="urn:microsoft.com/office/officeart/2005/8/layout/hList1"/>
    <dgm:cxn modelId="{45D4B902-E4D8-CF48-B8C0-D9C9676CBBBE}" type="presParOf" srcId="{C114786A-46B0-7A4F-8BC5-D30DC2921A6E}" destId="{5A0A3F22-C448-394F-A79C-B21B043F0D44}" srcOrd="1" destOrd="0" presId="urn:microsoft.com/office/officeart/2005/8/layout/hList1"/>
    <dgm:cxn modelId="{754C423F-C9F0-B64B-A872-28D89E4F71C3}" type="presParOf" srcId="{62EC30FC-AE60-3E40-903B-AA74FF6944D0}" destId="{ABC782F9-3D06-BA46-B716-FBF4183A27AB}" srcOrd="3" destOrd="0" presId="urn:microsoft.com/office/officeart/2005/8/layout/hList1"/>
    <dgm:cxn modelId="{079A35C9-F5B0-9443-A635-725FD6339C6D}" type="presParOf" srcId="{62EC30FC-AE60-3E40-903B-AA74FF6944D0}" destId="{49AB5F8F-064E-AF41-BD86-A3F4D2933364}" srcOrd="4" destOrd="0" presId="urn:microsoft.com/office/officeart/2005/8/layout/hList1"/>
    <dgm:cxn modelId="{E49209CD-7F51-4B46-83E3-0D556B0D6723}" type="presParOf" srcId="{49AB5F8F-064E-AF41-BD86-A3F4D2933364}" destId="{77418457-C11E-D147-BE4E-7DB6FFAAC747}" srcOrd="0" destOrd="0" presId="urn:microsoft.com/office/officeart/2005/8/layout/hList1"/>
    <dgm:cxn modelId="{A1B438B7-4297-F947-AD15-A17B820ABBB3}" type="presParOf" srcId="{49AB5F8F-064E-AF41-BD86-A3F4D2933364}" destId="{AA269079-1446-2C4A-8436-AC3328CFB8B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3174EA-068D-4544-A9E1-FFC376E19340}"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AA230A55-7EE0-4061-A4C5-79845BD0A107}">
      <dgm:prSet/>
      <dgm:spPr/>
      <dgm:t>
        <a:bodyPr/>
        <a:lstStyle/>
        <a:p>
          <a:r>
            <a:rPr lang="en-US" b="1" dirty="0">
              <a:latin typeface="Century Gothic" panose="020B0502020202020204" pitchFamily="34" charset="0"/>
            </a:rPr>
            <a:t>Implications for Supply Chains</a:t>
          </a:r>
          <a:endParaRPr lang="en-US" dirty="0">
            <a:latin typeface="Century Gothic" panose="020B0502020202020204" pitchFamily="34" charset="0"/>
          </a:endParaRPr>
        </a:p>
      </dgm:t>
    </dgm:pt>
    <dgm:pt modelId="{F34633BE-C287-4975-BC7B-7023B01BB154}" type="parTrans" cxnId="{AF915679-1AB0-4BBE-9380-76CB5067CB54}">
      <dgm:prSet/>
      <dgm:spPr/>
      <dgm:t>
        <a:bodyPr/>
        <a:lstStyle/>
        <a:p>
          <a:endParaRPr lang="en-US"/>
        </a:p>
      </dgm:t>
    </dgm:pt>
    <dgm:pt modelId="{29E45E3E-64DB-4205-A911-601D20FE812D}" type="sibTrans" cxnId="{AF915679-1AB0-4BBE-9380-76CB5067CB54}">
      <dgm:prSet/>
      <dgm:spPr/>
      <dgm:t>
        <a:bodyPr/>
        <a:lstStyle/>
        <a:p>
          <a:endParaRPr lang="en-US"/>
        </a:p>
      </dgm:t>
    </dgm:pt>
    <dgm:pt modelId="{6EE89826-B2BD-4DC0-92BF-6B97FDECF695}">
      <dgm:prSet custT="1"/>
      <dgm:spPr/>
      <dgm:t>
        <a:bodyPr/>
        <a:lstStyle/>
        <a:p>
          <a:r>
            <a:rPr lang="en-US" sz="2000" dirty="0">
              <a:latin typeface="Century Gothic" panose="020B0502020202020204" pitchFamily="34" charset="0"/>
            </a:rPr>
            <a:t>SMEs handle sensitive financial/personal data</a:t>
          </a:r>
        </a:p>
      </dgm:t>
    </dgm:pt>
    <dgm:pt modelId="{DB4A198A-AA0B-40D1-BC53-36A895C26A22}" type="parTrans" cxnId="{97D3326B-D4DA-4930-A0E0-0AC0BF75942C}">
      <dgm:prSet/>
      <dgm:spPr/>
      <dgm:t>
        <a:bodyPr/>
        <a:lstStyle/>
        <a:p>
          <a:endParaRPr lang="en-US"/>
        </a:p>
      </dgm:t>
    </dgm:pt>
    <dgm:pt modelId="{92DD6DC6-FC90-4E3E-BCCA-E4565B691EBA}" type="sibTrans" cxnId="{97D3326B-D4DA-4930-A0E0-0AC0BF75942C}">
      <dgm:prSet/>
      <dgm:spPr/>
      <dgm:t>
        <a:bodyPr/>
        <a:lstStyle/>
        <a:p>
          <a:endParaRPr lang="en-US"/>
        </a:p>
      </dgm:t>
    </dgm:pt>
    <dgm:pt modelId="{0F579ECD-5D93-404C-B947-1EE02584B6D9}">
      <dgm:prSet/>
      <dgm:spPr/>
      <dgm:t>
        <a:bodyPr/>
        <a:lstStyle/>
        <a:p>
          <a:r>
            <a:rPr lang="en-US" b="1" dirty="0">
              <a:latin typeface="Century Gothic" panose="020B0502020202020204" pitchFamily="34" charset="0"/>
            </a:rPr>
            <a:t>Persistent Barriers</a:t>
          </a:r>
          <a:endParaRPr lang="en-US" dirty="0">
            <a:latin typeface="Century Gothic" panose="020B0502020202020204" pitchFamily="34" charset="0"/>
          </a:endParaRPr>
        </a:p>
      </dgm:t>
    </dgm:pt>
    <dgm:pt modelId="{D4DBFC35-7041-4B40-96CE-9C471B894236}" type="parTrans" cxnId="{FC4E0875-8562-4EBF-BC97-87DBFEEAE1C4}">
      <dgm:prSet/>
      <dgm:spPr/>
      <dgm:t>
        <a:bodyPr/>
        <a:lstStyle/>
        <a:p>
          <a:endParaRPr lang="en-US"/>
        </a:p>
      </dgm:t>
    </dgm:pt>
    <dgm:pt modelId="{D1E6F127-8127-4C93-AB02-12BCBBDFFE27}" type="sibTrans" cxnId="{FC4E0875-8562-4EBF-BC97-87DBFEEAE1C4}">
      <dgm:prSet/>
      <dgm:spPr/>
      <dgm:t>
        <a:bodyPr/>
        <a:lstStyle/>
        <a:p>
          <a:endParaRPr lang="en-US"/>
        </a:p>
      </dgm:t>
    </dgm:pt>
    <dgm:pt modelId="{FD834D3A-DA35-4A8D-8FDC-9224D039379F}">
      <dgm:prSet custT="1"/>
      <dgm:spPr/>
      <dgm:t>
        <a:bodyPr/>
        <a:lstStyle/>
        <a:p>
          <a:r>
            <a:rPr lang="en-US" sz="2000" dirty="0">
              <a:latin typeface="Century Gothic" panose="020B0502020202020204" pitchFamily="34" charset="0"/>
            </a:rPr>
            <a:t>SME Cybersecurity often underestimated due to limited awareness, funds &amp; skilled personnel</a:t>
          </a:r>
        </a:p>
      </dgm:t>
    </dgm:pt>
    <dgm:pt modelId="{9BBC7DFC-5158-4F82-B932-10FDA9C70ACA}" type="parTrans" cxnId="{7112B2F0-803B-435D-A765-B2D88714A775}">
      <dgm:prSet/>
      <dgm:spPr/>
      <dgm:t>
        <a:bodyPr/>
        <a:lstStyle/>
        <a:p>
          <a:endParaRPr lang="en-US"/>
        </a:p>
      </dgm:t>
    </dgm:pt>
    <dgm:pt modelId="{E6920D14-15B3-4D4D-A0D4-809254AC21D0}" type="sibTrans" cxnId="{7112B2F0-803B-435D-A765-B2D88714A775}">
      <dgm:prSet/>
      <dgm:spPr/>
      <dgm:t>
        <a:bodyPr/>
        <a:lstStyle/>
        <a:p>
          <a:endParaRPr lang="en-US"/>
        </a:p>
      </dgm:t>
    </dgm:pt>
    <dgm:pt modelId="{A87D3A7A-A165-408A-BAA7-6D6845026840}">
      <dgm:prSet/>
      <dgm:spPr/>
      <dgm:t>
        <a:bodyPr/>
        <a:lstStyle/>
        <a:p>
          <a:r>
            <a:rPr lang="en-US" b="1" dirty="0">
              <a:latin typeface="Century Gothic" panose="020B0502020202020204" pitchFamily="34" charset="0"/>
            </a:rPr>
            <a:t>Call to Action</a:t>
          </a:r>
          <a:endParaRPr lang="en-US" dirty="0">
            <a:latin typeface="Century Gothic" panose="020B0502020202020204" pitchFamily="34" charset="0"/>
          </a:endParaRPr>
        </a:p>
      </dgm:t>
    </dgm:pt>
    <dgm:pt modelId="{DEC0F61E-B5FF-4794-9296-C87CED85BFDE}" type="parTrans" cxnId="{82C7993C-9906-4EC7-8BA2-15452ACAF2DF}">
      <dgm:prSet/>
      <dgm:spPr/>
      <dgm:t>
        <a:bodyPr/>
        <a:lstStyle/>
        <a:p>
          <a:endParaRPr lang="en-US"/>
        </a:p>
      </dgm:t>
    </dgm:pt>
    <dgm:pt modelId="{9CD97CD5-E0B9-41A0-A6E6-1FC24F07201C}" type="sibTrans" cxnId="{82C7993C-9906-4EC7-8BA2-15452ACAF2DF}">
      <dgm:prSet/>
      <dgm:spPr/>
      <dgm:t>
        <a:bodyPr/>
        <a:lstStyle/>
        <a:p>
          <a:endParaRPr lang="en-US"/>
        </a:p>
      </dgm:t>
    </dgm:pt>
    <dgm:pt modelId="{AFE0B35C-74CB-42C8-B01D-43A66B0BD878}">
      <dgm:prSet custT="1"/>
      <dgm:spPr/>
      <dgm:t>
        <a:bodyPr/>
        <a:lstStyle/>
        <a:p>
          <a:r>
            <a:rPr lang="en-US" sz="2000" dirty="0">
              <a:latin typeface="Century Gothic" panose="020B0502020202020204" pitchFamily="34" charset="0"/>
            </a:rPr>
            <a:t>Educate employees, enforce proactive protocols</a:t>
          </a:r>
        </a:p>
      </dgm:t>
    </dgm:pt>
    <dgm:pt modelId="{FC3B84E8-4446-4DCA-8B18-ECAD4CD25988}" type="parTrans" cxnId="{3640E418-45FD-4822-9F79-CEB02F2BCA21}">
      <dgm:prSet/>
      <dgm:spPr/>
      <dgm:t>
        <a:bodyPr/>
        <a:lstStyle/>
        <a:p>
          <a:endParaRPr lang="en-US"/>
        </a:p>
      </dgm:t>
    </dgm:pt>
    <dgm:pt modelId="{4F858289-A39D-428A-905E-CACE6BA882C7}" type="sibTrans" cxnId="{3640E418-45FD-4822-9F79-CEB02F2BCA21}">
      <dgm:prSet/>
      <dgm:spPr/>
      <dgm:t>
        <a:bodyPr/>
        <a:lstStyle/>
        <a:p>
          <a:endParaRPr lang="en-US"/>
        </a:p>
      </dgm:t>
    </dgm:pt>
    <dgm:pt modelId="{4D9C0981-6A9E-C04F-90B8-2D26A85AA267}">
      <dgm:prSet custT="1"/>
      <dgm:spPr/>
      <dgm:t>
        <a:bodyPr/>
        <a:lstStyle/>
        <a:p>
          <a:r>
            <a:rPr lang="en-US" sz="2000" dirty="0">
              <a:latin typeface="Century Gothic" panose="020B0502020202020204" pitchFamily="34" charset="0"/>
            </a:rPr>
            <a:t>Breaches can disrupt entire networks &amp; cause financial loss</a:t>
          </a:r>
        </a:p>
      </dgm:t>
    </dgm:pt>
    <dgm:pt modelId="{1FFB83EC-3FAA-4448-9E2B-A7E052FE59B9}" type="parTrans" cxnId="{82295A7A-8183-1640-ABCD-DA108D06BE97}">
      <dgm:prSet/>
      <dgm:spPr/>
      <dgm:t>
        <a:bodyPr/>
        <a:lstStyle/>
        <a:p>
          <a:endParaRPr lang="en-US"/>
        </a:p>
      </dgm:t>
    </dgm:pt>
    <dgm:pt modelId="{7AC67538-7031-AE4F-A27C-AB8DA9B07CBD}" type="sibTrans" cxnId="{82295A7A-8183-1640-ABCD-DA108D06BE97}">
      <dgm:prSet/>
      <dgm:spPr/>
      <dgm:t>
        <a:bodyPr/>
        <a:lstStyle/>
        <a:p>
          <a:endParaRPr lang="en-US"/>
        </a:p>
      </dgm:t>
    </dgm:pt>
    <dgm:pt modelId="{596C4876-176E-2045-82D6-E6800BB2EAF7}">
      <dgm:prSet custT="1"/>
      <dgm:spPr/>
      <dgm:t>
        <a:bodyPr/>
        <a:lstStyle/>
        <a:p>
          <a:r>
            <a:rPr lang="en-US" sz="2000" dirty="0">
              <a:latin typeface="Century Gothic" panose="020B0502020202020204" pitchFamily="34" charset="0"/>
            </a:rPr>
            <a:t>Strategic investment in resilience &amp; protection</a:t>
          </a:r>
        </a:p>
      </dgm:t>
    </dgm:pt>
    <dgm:pt modelId="{ADF18A88-66C9-6842-A947-ED3888C80513}" type="parTrans" cxnId="{6F040316-1C19-CF43-A030-1010C8270195}">
      <dgm:prSet/>
      <dgm:spPr/>
      <dgm:t>
        <a:bodyPr/>
        <a:lstStyle/>
        <a:p>
          <a:endParaRPr lang="en-US"/>
        </a:p>
      </dgm:t>
    </dgm:pt>
    <dgm:pt modelId="{4A2BFF62-325B-5948-81FD-195E456FB8BB}" type="sibTrans" cxnId="{6F040316-1C19-CF43-A030-1010C8270195}">
      <dgm:prSet/>
      <dgm:spPr/>
      <dgm:t>
        <a:bodyPr/>
        <a:lstStyle/>
        <a:p>
          <a:endParaRPr lang="en-US"/>
        </a:p>
      </dgm:t>
    </dgm:pt>
    <dgm:pt modelId="{62EC30FC-AE60-3E40-903B-AA74FF6944D0}" type="pres">
      <dgm:prSet presAssocID="{993174EA-068D-4544-A9E1-FFC376E19340}" presName="Name0" presStyleCnt="0">
        <dgm:presLayoutVars>
          <dgm:dir/>
          <dgm:animLvl val="lvl"/>
          <dgm:resizeHandles val="exact"/>
        </dgm:presLayoutVars>
      </dgm:prSet>
      <dgm:spPr/>
    </dgm:pt>
    <dgm:pt modelId="{93E1496D-F22C-EF48-9F81-649D26E24F2B}" type="pres">
      <dgm:prSet presAssocID="{AA230A55-7EE0-4061-A4C5-79845BD0A107}" presName="composite" presStyleCnt="0"/>
      <dgm:spPr/>
    </dgm:pt>
    <dgm:pt modelId="{24909356-B7B4-8943-8328-F91032F8C191}" type="pres">
      <dgm:prSet presAssocID="{AA230A55-7EE0-4061-A4C5-79845BD0A107}" presName="parTx" presStyleLbl="alignNode1" presStyleIdx="0" presStyleCnt="3">
        <dgm:presLayoutVars>
          <dgm:chMax val="0"/>
          <dgm:chPref val="0"/>
          <dgm:bulletEnabled val="1"/>
        </dgm:presLayoutVars>
      </dgm:prSet>
      <dgm:spPr/>
    </dgm:pt>
    <dgm:pt modelId="{2A0B8030-78B6-1549-A0BE-676FF6AE4891}" type="pres">
      <dgm:prSet presAssocID="{AA230A55-7EE0-4061-A4C5-79845BD0A107}" presName="desTx" presStyleLbl="alignAccFollowNode1" presStyleIdx="0" presStyleCnt="3">
        <dgm:presLayoutVars>
          <dgm:bulletEnabled val="1"/>
        </dgm:presLayoutVars>
      </dgm:prSet>
      <dgm:spPr/>
    </dgm:pt>
    <dgm:pt modelId="{602857BA-08F3-D64D-9940-9A2C222C7A11}" type="pres">
      <dgm:prSet presAssocID="{29E45E3E-64DB-4205-A911-601D20FE812D}" presName="space" presStyleCnt="0"/>
      <dgm:spPr/>
    </dgm:pt>
    <dgm:pt modelId="{C114786A-46B0-7A4F-8BC5-D30DC2921A6E}" type="pres">
      <dgm:prSet presAssocID="{0F579ECD-5D93-404C-B947-1EE02584B6D9}" presName="composite" presStyleCnt="0"/>
      <dgm:spPr/>
    </dgm:pt>
    <dgm:pt modelId="{DF4AF440-7943-7E40-9E8E-E3F44745BB9E}" type="pres">
      <dgm:prSet presAssocID="{0F579ECD-5D93-404C-B947-1EE02584B6D9}" presName="parTx" presStyleLbl="alignNode1" presStyleIdx="1" presStyleCnt="3">
        <dgm:presLayoutVars>
          <dgm:chMax val="0"/>
          <dgm:chPref val="0"/>
          <dgm:bulletEnabled val="1"/>
        </dgm:presLayoutVars>
      </dgm:prSet>
      <dgm:spPr/>
    </dgm:pt>
    <dgm:pt modelId="{5A0A3F22-C448-394F-A79C-B21B043F0D44}" type="pres">
      <dgm:prSet presAssocID="{0F579ECD-5D93-404C-B947-1EE02584B6D9}" presName="desTx" presStyleLbl="alignAccFollowNode1" presStyleIdx="1" presStyleCnt="3">
        <dgm:presLayoutVars>
          <dgm:bulletEnabled val="1"/>
        </dgm:presLayoutVars>
      </dgm:prSet>
      <dgm:spPr/>
    </dgm:pt>
    <dgm:pt modelId="{ABC782F9-3D06-BA46-B716-FBF4183A27AB}" type="pres">
      <dgm:prSet presAssocID="{D1E6F127-8127-4C93-AB02-12BCBBDFFE27}" presName="space" presStyleCnt="0"/>
      <dgm:spPr/>
    </dgm:pt>
    <dgm:pt modelId="{49AB5F8F-064E-AF41-BD86-A3F4D2933364}" type="pres">
      <dgm:prSet presAssocID="{A87D3A7A-A165-408A-BAA7-6D6845026840}" presName="composite" presStyleCnt="0"/>
      <dgm:spPr/>
    </dgm:pt>
    <dgm:pt modelId="{77418457-C11E-D147-BE4E-7DB6FFAAC747}" type="pres">
      <dgm:prSet presAssocID="{A87D3A7A-A165-408A-BAA7-6D6845026840}" presName="parTx" presStyleLbl="alignNode1" presStyleIdx="2" presStyleCnt="3">
        <dgm:presLayoutVars>
          <dgm:chMax val="0"/>
          <dgm:chPref val="0"/>
          <dgm:bulletEnabled val="1"/>
        </dgm:presLayoutVars>
      </dgm:prSet>
      <dgm:spPr/>
    </dgm:pt>
    <dgm:pt modelId="{AA269079-1446-2C4A-8436-AC3328CFB8B0}" type="pres">
      <dgm:prSet presAssocID="{A87D3A7A-A165-408A-BAA7-6D6845026840}" presName="desTx" presStyleLbl="alignAccFollowNode1" presStyleIdx="2" presStyleCnt="3">
        <dgm:presLayoutVars>
          <dgm:bulletEnabled val="1"/>
        </dgm:presLayoutVars>
      </dgm:prSet>
      <dgm:spPr/>
    </dgm:pt>
  </dgm:ptLst>
  <dgm:cxnLst>
    <dgm:cxn modelId="{6F040316-1C19-CF43-A030-1010C8270195}" srcId="{A87D3A7A-A165-408A-BAA7-6D6845026840}" destId="{596C4876-176E-2045-82D6-E6800BB2EAF7}" srcOrd="1" destOrd="0" parTransId="{ADF18A88-66C9-6842-A947-ED3888C80513}" sibTransId="{4A2BFF62-325B-5948-81FD-195E456FB8BB}"/>
    <dgm:cxn modelId="{3640E418-45FD-4822-9F79-CEB02F2BCA21}" srcId="{A87D3A7A-A165-408A-BAA7-6D6845026840}" destId="{AFE0B35C-74CB-42C8-B01D-43A66B0BD878}" srcOrd="0" destOrd="0" parTransId="{FC3B84E8-4446-4DCA-8B18-ECAD4CD25988}" sibTransId="{4F858289-A39D-428A-905E-CACE6BA882C7}"/>
    <dgm:cxn modelId="{57231F25-DA51-9643-9F25-BE3826E9177F}" type="presOf" srcId="{596C4876-176E-2045-82D6-E6800BB2EAF7}" destId="{AA269079-1446-2C4A-8436-AC3328CFB8B0}" srcOrd="0" destOrd="1" presId="urn:microsoft.com/office/officeart/2005/8/layout/hList1"/>
    <dgm:cxn modelId="{B2AB1C26-2F7D-FF4E-92A5-36608FC5C517}" type="presOf" srcId="{0F579ECD-5D93-404C-B947-1EE02584B6D9}" destId="{DF4AF440-7943-7E40-9E8E-E3F44745BB9E}" srcOrd="0" destOrd="0" presId="urn:microsoft.com/office/officeart/2005/8/layout/hList1"/>
    <dgm:cxn modelId="{84BE6D28-8384-4648-AEA2-C50F013CF5CE}" type="presOf" srcId="{6EE89826-B2BD-4DC0-92BF-6B97FDECF695}" destId="{2A0B8030-78B6-1549-A0BE-676FF6AE4891}" srcOrd="0" destOrd="0" presId="urn:microsoft.com/office/officeart/2005/8/layout/hList1"/>
    <dgm:cxn modelId="{82C7993C-9906-4EC7-8BA2-15452ACAF2DF}" srcId="{993174EA-068D-4544-A9E1-FFC376E19340}" destId="{A87D3A7A-A165-408A-BAA7-6D6845026840}" srcOrd="2" destOrd="0" parTransId="{DEC0F61E-B5FF-4794-9296-C87CED85BFDE}" sibTransId="{9CD97CD5-E0B9-41A0-A6E6-1FC24F07201C}"/>
    <dgm:cxn modelId="{8152535A-8613-AE4A-8489-E46B293F2653}" type="presOf" srcId="{AFE0B35C-74CB-42C8-B01D-43A66B0BD878}" destId="{AA269079-1446-2C4A-8436-AC3328CFB8B0}" srcOrd="0" destOrd="0" presId="urn:microsoft.com/office/officeart/2005/8/layout/hList1"/>
    <dgm:cxn modelId="{97D3326B-D4DA-4930-A0E0-0AC0BF75942C}" srcId="{AA230A55-7EE0-4061-A4C5-79845BD0A107}" destId="{6EE89826-B2BD-4DC0-92BF-6B97FDECF695}" srcOrd="0" destOrd="0" parTransId="{DB4A198A-AA0B-40D1-BC53-36A895C26A22}" sibTransId="{92DD6DC6-FC90-4E3E-BCCA-E4565B691EBA}"/>
    <dgm:cxn modelId="{FC4E0875-8562-4EBF-BC97-87DBFEEAE1C4}" srcId="{993174EA-068D-4544-A9E1-FFC376E19340}" destId="{0F579ECD-5D93-404C-B947-1EE02584B6D9}" srcOrd="1" destOrd="0" parTransId="{D4DBFC35-7041-4B40-96CE-9C471B894236}" sibTransId="{D1E6F127-8127-4C93-AB02-12BCBBDFFE27}"/>
    <dgm:cxn modelId="{AF915679-1AB0-4BBE-9380-76CB5067CB54}" srcId="{993174EA-068D-4544-A9E1-FFC376E19340}" destId="{AA230A55-7EE0-4061-A4C5-79845BD0A107}" srcOrd="0" destOrd="0" parTransId="{F34633BE-C287-4975-BC7B-7023B01BB154}" sibTransId="{29E45E3E-64DB-4205-A911-601D20FE812D}"/>
    <dgm:cxn modelId="{82295A7A-8183-1640-ABCD-DA108D06BE97}" srcId="{AA230A55-7EE0-4061-A4C5-79845BD0A107}" destId="{4D9C0981-6A9E-C04F-90B8-2D26A85AA267}" srcOrd="1" destOrd="0" parTransId="{1FFB83EC-3FAA-4448-9E2B-A7E052FE59B9}" sibTransId="{7AC67538-7031-AE4F-A27C-AB8DA9B07CBD}"/>
    <dgm:cxn modelId="{0A8BC8B0-20C7-A743-A5A8-E94708FC11EA}" type="presOf" srcId="{AA230A55-7EE0-4061-A4C5-79845BD0A107}" destId="{24909356-B7B4-8943-8328-F91032F8C191}" srcOrd="0" destOrd="0" presId="urn:microsoft.com/office/officeart/2005/8/layout/hList1"/>
    <dgm:cxn modelId="{30F2C4BD-BFE5-D04A-B604-0B4CD0E60C65}" type="presOf" srcId="{A87D3A7A-A165-408A-BAA7-6D6845026840}" destId="{77418457-C11E-D147-BE4E-7DB6FFAAC747}" srcOrd="0" destOrd="0" presId="urn:microsoft.com/office/officeart/2005/8/layout/hList1"/>
    <dgm:cxn modelId="{96DF24C8-F626-D743-BF56-F93A0E73B775}" type="presOf" srcId="{4D9C0981-6A9E-C04F-90B8-2D26A85AA267}" destId="{2A0B8030-78B6-1549-A0BE-676FF6AE4891}" srcOrd="0" destOrd="1" presId="urn:microsoft.com/office/officeart/2005/8/layout/hList1"/>
    <dgm:cxn modelId="{76B3E7E2-7DBC-914E-8772-F99A2644EF03}" type="presOf" srcId="{993174EA-068D-4544-A9E1-FFC376E19340}" destId="{62EC30FC-AE60-3E40-903B-AA74FF6944D0}" srcOrd="0" destOrd="0" presId="urn:microsoft.com/office/officeart/2005/8/layout/hList1"/>
    <dgm:cxn modelId="{CD9935E6-D2A1-7F42-9C16-0321155A0333}" type="presOf" srcId="{FD834D3A-DA35-4A8D-8FDC-9224D039379F}" destId="{5A0A3F22-C448-394F-A79C-B21B043F0D44}" srcOrd="0" destOrd="0" presId="urn:microsoft.com/office/officeart/2005/8/layout/hList1"/>
    <dgm:cxn modelId="{7112B2F0-803B-435D-A765-B2D88714A775}" srcId="{0F579ECD-5D93-404C-B947-1EE02584B6D9}" destId="{FD834D3A-DA35-4A8D-8FDC-9224D039379F}" srcOrd="0" destOrd="0" parTransId="{9BBC7DFC-5158-4F82-B932-10FDA9C70ACA}" sibTransId="{E6920D14-15B3-4D4D-A0D4-809254AC21D0}"/>
    <dgm:cxn modelId="{9B991722-16B0-5345-9984-CB095E4A2196}" type="presParOf" srcId="{62EC30FC-AE60-3E40-903B-AA74FF6944D0}" destId="{93E1496D-F22C-EF48-9F81-649D26E24F2B}" srcOrd="0" destOrd="0" presId="urn:microsoft.com/office/officeart/2005/8/layout/hList1"/>
    <dgm:cxn modelId="{DEB00E8D-B3A7-A54E-A6C0-42AA8DFBE38C}" type="presParOf" srcId="{93E1496D-F22C-EF48-9F81-649D26E24F2B}" destId="{24909356-B7B4-8943-8328-F91032F8C191}" srcOrd="0" destOrd="0" presId="urn:microsoft.com/office/officeart/2005/8/layout/hList1"/>
    <dgm:cxn modelId="{D173703C-5D09-8041-9375-1920107922F1}" type="presParOf" srcId="{93E1496D-F22C-EF48-9F81-649D26E24F2B}" destId="{2A0B8030-78B6-1549-A0BE-676FF6AE4891}" srcOrd="1" destOrd="0" presId="urn:microsoft.com/office/officeart/2005/8/layout/hList1"/>
    <dgm:cxn modelId="{76527EC7-80FE-824F-9C48-283D6BEE0119}" type="presParOf" srcId="{62EC30FC-AE60-3E40-903B-AA74FF6944D0}" destId="{602857BA-08F3-D64D-9940-9A2C222C7A11}" srcOrd="1" destOrd="0" presId="urn:microsoft.com/office/officeart/2005/8/layout/hList1"/>
    <dgm:cxn modelId="{13F16187-692E-B146-AD00-E833DB73B223}" type="presParOf" srcId="{62EC30FC-AE60-3E40-903B-AA74FF6944D0}" destId="{C114786A-46B0-7A4F-8BC5-D30DC2921A6E}" srcOrd="2" destOrd="0" presId="urn:microsoft.com/office/officeart/2005/8/layout/hList1"/>
    <dgm:cxn modelId="{BDA9A21E-303E-D14F-BD0C-59EB53A89926}" type="presParOf" srcId="{C114786A-46B0-7A4F-8BC5-D30DC2921A6E}" destId="{DF4AF440-7943-7E40-9E8E-E3F44745BB9E}" srcOrd="0" destOrd="0" presId="urn:microsoft.com/office/officeart/2005/8/layout/hList1"/>
    <dgm:cxn modelId="{45D4B902-E4D8-CF48-B8C0-D9C9676CBBBE}" type="presParOf" srcId="{C114786A-46B0-7A4F-8BC5-D30DC2921A6E}" destId="{5A0A3F22-C448-394F-A79C-B21B043F0D44}" srcOrd="1" destOrd="0" presId="urn:microsoft.com/office/officeart/2005/8/layout/hList1"/>
    <dgm:cxn modelId="{754C423F-C9F0-B64B-A872-28D89E4F71C3}" type="presParOf" srcId="{62EC30FC-AE60-3E40-903B-AA74FF6944D0}" destId="{ABC782F9-3D06-BA46-B716-FBF4183A27AB}" srcOrd="3" destOrd="0" presId="urn:microsoft.com/office/officeart/2005/8/layout/hList1"/>
    <dgm:cxn modelId="{079A35C9-F5B0-9443-A635-725FD6339C6D}" type="presParOf" srcId="{62EC30FC-AE60-3E40-903B-AA74FF6944D0}" destId="{49AB5F8F-064E-AF41-BD86-A3F4D2933364}" srcOrd="4" destOrd="0" presId="urn:microsoft.com/office/officeart/2005/8/layout/hList1"/>
    <dgm:cxn modelId="{E49209CD-7F51-4B46-83E3-0D556B0D6723}" type="presParOf" srcId="{49AB5F8F-064E-AF41-BD86-A3F4D2933364}" destId="{77418457-C11E-D147-BE4E-7DB6FFAAC747}" srcOrd="0" destOrd="0" presId="urn:microsoft.com/office/officeart/2005/8/layout/hList1"/>
    <dgm:cxn modelId="{A1B438B7-4297-F947-AD15-A17B820ABBB3}" type="presParOf" srcId="{49AB5F8F-064E-AF41-BD86-A3F4D2933364}" destId="{AA269079-1446-2C4A-8436-AC3328CFB8B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19D686-4ECE-4B9D-B587-395B16D01068}"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9C34F818-5281-4189-8C11-3D0824BA2BA8}">
      <dgm:prSet/>
      <dgm:spPr/>
      <dgm:t>
        <a:bodyPr/>
        <a:lstStyle/>
        <a:p>
          <a:r>
            <a:rPr lang="en-US" b="1" dirty="0">
              <a:latin typeface="Century Gothic" panose="020B0502020202020204" pitchFamily="34" charset="0"/>
            </a:rPr>
            <a:t>General Problem</a:t>
          </a:r>
          <a:r>
            <a:rPr lang="en-US" dirty="0">
              <a:latin typeface="Century Gothic" panose="020B0502020202020204" pitchFamily="34" charset="0"/>
            </a:rPr>
            <a:t>: </a:t>
          </a:r>
        </a:p>
        <a:p>
          <a:r>
            <a:rPr lang="en-US" dirty="0">
              <a:latin typeface="Century Gothic" panose="020B0502020202020204" pitchFamily="34" charset="0"/>
            </a:rPr>
            <a:t>The lack of cybersecurity education and awareness in SMEs heightens vulnerability to cyberattacks capable of disrupting operations and compromising sensitive data.</a:t>
          </a:r>
        </a:p>
      </dgm:t>
    </dgm:pt>
    <dgm:pt modelId="{4CFC445C-7BCE-4F75-A1E9-039DC58E30C7}" type="parTrans" cxnId="{8E06C0DC-6516-498F-802D-F1F5653C4727}">
      <dgm:prSet/>
      <dgm:spPr/>
      <dgm:t>
        <a:bodyPr/>
        <a:lstStyle/>
        <a:p>
          <a:endParaRPr lang="en-US"/>
        </a:p>
      </dgm:t>
    </dgm:pt>
    <dgm:pt modelId="{E2B4CB14-47B4-4E6B-B803-AB6200C92623}" type="sibTrans" cxnId="{8E06C0DC-6516-498F-802D-F1F5653C4727}">
      <dgm:prSet/>
      <dgm:spPr/>
      <dgm:t>
        <a:bodyPr/>
        <a:lstStyle/>
        <a:p>
          <a:endParaRPr lang="en-US"/>
        </a:p>
      </dgm:t>
    </dgm:pt>
    <dgm:pt modelId="{8ACBF011-9905-4681-AE69-9D77553F6CA1}">
      <dgm:prSet/>
      <dgm:spPr/>
      <dgm:t>
        <a:bodyPr/>
        <a:lstStyle/>
        <a:p>
          <a:r>
            <a:rPr lang="en-US" b="1" dirty="0">
              <a:latin typeface="Century Gothic" panose="020B0502020202020204" pitchFamily="34" charset="0"/>
            </a:rPr>
            <a:t>Specific Problem</a:t>
          </a:r>
          <a:r>
            <a:rPr lang="en-US" dirty="0">
              <a:latin typeface="Century Gothic" panose="020B0502020202020204" pitchFamily="34" charset="0"/>
            </a:rPr>
            <a:t>:</a:t>
          </a:r>
        </a:p>
        <a:p>
          <a:r>
            <a:rPr lang="en-US" dirty="0">
              <a:latin typeface="Century Gothic" panose="020B0502020202020204" pitchFamily="34" charset="0"/>
            </a:rPr>
            <a:t>Lack of education and awareness on data security at </a:t>
          </a:r>
          <a:r>
            <a:rPr lang="en-US" b="1" i="1" dirty="0">
              <a:latin typeface="Century Gothic" panose="020B0502020202020204" pitchFamily="34" charset="0"/>
            </a:rPr>
            <a:t>K2 Partnering Solutions </a:t>
          </a:r>
          <a:r>
            <a:rPr lang="en-US" dirty="0">
              <a:latin typeface="Century Gothic" panose="020B0502020202020204" pitchFamily="34" charset="0"/>
            </a:rPr>
            <a:t>creating vulnerabilities to cyberattacks, risking sensitive information and potentially disrupting operations.</a:t>
          </a:r>
        </a:p>
      </dgm:t>
    </dgm:pt>
    <dgm:pt modelId="{C8D8F6E6-5EBF-4C07-8070-5FA21ABC2043}" type="parTrans" cxnId="{AF33936C-47AD-4EF4-9CC8-16C6A6098499}">
      <dgm:prSet/>
      <dgm:spPr/>
      <dgm:t>
        <a:bodyPr/>
        <a:lstStyle/>
        <a:p>
          <a:endParaRPr lang="en-US"/>
        </a:p>
      </dgm:t>
    </dgm:pt>
    <dgm:pt modelId="{FCA3728E-402C-46A7-82C2-98537B7202F3}" type="sibTrans" cxnId="{AF33936C-47AD-4EF4-9CC8-16C6A6098499}">
      <dgm:prSet/>
      <dgm:spPr/>
      <dgm:t>
        <a:bodyPr/>
        <a:lstStyle/>
        <a:p>
          <a:endParaRPr lang="en-US"/>
        </a:p>
      </dgm:t>
    </dgm:pt>
    <dgm:pt modelId="{E889A650-0455-9F40-98A2-C5BC46E9D480}" type="pres">
      <dgm:prSet presAssocID="{5919D686-4ECE-4B9D-B587-395B16D01068}" presName="vert0" presStyleCnt="0">
        <dgm:presLayoutVars>
          <dgm:dir/>
          <dgm:animOne val="branch"/>
          <dgm:animLvl val="lvl"/>
        </dgm:presLayoutVars>
      </dgm:prSet>
      <dgm:spPr/>
    </dgm:pt>
    <dgm:pt modelId="{52558705-F47C-8649-8285-AA4A61801C79}" type="pres">
      <dgm:prSet presAssocID="{9C34F818-5281-4189-8C11-3D0824BA2BA8}" presName="thickLine" presStyleLbl="alignNode1" presStyleIdx="0" presStyleCnt="2"/>
      <dgm:spPr/>
    </dgm:pt>
    <dgm:pt modelId="{EEEF9630-2434-9949-B200-43FD3A09B2F8}" type="pres">
      <dgm:prSet presAssocID="{9C34F818-5281-4189-8C11-3D0824BA2BA8}" presName="horz1" presStyleCnt="0"/>
      <dgm:spPr/>
    </dgm:pt>
    <dgm:pt modelId="{AC41CFDA-89FB-A84B-BD2B-3E888B84DF7D}" type="pres">
      <dgm:prSet presAssocID="{9C34F818-5281-4189-8C11-3D0824BA2BA8}" presName="tx1" presStyleLbl="revTx" presStyleIdx="0" presStyleCnt="2"/>
      <dgm:spPr/>
    </dgm:pt>
    <dgm:pt modelId="{B9216702-7227-3942-A577-3C8986851F11}" type="pres">
      <dgm:prSet presAssocID="{9C34F818-5281-4189-8C11-3D0824BA2BA8}" presName="vert1" presStyleCnt="0"/>
      <dgm:spPr/>
    </dgm:pt>
    <dgm:pt modelId="{CD0B4176-C060-3640-9131-A6BCCC8E9CD4}" type="pres">
      <dgm:prSet presAssocID="{8ACBF011-9905-4681-AE69-9D77553F6CA1}" presName="thickLine" presStyleLbl="alignNode1" presStyleIdx="1" presStyleCnt="2"/>
      <dgm:spPr/>
    </dgm:pt>
    <dgm:pt modelId="{3CCFC569-28A8-9543-B324-07F1F7CB1F02}" type="pres">
      <dgm:prSet presAssocID="{8ACBF011-9905-4681-AE69-9D77553F6CA1}" presName="horz1" presStyleCnt="0"/>
      <dgm:spPr/>
    </dgm:pt>
    <dgm:pt modelId="{E5DA0EF5-0D80-624D-A9D6-21BDC23215AA}" type="pres">
      <dgm:prSet presAssocID="{8ACBF011-9905-4681-AE69-9D77553F6CA1}" presName="tx1" presStyleLbl="revTx" presStyleIdx="1" presStyleCnt="2"/>
      <dgm:spPr/>
    </dgm:pt>
    <dgm:pt modelId="{7122DDB9-0265-3F49-BF3A-585B9E4D4A06}" type="pres">
      <dgm:prSet presAssocID="{8ACBF011-9905-4681-AE69-9D77553F6CA1}" presName="vert1" presStyleCnt="0"/>
      <dgm:spPr/>
    </dgm:pt>
  </dgm:ptLst>
  <dgm:cxnLst>
    <dgm:cxn modelId="{12F96668-7184-6449-A67E-3A5A6BFBB860}" type="presOf" srcId="{5919D686-4ECE-4B9D-B587-395B16D01068}" destId="{E889A650-0455-9F40-98A2-C5BC46E9D480}" srcOrd="0" destOrd="0" presId="urn:microsoft.com/office/officeart/2008/layout/LinedList"/>
    <dgm:cxn modelId="{AF33936C-47AD-4EF4-9CC8-16C6A6098499}" srcId="{5919D686-4ECE-4B9D-B587-395B16D01068}" destId="{8ACBF011-9905-4681-AE69-9D77553F6CA1}" srcOrd="1" destOrd="0" parTransId="{C8D8F6E6-5EBF-4C07-8070-5FA21ABC2043}" sibTransId="{FCA3728E-402C-46A7-82C2-98537B7202F3}"/>
    <dgm:cxn modelId="{8C76C98B-97F5-5445-8022-645AA83E0E8D}" type="presOf" srcId="{8ACBF011-9905-4681-AE69-9D77553F6CA1}" destId="{E5DA0EF5-0D80-624D-A9D6-21BDC23215AA}" srcOrd="0" destOrd="0" presId="urn:microsoft.com/office/officeart/2008/layout/LinedList"/>
    <dgm:cxn modelId="{DCA44A96-3F4E-8B42-9B48-0CBCC8C05AC3}" type="presOf" srcId="{9C34F818-5281-4189-8C11-3D0824BA2BA8}" destId="{AC41CFDA-89FB-A84B-BD2B-3E888B84DF7D}" srcOrd="0" destOrd="0" presId="urn:microsoft.com/office/officeart/2008/layout/LinedList"/>
    <dgm:cxn modelId="{8E06C0DC-6516-498F-802D-F1F5653C4727}" srcId="{5919D686-4ECE-4B9D-B587-395B16D01068}" destId="{9C34F818-5281-4189-8C11-3D0824BA2BA8}" srcOrd="0" destOrd="0" parTransId="{4CFC445C-7BCE-4F75-A1E9-039DC58E30C7}" sibTransId="{E2B4CB14-47B4-4E6B-B803-AB6200C92623}"/>
    <dgm:cxn modelId="{AEBCCF3F-9039-0641-AAF9-C9D13A6947F4}" type="presParOf" srcId="{E889A650-0455-9F40-98A2-C5BC46E9D480}" destId="{52558705-F47C-8649-8285-AA4A61801C79}" srcOrd="0" destOrd="0" presId="urn:microsoft.com/office/officeart/2008/layout/LinedList"/>
    <dgm:cxn modelId="{EC6E5314-51B7-9D46-94CD-8C3387C5DC3D}" type="presParOf" srcId="{E889A650-0455-9F40-98A2-C5BC46E9D480}" destId="{EEEF9630-2434-9949-B200-43FD3A09B2F8}" srcOrd="1" destOrd="0" presId="urn:microsoft.com/office/officeart/2008/layout/LinedList"/>
    <dgm:cxn modelId="{88147D2C-3DE1-7741-873A-EAB7F8B5CA88}" type="presParOf" srcId="{EEEF9630-2434-9949-B200-43FD3A09B2F8}" destId="{AC41CFDA-89FB-A84B-BD2B-3E888B84DF7D}" srcOrd="0" destOrd="0" presId="urn:microsoft.com/office/officeart/2008/layout/LinedList"/>
    <dgm:cxn modelId="{0327A59A-6B51-FC42-B643-5A215237FD50}" type="presParOf" srcId="{EEEF9630-2434-9949-B200-43FD3A09B2F8}" destId="{B9216702-7227-3942-A577-3C8986851F11}" srcOrd="1" destOrd="0" presId="urn:microsoft.com/office/officeart/2008/layout/LinedList"/>
    <dgm:cxn modelId="{7E18C4FD-AA7F-BA44-99AE-1B80171F35E1}" type="presParOf" srcId="{E889A650-0455-9F40-98A2-C5BC46E9D480}" destId="{CD0B4176-C060-3640-9131-A6BCCC8E9CD4}" srcOrd="2" destOrd="0" presId="urn:microsoft.com/office/officeart/2008/layout/LinedList"/>
    <dgm:cxn modelId="{CC3F70FA-CF96-0C4A-94BC-2FB31F93A9C0}" type="presParOf" srcId="{E889A650-0455-9F40-98A2-C5BC46E9D480}" destId="{3CCFC569-28A8-9543-B324-07F1F7CB1F02}" srcOrd="3" destOrd="0" presId="urn:microsoft.com/office/officeart/2008/layout/LinedList"/>
    <dgm:cxn modelId="{BC01CEC2-7A38-DA44-A579-C40A3F99452F}" type="presParOf" srcId="{3CCFC569-28A8-9543-B324-07F1F7CB1F02}" destId="{E5DA0EF5-0D80-624D-A9D6-21BDC23215AA}" srcOrd="0" destOrd="0" presId="urn:microsoft.com/office/officeart/2008/layout/LinedList"/>
    <dgm:cxn modelId="{2E132AD3-B17E-484E-8284-E710D42080A4}" type="presParOf" srcId="{3CCFC569-28A8-9543-B324-07F1F7CB1F02}" destId="{7122DDB9-0265-3F49-BF3A-585B9E4D4A0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C97D187-905C-49C9-96E4-CAF3E857E79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9AD5DEE-42C1-45B9-9309-9B775F36E5E4}">
      <dgm:prSet custT="1"/>
      <dgm:spPr/>
      <dgm:t>
        <a:bodyPr/>
        <a:lstStyle/>
        <a:p>
          <a:r>
            <a:rPr lang="en-US" sz="2000" dirty="0">
              <a:solidFill>
                <a:schemeClr val="tx1"/>
              </a:solidFill>
              <a:latin typeface="Century Gothic" panose="020B0502020202020204" pitchFamily="34" charset="0"/>
            </a:rPr>
            <a:t>• Explore how cybersecurity awareness and training impact sustainable business performance at K2.</a:t>
          </a:r>
          <a:endParaRPr lang="en-US" sz="2000" dirty="0">
            <a:latin typeface="Century Gothic" panose="020B0502020202020204" pitchFamily="34" charset="0"/>
          </a:endParaRPr>
        </a:p>
      </dgm:t>
    </dgm:pt>
    <dgm:pt modelId="{7258A61C-3DDD-4DC1-8A49-109611783701}" type="parTrans" cxnId="{E05363AA-8CFE-46C4-8423-3484E50728EE}">
      <dgm:prSet/>
      <dgm:spPr/>
      <dgm:t>
        <a:bodyPr/>
        <a:lstStyle/>
        <a:p>
          <a:endParaRPr lang="en-US"/>
        </a:p>
      </dgm:t>
    </dgm:pt>
    <dgm:pt modelId="{64E9ACA9-C898-4C68-BA61-1DCD86B4A78C}" type="sibTrans" cxnId="{E05363AA-8CFE-46C4-8423-3484E50728EE}">
      <dgm:prSet/>
      <dgm:spPr/>
      <dgm:t>
        <a:bodyPr/>
        <a:lstStyle/>
        <a:p>
          <a:endParaRPr lang="en-US"/>
        </a:p>
      </dgm:t>
    </dgm:pt>
    <dgm:pt modelId="{C73AB931-C40F-427B-AA25-837F15337048}">
      <dgm:prSet/>
      <dgm:spPr/>
      <dgm:t>
        <a:bodyPr/>
        <a:lstStyle/>
        <a:p>
          <a:r>
            <a:rPr lang="en-US" dirty="0">
              <a:solidFill>
                <a:schemeClr val="tx1"/>
              </a:solidFill>
              <a:latin typeface="Century Gothic" panose="020B0502020202020204" pitchFamily="34" charset="0"/>
            </a:rPr>
            <a:t>• Examine the relationship between management and employee awareness of cybersecurity issues and the effectiveness of current training programs.</a:t>
          </a:r>
        </a:p>
      </dgm:t>
    </dgm:pt>
    <dgm:pt modelId="{575F1787-353A-4845-8D86-024D4EEF8B1E}" type="parTrans" cxnId="{3939ADD6-25F5-4654-B645-DF918E09089B}">
      <dgm:prSet/>
      <dgm:spPr/>
      <dgm:t>
        <a:bodyPr/>
        <a:lstStyle/>
        <a:p>
          <a:endParaRPr lang="en-US"/>
        </a:p>
      </dgm:t>
    </dgm:pt>
    <dgm:pt modelId="{F285E97D-4740-452C-B638-F49CB0E5CD14}" type="sibTrans" cxnId="{3939ADD6-25F5-4654-B645-DF918E09089B}">
      <dgm:prSet/>
      <dgm:spPr/>
      <dgm:t>
        <a:bodyPr/>
        <a:lstStyle/>
        <a:p>
          <a:endParaRPr lang="en-US"/>
        </a:p>
      </dgm:t>
    </dgm:pt>
    <dgm:pt modelId="{F85A7ED4-6CCB-4A14-8C8F-9D33E27C18F5}">
      <dgm:prSet/>
      <dgm:spPr/>
      <dgm:t>
        <a:bodyPr/>
        <a:lstStyle/>
        <a:p>
          <a:r>
            <a:rPr lang="en-US" dirty="0">
              <a:solidFill>
                <a:schemeClr val="tx1"/>
              </a:solidFill>
              <a:latin typeface="Century Gothic" panose="020B0502020202020204" pitchFamily="34" charset="0"/>
            </a:rPr>
            <a:t>• Identify how awareness and training initiatives contribute to the company's long-term success and resilience in a digital marketplace.</a:t>
          </a:r>
        </a:p>
      </dgm:t>
    </dgm:pt>
    <dgm:pt modelId="{43A71F74-FCB0-41B1-B841-C8A7DC608409}" type="parTrans" cxnId="{BCCBC64E-A078-461A-A9C0-488C272E3640}">
      <dgm:prSet/>
      <dgm:spPr/>
      <dgm:t>
        <a:bodyPr/>
        <a:lstStyle/>
        <a:p>
          <a:endParaRPr lang="en-US"/>
        </a:p>
      </dgm:t>
    </dgm:pt>
    <dgm:pt modelId="{725E1323-338E-4FFA-B5D5-3F42461F252A}" type="sibTrans" cxnId="{BCCBC64E-A078-461A-A9C0-488C272E3640}">
      <dgm:prSet/>
      <dgm:spPr/>
      <dgm:t>
        <a:bodyPr/>
        <a:lstStyle/>
        <a:p>
          <a:endParaRPr lang="en-US"/>
        </a:p>
      </dgm:t>
    </dgm:pt>
    <dgm:pt modelId="{754C3AE6-ED92-4E75-86B0-986C4517CB3F}">
      <dgm:prSet/>
      <dgm:spPr/>
      <dgm:t>
        <a:bodyPr/>
        <a:lstStyle/>
        <a:p>
          <a:r>
            <a:rPr lang="en-US" dirty="0">
              <a:solidFill>
                <a:schemeClr val="tx1"/>
              </a:solidFill>
              <a:latin typeface="Century Gothic" panose="020B0502020202020204" pitchFamily="34" charset="0"/>
            </a:rPr>
            <a:t>• Provide insights for strengthening cybersecurity culture to support sustainable business operations.</a:t>
          </a:r>
        </a:p>
      </dgm:t>
    </dgm:pt>
    <dgm:pt modelId="{9B4484F7-154A-4F29-A1AC-11C219D7FE89}" type="parTrans" cxnId="{A8A2F085-1BEC-4180-B2EB-45B6D961BC9D}">
      <dgm:prSet/>
      <dgm:spPr/>
      <dgm:t>
        <a:bodyPr/>
        <a:lstStyle/>
        <a:p>
          <a:endParaRPr lang="en-US"/>
        </a:p>
      </dgm:t>
    </dgm:pt>
    <dgm:pt modelId="{829F63BA-4BB7-46F1-8DAB-D5F25404A1A6}" type="sibTrans" cxnId="{A8A2F085-1BEC-4180-B2EB-45B6D961BC9D}">
      <dgm:prSet/>
      <dgm:spPr/>
      <dgm:t>
        <a:bodyPr/>
        <a:lstStyle/>
        <a:p>
          <a:endParaRPr lang="en-US"/>
        </a:p>
      </dgm:t>
    </dgm:pt>
    <dgm:pt modelId="{16E83AC2-CC69-4DD1-8CDD-21B5CC143249}" type="pres">
      <dgm:prSet presAssocID="{6C97D187-905C-49C9-96E4-CAF3E857E795}" presName="root" presStyleCnt="0">
        <dgm:presLayoutVars>
          <dgm:dir/>
          <dgm:resizeHandles val="exact"/>
        </dgm:presLayoutVars>
      </dgm:prSet>
      <dgm:spPr/>
    </dgm:pt>
    <dgm:pt modelId="{696501F1-7A42-4254-8F71-96825EC543B2}" type="pres">
      <dgm:prSet presAssocID="{99AD5DEE-42C1-45B9-9309-9B775F36E5E4}" presName="compNode" presStyleCnt="0"/>
      <dgm:spPr/>
    </dgm:pt>
    <dgm:pt modelId="{D1F36526-786F-4859-9DB9-39257A79AB27}" type="pres">
      <dgm:prSet presAssocID="{99AD5DEE-42C1-45B9-9309-9B775F36E5E4}" presName="bgRect" presStyleLbl="bgShp" presStyleIdx="0" presStyleCnt="4"/>
      <dgm:spPr/>
    </dgm:pt>
    <dgm:pt modelId="{544793AD-28D4-46AB-8B0F-9A478340E82C}" type="pres">
      <dgm:prSet presAssocID="{99AD5DEE-42C1-45B9-9309-9B775F36E5E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42814603-1DC9-48C6-98E2-A103E57C91DF}" type="pres">
      <dgm:prSet presAssocID="{99AD5DEE-42C1-45B9-9309-9B775F36E5E4}" presName="spaceRect" presStyleCnt="0"/>
      <dgm:spPr/>
    </dgm:pt>
    <dgm:pt modelId="{CBC68273-339C-4762-ACC5-F30CCFF9DAE1}" type="pres">
      <dgm:prSet presAssocID="{99AD5DEE-42C1-45B9-9309-9B775F36E5E4}" presName="parTx" presStyleLbl="revTx" presStyleIdx="0" presStyleCnt="4">
        <dgm:presLayoutVars>
          <dgm:chMax val="0"/>
          <dgm:chPref val="0"/>
        </dgm:presLayoutVars>
      </dgm:prSet>
      <dgm:spPr/>
    </dgm:pt>
    <dgm:pt modelId="{4442242E-D284-4BD5-A462-BE7183CE1DF9}" type="pres">
      <dgm:prSet presAssocID="{64E9ACA9-C898-4C68-BA61-1DCD86B4A78C}" presName="sibTrans" presStyleCnt="0"/>
      <dgm:spPr/>
    </dgm:pt>
    <dgm:pt modelId="{E0B929FD-AE63-47D1-811D-05B347D4D92D}" type="pres">
      <dgm:prSet presAssocID="{C73AB931-C40F-427B-AA25-837F15337048}" presName="compNode" presStyleCnt="0"/>
      <dgm:spPr/>
    </dgm:pt>
    <dgm:pt modelId="{758A727C-1DBA-45D9-B890-6AA05A5A86B2}" type="pres">
      <dgm:prSet presAssocID="{C73AB931-C40F-427B-AA25-837F15337048}" presName="bgRect" presStyleLbl="bgShp" presStyleIdx="1" presStyleCnt="4"/>
      <dgm:spPr/>
    </dgm:pt>
    <dgm:pt modelId="{8B1F07BC-0943-4E8D-9D0D-DCC5C469B1D5}" type="pres">
      <dgm:prSet presAssocID="{C73AB931-C40F-427B-AA25-837F1533704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48C92227-FE69-4DD8-8BD4-D48AEFAB6268}" type="pres">
      <dgm:prSet presAssocID="{C73AB931-C40F-427B-AA25-837F15337048}" presName="spaceRect" presStyleCnt="0"/>
      <dgm:spPr/>
    </dgm:pt>
    <dgm:pt modelId="{D6ABDE1A-59E7-406F-8946-D2B4BB44BA00}" type="pres">
      <dgm:prSet presAssocID="{C73AB931-C40F-427B-AA25-837F15337048}" presName="parTx" presStyleLbl="revTx" presStyleIdx="1" presStyleCnt="4">
        <dgm:presLayoutVars>
          <dgm:chMax val="0"/>
          <dgm:chPref val="0"/>
        </dgm:presLayoutVars>
      </dgm:prSet>
      <dgm:spPr/>
    </dgm:pt>
    <dgm:pt modelId="{983D2DC0-F4B0-48C1-BA21-296A6782C940}" type="pres">
      <dgm:prSet presAssocID="{F285E97D-4740-452C-B638-F49CB0E5CD14}" presName="sibTrans" presStyleCnt="0"/>
      <dgm:spPr/>
    </dgm:pt>
    <dgm:pt modelId="{D832DC48-57A7-482F-BF42-6C997F04BEF2}" type="pres">
      <dgm:prSet presAssocID="{F85A7ED4-6CCB-4A14-8C8F-9D33E27C18F5}" presName="compNode" presStyleCnt="0"/>
      <dgm:spPr/>
    </dgm:pt>
    <dgm:pt modelId="{46C2960C-924C-43B2-A745-3A51ED917868}" type="pres">
      <dgm:prSet presAssocID="{F85A7ED4-6CCB-4A14-8C8F-9D33E27C18F5}" presName="bgRect" presStyleLbl="bgShp" presStyleIdx="2" presStyleCnt="4"/>
      <dgm:spPr/>
    </dgm:pt>
    <dgm:pt modelId="{4006E335-4827-42C3-A0A7-FE9C9E0F8358}" type="pres">
      <dgm:prSet presAssocID="{F85A7ED4-6CCB-4A14-8C8F-9D33E27C18F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itcoin"/>
        </a:ext>
      </dgm:extLst>
    </dgm:pt>
    <dgm:pt modelId="{799B2BF3-608C-4BD8-920D-8694ED73B2FC}" type="pres">
      <dgm:prSet presAssocID="{F85A7ED4-6CCB-4A14-8C8F-9D33E27C18F5}" presName="spaceRect" presStyleCnt="0"/>
      <dgm:spPr/>
    </dgm:pt>
    <dgm:pt modelId="{ED79248F-427C-4169-9652-B76E097744EF}" type="pres">
      <dgm:prSet presAssocID="{F85A7ED4-6CCB-4A14-8C8F-9D33E27C18F5}" presName="parTx" presStyleLbl="revTx" presStyleIdx="2" presStyleCnt="4">
        <dgm:presLayoutVars>
          <dgm:chMax val="0"/>
          <dgm:chPref val="0"/>
        </dgm:presLayoutVars>
      </dgm:prSet>
      <dgm:spPr/>
    </dgm:pt>
    <dgm:pt modelId="{E434E044-0A03-465B-ACC1-75AB8C38D003}" type="pres">
      <dgm:prSet presAssocID="{725E1323-338E-4FFA-B5D5-3F42461F252A}" presName="sibTrans" presStyleCnt="0"/>
      <dgm:spPr/>
    </dgm:pt>
    <dgm:pt modelId="{8229C1C7-6A48-4FA9-8F0D-7E2B8A2F11F8}" type="pres">
      <dgm:prSet presAssocID="{754C3AE6-ED92-4E75-86B0-986C4517CB3F}" presName="compNode" presStyleCnt="0"/>
      <dgm:spPr/>
    </dgm:pt>
    <dgm:pt modelId="{F5ECCD30-FD1A-40CF-8D3D-B501B07551EC}" type="pres">
      <dgm:prSet presAssocID="{754C3AE6-ED92-4E75-86B0-986C4517CB3F}" presName="bgRect" presStyleLbl="bgShp" presStyleIdx="3" presStyleCnt="4" custScaleY="75415"/>
      <dgm:spPr/>
    </dgm:pt>
    <dgm:pt modelId="{0E94B5C3-261E-4421-A595-8655303EC857}" type="pres">
      <dgm:prSet presAssocID="{754C3AE6-ED92-4E75-86B0-986C4517CB3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stronaut"/>
        </a:ext>
      </dgm:extLst>
    </dgm:pt>
    <dgm:pt modelId="{05F36C52-C19B-4CB4-A974-5726D6704335}" type="pres">
      <dgm:prSet presAssocID="{754C3AE6-ED92-4E75-86B0-986C4517CB3F}" presName="spaceRect" presStyleCnt="0"/>
      <dgm:spPr/>
    </dgm:pt>
    <dgm:pt modelId="{CA4DCD35-52DD-49CC-BE05-71C0D506D116}" type="pres">
      <dgm:prSet presAssocID="{754C3AE6-ED92-4E75-86B0-986C4517CB3F}" presName="parTx" presStyleLbl="revTx" presStyleIdx="3" presStyleCnt="4">
        <dgm:presLayoutVars>
          <dgm:chMax val="0"/>
          <dgm:chPref val="0"/>
        </dgm:presLayoutVars>
      </dgm:prSet>
      <dgm:spPr/>
    </dgm:pt>
  </dgm:ptLst>
  <dgm:cxnLst>
    <dgm:cxn modelId="{EF62E944-ED03-4CA8-9D0E-5D0FC6DB4CCB}" type="presOf" srcId="{99AD5DEE-42C1-45B9-9309-9B775F36E5E4}" destId="{CBC68273-339C-4762-ACC5-F30CCFF9DAE1}" srcOrd="0" destOrd="0" presId="urn:microsoft.com/office/officeart/2018/2/layout/IconVerticalSolidList"/>
    <dgm:cxn modelId="{BCCBC64E-A078-461A-A9C0-488C272E3640}" srcId="{6C97D187-905C-49C9-96E4-CAF3E857E795}" destId="{F85A7ED4-6CCB-4A14-8C8F-9D33E27C18F5}" srcOrd="2" destOrd="0" parTransId="{43A71F74-FCB0-41B1-B841-C8A7DC608409}" sibTransId="{725E1323-338E-4FFA-B5D5-3F42461F252A}"/>
    <dgm:cxn modelId="{A8A2F085-1BEC-4180-B2EB-45B6D961BC9D}" srcId="{6C97D187-905C-49C9-96E4-CAF3E857E795}" destId="{754C3AE6-ED92-4E75-86B0-986C4517CB3F}" srcOrd="3" destOrd="0" parTransId="{9B4484F7-154A-4F29-A1AC-11C219D7FE89}" sibTransId="{829F63BA-4BB7-46F1-8DAB-D5F25404A1A6}"/>
    <dgm:cxn modelId="{E05363AA-8CFE-46C4-8423-3484E50728EE}" srcId="{6C97D187-905C-49C9-96E4-CAF3E857E795}" destId="{99AD5DEE-42C1-45B9-9309-9B775F36E5E4}" srcOrd="0" destOrd="0" parTransId="{7258A61C-3DDD-4DC1-8A49-109611783701}" sibTransId="{64E9ACA9-C898-4C68-BA61-1DCD86B4A78C}"/>
    <dgm:cxn modelId="{CA6D96CE-8F0B-40B4-8832-071C05BCF61D}" type="presOf" srcId="{754C3AE6-ED92-4E75-86B0-986C4517CB3F}" destId="{CA4DCD35-52DD-49CC-BE05-71C0D506D116}" srcOrd="0" destOrd="0" presId="urn:microsoft.com/office/officeart/2018/2/layout/IconVerticalSolidList"/>
    <dgm:cxn modelId="{3939ADD6-25F5-4654-B645-DF918E09089B}" srcId="{6C97D187-905C-49C9-96E4-CAF3E857E795}" destId="{C73AB931-C40F-427B-AA25-837F15337048}" srcOrd="1" destOrd="0" parTransId="{575F1787-353A-4845-8D86-024D4EEF8B1E}" sibTransId="{F285E97D-4740-452C-B638-F49CB0E5CD14}"/>
    <dgm:cxn modelId="{6B358FFA-32D9-426A-8060-03E04B79CE80}" type="presOf" srcId="{C73AB931-C40F-427B-AA25-837F15337048}" destId="{D6ABDE1A-59E7-406F-8946-D2B4BB44BA00}" srcOrd="0" destOrd="0" presId="urn:microsoft.com/office/officeart/2018/2/layout/IconVerticalSolidList"/>
    <dgm:cxn modelId="{D5E11DFC-54C2-41A9-AD0D-76D0F8DB1080}" type="presOf" srcId="{6C97D187-905C-49C9-96E4-CAF3E857E795}" destId="{16E83AC2-CC69-4DD1-8CDD-21B5CC143249}" srcOrd="0" destOrd="0" presId="urn:microsoft.com/office/officeart/2018/2/layout/IconVerticalSolidList"/>
    <dgm:cxn modelId="{66E4C8FE-D3B5-4635-87AF-CF9EC462680B}" type="presOf" srcId="{F85A7ED4-6CCB-4A14-8C8F-9D33E27C18F5}" destId="{ED79248F-427C-4169-9652-B76E097744EF}" srcOrd="0" destOrd="0" presId="urn:microsoft.com/office/officeart/2018/2/layout/IconVerticalSolidList"/>
    <dgm:cxn modelId="{1659F2E7-4E10-4C37-B29C-073463D09C7D}" type="presParOf" srcId="{16E83AC2-CC69-4DD1-8CDD-21B5CC143249}" destId="{696501F1-7A42-4254-8F71-96825EC543B2}" srcOrd="0" destOrd="0" presId="urn:microsoft.com/office/officeart/2018/2/layout/IconVerticalSolidList"/>
    <dgm:cxn modelId="{A77347A1-12D9-4AB3-89E2-2D039A948718}" type="presParOf" srcId="{696501F1-7A42-4254-8F71-96825EC543B2}" destId="{D1F36526-786F-4859-9DB9-39257A79AB27}" srcOrd="0" destOrd="0" presId="urn:microsoft.com/office/officeart/2018/2/layout/IconVerticalSolidList"/>
    <dgm:cxn modelId="{15CFB4C8-CC96-4E3C-8764-72F3936C8AB6}" type="presParOf" srcId="{696501F1-7A42-4254-8F71-96825EC543B2}" destId="{544793AD-28D4-46AB-8B0F-9A478340E82C}" srcOrd="1" destOrd="0" presId="urn:microsoft.com/office/officeart/2018/2/layout/IconVerticalSolidList"/>
    <dgm:cxn modelId="{0C756ACB-A50F-49C7-833A-05FA2459FD68}" type="presParOf" srcId="{696501F1-7A42-4254-8F71-96825EC543B2}" destId="{42814603-1DC9-48C6-98E2-A103E57C91DF}" srcOrd="2" destOrd="0" presId="urn:microsoft.com/office/officeart/2018/2/layout/IconVerticalSolidList"/>
    <dgm:cxn modelId="{69EB12FC-A6B5-4558-8C57-C80F7AF28CCF}" type="presParOf" srcId="{696501F1-7A42-4254-8F71-96825EC543B2}" destId="{CBC68273-339C-4762-ACC5-F30CCFF9DAE1}" srcOrd="3" destOrd="0" presId="urn:microsoft.com/office/officeart/2018/2/layout/IconVerticalSolidList"/>
    <dgm:cxn modelId="{E86BDBD8-FC13-4DDF-8B00-A635F1F0D2E9}" type="presParOf" srcId="{16E83AC2-CC69-4DD1-8CDD-21B5CC143249}" destId="{4442242E-D284-4BD5-A462-BE7183CE1DF9}" srcOrd="1" destOrd="0" presId="urn:microsoft.com/office/officeart/2018/2/layout/IconVerticalSolidList"/>
    <dgm:cxn modelId="{2634E550-DB9E-4A8C-8DA1-CBBC0ACD96D0}" type="presParOf" srcId="{16E83AC2-CC69-4DD1-8CDD-21B5CC143249}" destId="{E0B929FD-AE63-47D1-811D-05B347D4D92D}" srcOrd="2" destOrd="0" presId="urn:microsoft.com/office/officeart/2018/2/layout/IconVerticalSolidList"/>
    <dgm:cxn modelId="{F5BB4AEF-2F33-4092-9FFB-49451A2ED988}" type="presParOf" srcId="{E0B929FD-AE63-47D1-811D-05B347D4D92D}" destId="{758A727C-1DBA-45D9-B890-6AA05A5A86B2}" srcOrd="0" destOrd="0" presId="urn:microsoft.com/office/officeart/2018/2/layout/IconVerticalSolidList"/>
    <dgm:cxn modelId="{1226C83C-CE55-4B6E-A086-D8C205DCF801}" type="presParOf" srcId="{E0B929FD-AE63-47D1-811D-05B347D4D92D}" destId="{8B1F07BC-0943-4E8D-9D0D-DCC5C469B1D5}" srcOrd="1" destOrd="0" presId="urn:microsoft.com/office/officeart/2018/2/layout/IconVerticalSolidList"/>
    <dgm:cxn modelId="{E8380431-EEC9-44CB-BA01-9A93286CEB46}" type="presParOf" srcId="{E0B929FD-AE63-47D1-811D-05B347D4D92D}" destId="{48C92227-FE69-4DD8-8BD4-D48AEFAB6268}" srcOrd="2" destOrd="0" presId="urn:microsoft.com/office/officeart/2018/2/layout/IconVerticalSolidList"/>
    <dgm:cxn modelId="{6E4DE3E8-ABDA-44F2-9B68-85C657678518}" type="presParOf" srcId="{E0B929FD-AE63-47D1-811D-05B347D4D92D}" destId="{D6ABDE1A-59E7-406F-8946-D2B4BB44BA00}" srcOrd="3" destOrd="0" presId="urn:microsoft.com/office/officeart/2018/2/layout/IconVerticalSolidList"/>
    <dgm:cxn modelId="{2DED0820-488D-427B-8E2E-FEF1406799CB}" type="presParOf" srcId="{16E83AC2-CC69-4DD1-8CDD-21B5CC143249}" destId="{983D2DC0-F4B0-48C1-BA21-296A6782C940}" srcOrd="3" destOrd="0" presId="urn:microsoft.com/office/officeart/2018/2/layout/IconVerticalSolidList"/>
    <dgm:cxn modelId="{882B15F9-35CA-4323-8DBF-9EBF347443D9}" type="presParOf" srcId="{16E83AC2-CC69-4DD1-8CDD-21B5CC143249}" destId="{D832DC48-57A7-482F-BF42-6C997F04BEF2}" srcOrd="4" destOrd="0" presId="urn:microsoft.com/office/officeart/2018/2/layout/IconVerticalSolidList"/>
    <dgm:cxn modelId="{FF9DB390-B93A-4B2B-B768-B8FA31CDA7E2}" type="presParOf" srcId="{D832DC48-57A7-482F-BF42-6C997F04BEF2}" destId="{46C2960C-924C-43B2-A745-3A51ED917868}" srcOrd="0" destOrd="0" presId="urn:microsoft.com/office/officeart/2018/2/layout/IconVerticalSolidList"/>
    <dgm:cxn modelId="{E44AD057-BE83-4929-863C-0AE71EADF427}" type="presParOf" srcId="{D832DC48-57A7-482F-BF42-6C997F04BEF2}" destId="{4006E335-4827-42C3-A0A7-FE9C9E0F8358}" srcOrd="1" destOrd="0" presId="urn:microsoft.com/office/officeart/2018/2/layout/IconVerticalSolidList"/>
    <dgm:cxn modelId="{C8175B5C-4EC9-4219-8ECB-5F36BE1ADBD0}" type="presParOf" srcId="{D832DC48-57A7-482F-BF42-6C997F04BEF2}" destId="{799B2BF3-608C-4BD8-920D-8694ED73B2FC}" srcOrd="2" destOrd="0" presId="urn:microsoft.com/office/officeart/2018/2/layout/IconVerticalSolidList"/>
    <dgm:cxn modelId="{9D91C21A-396A-406E-A09E-A91716F5E68B}" type="presParOf" srcId="{D832DC48-57A7-482F-BF42-6C997F04BEF2}" destId="{ED79248F-427C-4169-9652-B76E097744EF}" srcOrd="3" destOrd="0" presId="urn:microsoft.com/office/officeart/2018/2/layout/IconVerticalSolidList"/>
    <dgm:cxn modelId="{6230F179-622D-4156-B748-3DB1AFE6CB48}" type="presParOf" srcId="{16E83AC2-CC69-4DD1-8CDD-21B5CC143249}" destId="{E434E044-0A03-465B-ACC1-75AB8C38D003}" srcOrd="5" destOrd="0" presId="urn:microsoft.com/office/officeart/2018/2/layout/IconVerticalSolidList"/>
    <dgm:cxn modelId="{B935F442-37DD-4DE4-A7DE-C88F56361DE9}" type="presParOf" srcId="{16E83AC2-CC69-4DD1-8CDD-21B5CC143249}" destId="{8229C1C7-6A48-4FA9-8F0D-7E2B8A2F11F8}" srcOrd="6" destOrd="0" presId="urn:microsoft.com/office/officeart/2018/2/layout/IconVerticalSolidList"/>
    <dgm:cxn modelId="{13CC6FF8-B8E8-4E67-906A-D01A5C853AC2}" type="presParOf" srcId="{8229C1C7-6A48-4FA9-8F0D-7E2B8A2F11F8}" destId="{F5ECCD30-FD1A-40CF-8D3D-B501B07551EC}" srcOrd="0" destOrd="0" presId="urn:microsoft.com/office/officeart/2018/2/layout/IconVerticalSolidList"/>
    <dgm:cxn modelId="{C521A411-468C-4F00-B2FA-63D49769C11C}" type="presParOf" srcId="{8229C1C7-6A48-4FA9-8F0D-7E2B8A2F11F8}" destId="{0E94B5C3-261E-4421-A595-8655303EC857}" srcOrd="1" destOrd="0" presId="urn:microsoft.com/office/officeart/2018/2/layout/IconVerticalSolidList"/>
    <dgm:cxn modelId="{273112FD-ED9A-4D81-8223-B0E52910EAA9}" type="presParOf" srcId="{8229C1C7-6A48-4FA9-8F0D-7E2B8A2F11F8}" destId="{05F36C52-C19B-4CB4-A974-5726D6704335}" srcOrd="2" destOrd="0" presId="urn:microsoft.com/office/officeart/2018/2/layout/IconVerticalSolidList"/>
    <dgm:cxn modelId="{C78B5004-570B-4013-895F-FEFF629CD591}" type="presParOf" srcId="{8229C1C7-6A48-4FA9-8F0D-7E2B8A2F11F8}" destId="{CA4DCD35-52DD-49CC-BE05-71C0D506D11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C044A30-01E4-47BA-8802-2D95A8357027}" type="doc">
      <dgm:prSet loTypeId="urn:microsoft.com/office/officeart/2005/8/layout/vProcess5" loCatId="process" qsTypeId="urn:microsoft.com/office/officeart/2005/8/quickstyle/simple1" qsCatId="simple" csTypeId="urn:microsoft.com/office/officeart/2005/8/colors/accent2_2" csCatId="accent2" phldr="1"/>
      <dgm:spPr/>
      <dgm:t>
        <a:bodyPr/>
        <a:lstStyle/>
        <a:p>
          <a:endParaRPr lang="en-US"/>
        </a:p>
      </dgm:t>
    </dgm:pt>
    <dgm:pt modelId="{3FA22298-76EA-48E7-A164-23EF3B069827}">
      <dgm:prSet/>
      <dgm:spPr/>
      <dgm:t>
        <a:bodyPr/>
        <a:lstStyle/>
        <a:p>
          <a:r>
            <a:rPr lang="en-US" dirty="0">
              <a:solidFill>
                <a:schemeClr val="tx1"/>
              </a:solidFill>
              <a:latin typeface="Century Gothic" panose="020B0502020202020204" pitchFamily="34" charset="0"/>
            </a:rPr>
            <a:t>Addresses a critical gap in SME cybersecurity by advancing tailored, evidence-based awareness strategies.</a:t>
          </a:r>
        </a:p>
      </dgm:t>
    </dgm:pt>
    <dgm:pt modelId="{BDF1339C-D7ED-415B-AB2A-3FD5937ABA3C}" type="parTrans" cxnId="{51797934-DA0E-43BB-808E-139F978602C6}">
      <dgm:prSet/>
      <dgm:spPr/>
      <dgm:t>
        <a:bodyPr/>
        <a:lstStyle/>
        <a:p>
          <a:endParaRPr lang="en-US"/>
        </a:p>
      </dgm:t>
    </dgm:pt>
    <dgm:pt modelId="{6AD2672D-FB46-4D5A-AA0C-97533D50095D}" type="sibTrans" cxnId="{51797934-DA0E-43BB-808E-139F978602C6}">
      <dgm:prSet/>
      <dgm:spPr>
        <a:solidFill>
          <a:srgbClr val="7030A0">
            <a:alpha val="90000"/>
          </a:srgbClr>
        </a:solidFill>
        <a:ln>
          <a:solidFill>
            <a:srgbClr val="7030A0">
              <a:alpha val="90000"/>
            </a:srgbClr>
          </a:solidFill>
        </a:ln>
      </dgm:spPr>
      <dgm:t>
        <a:bodyPr/>
        <a:lstStyle/>
        <a:p>
          <a:endParaRPr lang="en-US"/>
        </a:p>
      </dgm:t>
    </dgm:pt>
    <dgm:pt modelId="{A88EF483-F95A-481B-90C7-7CF129672D83}">
      <dgm:prSet/>
      <dgm:spPr>
        <a:solidFill>
          <a:srgbClr val="FFC000"/>
        </a:solidFill>
      </dgm:spPr>
      <dgm:t>
        <a:bodyPr/>
        <a:lstStyle/>
        <a:p>
          <a:r>
            <a:rPr lang="en-US" dirty="0">
              <a:solidFill>
                <a:schemeClr val="tx1"/>
              </a:solidFill>
              <a:latin typeface="Century Gothic" panose="020B0502020202020204" pitchFamily="34" charset="0"/>
            </a:rPr>
            <a:t>Potential to reduce data breaches, enhance customer trust, and foster a robust security culture.</a:t>
          </a:r>
        </a:p>
      </dgm:t>
    </dgm:pt>
    <dgm:pt modelId="{94F7D64B-74EA-43F4-B855-0DCCB5CCFE89}" type="parTrans" cxnId="{7E83412C-ACF7-4761-9208-C75CC35E5173}">
      <dgm:prSet/>
      <dgm:spPr/>
      <dgm:t>
        <a:bodyPr/>
        <a:lstStyle/>
        <a:p>
          <a:endParaRPr lang="en-US"/>
        </a:p>
      </dgm:t>
    </dgm:pt>
    <dgm:pt modelId="{CB8E31AF-B852-466C-B2FB-B9DFEB4F228A}" type="sibTrans" cxnId="{7E83412C-ACF7-4761-9208-C75CC35E5173}">
      <dgm:prSet/>
      <dgm:spPr>
        <a:solidFill>
          <a:srgbClr val="7030A0">
            <a:alpha val="90000"/>
          </a:srgbClr>
        </a:solidFill>
        <a:ln>
          <a:solidFill>
            <a:srgbClr val="7030A0">
              <a:alpha val="90000"/>
            </a:srgbClr>
          </a:solidFill>
        </a:ln>
      </dgm:spPr>
      <dgm:t>
        <a:bodyPr/>
        <a:lstStyle/>
        <a:p>
          <a:endParaRPr lang="en-US"/>
        </a:p>
      </dgm:t>
    </dgm:pt>
    <dgm:pt modelId="{31E6BA54-179A-436A-86E1-E0F428691EC0}">
      <dgm:prSet/>
      <dgm:spPr>
        <a:solidFill>
          <a:srgbClr val="92D050"/>
        </a:solidFill>
      </dgm:spPr>
      <dgm:t>
        <a:bodyPr/>
        <a:lstStyle/>
        <a:p>
          <a:r>
            <a:rPr lang="en-US" dirty="0">
              <a:solidFill>
                <a:schemeClr val="tx1"/>
              </a:solidFill>
              <a:latin typeface="Century Gothic" panose="020B0502020202020204" pitchFamily="34" charset="0"/>
            </a:rPr>
            <a:t>Provides actionable insights for SMEs with limited resources facing heightened cyber threats.</a:t>
          </a:r>
        </a:p>
      </dgm:t>
    </dgm:pt>
    <dgm:pt modelId="{934DD474-9B96-4FB6-ABE7-7086FFC92160}" type="parTrans" cxnId="{55A80591-DA56-4143-B60F-B7900DD1BDFE}">
      <dgm:prSet/>
      <dgm:spPr/>
      <dgm:t>
        <a:bodyPr/>
        <a:lstStyle/>
        <a:p>
          <a:endParaRPr lang="en-US"/>
        </a:p>
      </dgm:t>
    </dgm:pt>
    <dgm:pt modelId="{76859B6B-6354-4026-B5C4-C91F9FB49B37}" type="sibTrans" cxnId="{55A80591-DA56-4143-B60F-B7900DD1BDFE}">
      <dgm:prSet/>
      <dgm:spPr/>
      <dgm:t>
        <a:bodyPr/>
        <a:lstStyle/>
        <a:p>
          <a:endParaRPr lang="en-US"/>
        </a:p>
      </dgm:t>
    </dgm:pt>
    <dgm:pt modelId="{1F918B1F-8682-474C-8E0D-B29B0CB1353C}" type="pres">
      <dgm:prSet presAssocID="{EC044A30-01E4-47BA-8802-2D95A8357027}" presName="outerComposite" presStyleCnt="0">
        <dgm:presLayoutVars>
          <dgm:chMax val="5"/>
          <dgm:dir/>
          <dgm:resizeHandles val="exact"/>
        </dgm:presLayoutVars>
      </dgm:prSet>
      <dgm:spPr/>
    </dgm:pt>
    <dgm:pt modelId="{AE2068E2-1114-F942-8985-084E72AA6989}" type="pres">
      <dgm:prSet presAssocID="{EC044A30-01E4-47BA-8802-2D95A8357027}" presName="dummyMaxCanvas" presStyleCnt="0">
        <dgm:presLayoutVars/>
      </dgm:prSet>
      <dgm:spPr/>
    </dgm:pt>
    <dgm:pt modelId="{4433B031-4A58-0641-8960-2141DB2223FD}" type="pres">
      <dgm:prSet presAssocID="{EC044A30-01E4-47BA-8802-2D95A8357027}" presName="ThreeNodes_1" presStyleLbl="node1" presStyleIdx="0" presStyleCnt="3">
        <dgm:presLayoutVars>
          <dgm:bulletEnabled val="1"/>
        </dgm:presLayoutVars>
      </dgm:prSet>
      <dgm:spPr/>
    </dgm:pt>
    <dgm:pt modelId="{9F1D7FDD-2B41-714F-A3E9-8F34D883A407}" type="pres">
      <dgm:prSet presAssocID="{EC044A30-01E4-47BA-8802-2D95A8357027}" presName="ThreeNodes_2" presStyleLbl="node1" presStyleIdx="1" presStyleCnt="3">
        <dgm:presLayoutVars>
          <dgm:bulletEnabled val="1"/>
        </dgm:presLayoutVars>
      </dgm:prSet>
      <dgm:spPr/>
    </dgm:pt>
    <dgm:pt modelId="{EF6B2762-2F98-6149-90E5-63B5A5D7FEF5}" type="pres">
      <dgm:prSet presAssocID="{EC044A30-01E4-47BA-8802-2D95A8357027}" presName="ThreeNodes_3" presStyleLbl="node1" presStyleIdx="2" presStyleCnt="3">
        <dgm:presLayoutVars>
          <dgm:bulletEnabled val="1"/>
        </dgm:presLayoutVars>
      </dgm:prSet>
      <dgm:spPr/>
    </dgm:pt>
    <dgm:pt modelId="{17BE0A54-9C12-8045-AEF7-0E09AC438ECA}" type="pres">
      <dgm:prSet presAssocID="{EC044A30-01E4-47BA-8802-2D95A8357027}" presName="ThreeConn_1-2" presStyleLbl="fgAccFollowNode1" presStyleIdx="0" presStyleCnt="2">
        <dgm:presLayoutVars>
          <dgm:bulletEnabled val="1"/>
        </dgm:presLayoutVars>
      </dgm:prSet>
      <dgm:spPr/>
    </dgm:pt>
    <dgm:pt modelId="{8907880D-B21B-784E-A05D-2FA82BC98827}" type="pres">
      <dgm:prSet presAssocID="{EC044A30-01E4-47BA-8802-2D95A8357027}" presName="ThreeConn_2-3" presStyleLbl="fgAccFollowNode1" presStyleIdx="1" presStyleCnt="2">
        <dgm:presLayoutVars>
          <dgm:bulletEnabled val="1"/>
        </dgm:presLayoutVars>
      </dgm:prSet>
      <dgm:spPr/>
    </dgm:pt>
    <dgm:pt modelId="{57226E1D-C335-0046-A510-6B0498E8814A}" type="pres">
      <dgm:prSet presAssocID="{EC044A30-01E4-47BA-8802-2D95A8357027}" presName="ThreeNodes_1_text" presStyleLbl="node1" presStyleIdx="2" presStyleCnt="3">
        <dgm:presLayoutVars>
          <dgm:bulletEnabled val="1"/>
        </dgm:presLayoutVars>
      </dgm:prSet>
      <dgm:spPr/>
    </dgm:pt>
    <dgm:pt modelId="{5A539492-1F0A-3443-A4AF-632CCDF06302}" type="pres">
      <dgm:prSet presAssocID="{EC044A30-01E4-47BA-8802-2D95A8357027}" presName="ThreeNodes_2_text" presStyleLbl="node1" presStyleIdx="2" presStyleCnt="3">
        <dgm:presLayoutVars>
          <dgm:bulletEnabled val="1"/>
        </dgm:presLayoutVars>
      </dgm:prSet>
      <dgm:spPr/>
    </dgm:pt>
    <dgm:pt modelId="{24C59ECF-1446-0C47-BBDA-988CD9A3037B}" type="pres">
      <dgm:prSet presAssocID="{EC044A30-01E4-47BA-8802-2D95A8357027}" presName="ThreeNodes_3_text" presStyleLbl="node1" presStyleIdx="2" presStyleCnt="3">
        <dgm:presLayoutVars>
          <dgm:bulletEnabled val="1"/>
        </dgm:presLayoutVars>
      </dgm:prSet>
      <dgm:spPr/>
    </dgm:pt>
  </dgm:ptLst>
  <dgm:cxnLst>
    <dgm:cxn modelId="{3FB0E40C-60F0-4E42-93FF-4DF477C30F12}" type="presOf" srcId="{EC044A30-01E4-47BA-8802-2D95A8357027}" destId="{1F918B1F-8682-474C-8E0D-B29B0CB1353C}" srcOrd="0" destOrd="0" presId="urn:microsoft.com/office/officeart/2005/8/layout/vProcess5"/>
    <dgm:cxn modelId="{D6D65919-EBE3-3A4D-8953-8B7D624F48DA}" type="presOf" srcId="{A88EF483-F95A-481B-90C7-7CF129672D83}" destId="{5A539492-1F0A-3443-A4AF-632CCDF06302}" srcOrd="1" destOrd="0" presId="urn:microsoft.com/office/officeart/2005/8/layout/vProcess5"/>
    <dgm:cxn modelId="{7E83412C-ACF7-4761-9208-C75CC35E5173}" srcId="{EC044A30-01E4-47BA-8802-2D95A8357027}" destId="{A88EF483-F95A-481B-90C7-7CF129672D83}" srcOrd="1" destOrd="0" parTransId="{94F7D64B-74EA-43F4-B855-0DCCB5CCFE89}" sibTransId="{CB8E31AF-B852-466C-B2FB-B9DFEB4F228A}"/>
    <dgm:cxn modelId="{51797934-DA0E-43BB-808E-139F978602C6}" srcId="{EC044A30-01E4-47BA-8802-2D95A8357027}" destId="{3FA22298-76EA-48E7-A164-23EF3B069827}" srcOrd="0" destOrd="0" parTransId="{BDF1339C-D7ED-415B-AB2A-3FD5937ABA3C}" sibTransId="{6AD2672D-FB46-4D5A-AA0C-97533D50095D}"/>
    <dgm:cxn modelId="{C8959C58-3B2F-2743-80AF-C6D5E87D5D36}" type="presOf" srcId="{A88EF483-F95A-481B-90C7-7CF129672D83}" destId="{9F1D7FDD-2B41-714F-A3E9-8F34D883A407}" srcOrd="0" destOrd="0" presId="urn:microsoft.com/office/officeart/2005/8/layout/vProcess5"/>
    <dgm:cxn modelId="{FBE6D46A-4A01-934E-860C-97BB56E09AC1}" type="presOf" srcId="{CB8E31AF-B852-466C-B2FB-B9DFEB4F228A}" destId="{8907880D-B21B-784E-A05D-2FA82BC98827}" srcOrd="0" destOrd="0" presId="urn:microsoft.com/office/officeart/2005/8/layout/vProcess5"/>
    <dgm:cxn modelId="{55A80591-DA56-4143-B60F-B7900DD1BDFE}" srcId="{EC044A30-01E4-47BA-8802-2D95A8357027}" destId="{31E6BA54-179A-436A-86E1-E0F428691EC0}" srcOrd="2" destOrd="0" parTransId="{934DD474-9B96-4FB6-ABE7-7086FFC92160}" sibTransId="{76859B6B-6354-4026-B5C4-C91F9FB49B37}"/>
    <dgm:cxn modelId="{528B76AE-C9D2-764F-834E-91B370AD6627}" type="presOf" srcId="{31E6BA54-179A-436A-86E1-E0F428691EC0}" destId="{EF6B2762-2F98-6149-90E5-63B5A5D7FEF5}" srcOrd="0" destOrd="0" presId="urn:microsoft.com/office/officeart/2005/8/layout/vProcess5"/>
    <dgm:cxn modelId="{CE0978CE-F4D2-B648-9EC5-3BE47FBABFD0}" type="presOf" srcId="{3FA22298-76EA-48E7-A164-23EF3B069827}" destId="{57226E1D-C335-0046-A510-6B0498E8814A}" srcOrd="1" destOrd="0" presId="urn:microsoft.com/office/officeart/2005/8/layout/vProcess5"/>
    <dgm:cxn modelId="{A988A8D9-AB20-B445-9408-E81981DB6F54}" type="presOf" srcId="{3FA22298-76EA-48E7-A164-23EF3B069827}" destId="{4433B031-4A58-0641-8960-2141DB2223FD}" srcOrd="0" destOrd="0" presId="urn:microsoft.com/office/officeart/2005/8/layout/vProcess5"/>
    <dgm:cxn modelId="{987628F4-BB48-E54D-BC2E-222F052215D6}" type="presOf" srcId="{31E6BA54-179A-436A-86E1-E0F428691EC0}" destId="{24C59ECF-1446-0C47-BBDA-988CD9A3037B}" srcOrd="1" destOrd="0" presId="urn:microsoft.com/office/officeart/2005/8/layout/vProcess5"/>
    <dgm:cxn modelId="{5ADEF3F7-ED85-A54E-B3D4-D4F1565353A7}" type="presOf" srcId="{6AD2672D-FB46-4D5A-AA0C-97533D50095D}" destId="{17BE0A54-9C12-8045-AEF7-0E09AC438ECA}" srcOrd="0" destOrd="0" presId="urn:microsoft.com/office/officeart/2005/8/layout/vProcess5"/>
    <dgm:cxn modelId="{9DA8357D-6C37-1D43-98B8-C3C854C147ED}" type="presParOf" srcId="{1F918B1F-8682-474C-8E0D-B29B0CB1353C}" destId="{AE2068E2-1114-F942-8985-084E72AA6989}" srcOrd="0" destOrd="0" presId="urn:microsoft.com/office/officeart/2005/8/layout/vProcess5"/>
    <dgm:cxn modelId="{F002464E-565C-984F-89DE-B81B3DCF7601}" type="presParOf" srcId="{1F918B1F-8682-474C-8E0D-B29B0CB1353C}" destId="{4433B031-4A58-0641-8960-2141DB2223FD}" srcOrd="1" destOrd="0" presId="urn:microsoft.com/office/officeart/2005/8/layout/vProcess5"/>
    <dgm:cxn modelId="{99113C26-FFE1-A04F-8AE5-5B740B89D96D}" type="presParOf" srcId="{1F918B1F-8682-474C-8E0D-B29B0CB1353C}" destId="{9F1D7FDD-2B41-714F-A3E9-8F34D883A407}" srcOrd="2" destOrd="0" presId="urn:microsoft.com/office/officeart/2005/8/layout/vProcess5"/>
    <dgm:cxn modelId="{A2D6C0A1-E733-4040-A907-E8D96D566763}" type="presParOf" srcId="{1F918B1F-8682-474C-8E0D-B29B0CB1353C}" destId="{EF6B2762-2F98-6149-90E5-63B5A5D7FEF5}" srcOrd="3" destOrd="0" presId="urn:microsoft.com/office/officeart/2005/8/layout/vProcess5"/>
    <dgm:cxn modelId="{269BC181-4CA8-E94B-9766-3C6B406BDAFC}" type="presParOf" srcId="{1F918B1F-8682-474C-8E0D-B29B0CB1353C}" destId="{17BE0A54-9C12-8045-AEF7-0E09AC438ECA}" srcOrd="4" destOrd="0" presId="urn:microsoft.com/office/officeart/2005/8/layout/vProcess5"/>
    <dgm:cxn modelId="{066A0FC2-7AC4-BF4F-8747-2708E759F6C0}" type="presParOf" srcId="{1F918B1F-8682-474C-8E0D-B29B0CB1353C}" destId="{8907880D-B21B-784E-A05D-2FA82BC98827}" srcOrd="5" destOrd="0" presId="urn:microsoft.com/office/officeart/2005/8/layout/vProcess5"/>
    <dgm:cxn modelId="{4C6327E2-4687-0141-ABCE-09FF212411CB}" type="presParOf" srcId="{1F918B1F-8682-474C-8E0D-B29B0CB1353C}" destId="{57226E1D-C335-0046-A510-6B0498E8814A}" srcOrd="6" destOrd="0" presId="urn:microsoft.com/office/officeart/2005/8/layout/vProcess5"/>
    <dgm:cxn modelId="{BD94CD84-60D5-AC41-A3E6-CD65D0AA62DC}" type="presParOf" srcId="{1F918B1F-8682-474C-8E0D-B29B0CB1353C}" destId="{5A539492-1F0A-3443-A4AF-632CCDF06302}" srcOrd="7" destOrd="0" presId="urn:microsoft.com/office/officeart/2005/8/layout/vProcess5"/>
    <dgm:cxn modelId="{17635FEA-DA13-854D-914A-C7E7C5587199}" type="presParOf" srcId="{1F918B1F-8682-474C-8E0D-B29B0CB1353C}" destId="{24C59ECF-1446-0C47-BBDA-988CD9A3037B}"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93174EA-068D-4544-A9E1-FFC376E19340}" type="doc">
      <dgm:prSet loTypeId="urn:microsoft.com/office/officeart/2005/8/layout/hList1" loCatId="list" qsTypeId="urn:microsoft.com/office/officeart/2005/8/quickstyle/simple1" qsCatId="simple" csTypeId="urn:microsoft.com/office/officeart/2005/8/colors/accent2_2" csCatId="accent2" phldr="1"/>
      <dgm:spPr/>
      <dgm:t>
        <a:bodyPr/>
        <a:lstStyle/>
        <a:p>
          <a:endParaRPr lang="en-US"/>
        </a:p>
      </dgm:t>
    </dgm:pt>
    <dgm:pt modelId="{AA230A55-7EE0-4061-A4C5-79845BD0A107}">
      <dgm:prSet/>
      <dgm:spPr/>
      <dgm:t>
        <a:bodyPr/>
        <a:lstStyle/>
        <a:p>
          <a:pPr>
            <a:defRPr b="1"/>
          </a:pPr>
          <a:r>
            <a:rPr lang="en-US" b="1">
              <a:latin typeface="Century Gothic" panose="020B0502020202020204" pitchFamily="34" charset="0"/>
            </a:rPr>
            <a:t>Assumptions</a:t>
          </a:r>
          <a:endParaRPr lang="en-US">
            <a:latin typeface="Century Gothic" panose="020B0502020202020204" pitchFamily="34" charset="0"/>
          </a:endParaRPr>
        </a:p>
      </dgm:t>
    </dgm:pt>
    <dgm:pt modelId="{F34633BE-C287-4975-BC7B-7023B01BB154}" type="parTrans" cxnId="{AF915679-1AB0-4BBE-9380-76CB5067CB54}">
      <dgm:prSet/>
      <dgm:spPr/>
      <dgm:t>
        <a:bodyPr/>
        <a:lstStyle/>
        <a:p>
          <a:endParaRPr lang="en-US"/>
        </a:p>
      </dgm:t>
    </dgm:pt>
    <dgm:pt modelId="{29E45E3E-64DB-4205-A911-601D20FE812D}" type="sibTrans" cxnId="{AF915679-1AB0-4BBE-9380-76CB5067CB54}">
      <dgm:prSet/>
      <dgm:spPr/>
      <dgm:t>
        <a:bodyPr/>
        <a:lstStyle/>
        <a:p>
          <a:endParaRPr lang="en-US"/>
        </a:p>
      </dgm:t>
    </dgm:pt>
    <dgm:pt modelId="{6EE89826-B2BD-4DC0-92BF-6B97FDECF695}">
      <dgm:prSet/>
      <dgm:spPr/>
      <dgm:t>
        <a:bodyPr/>
        <a:lstStyle/>
        <a:p>
          <a:pPr>
            <a:buFont typeface="Arial" panose="020B0604020202020204" pitchFamily="34" charset="0"/>
            <a:buChar char="•"/>
          </a:pPr>
          <a:r>
            <a:rPr lang="en-US" dirty="0">
              <a:latin typeface="Century Gothic" panose="020B0502020202020204" pitchFamily="34" charset="0"/>
            </a:rPr>
            <a:t>K2 faces notable cyber challenges</a:t>
          </a:r>
        </a:p>
      </dgm:t>
    </dgm:pt>
    <dgm:pt modelId="{DB4A198A-AA0B-40D1-BC53-36A895C26A22}" type="parTrans" cxnId="{97D3326B-D4DA-4930-A0E0-0AC0BF75942C}">
      <dgm:prSet/>
      <dgm:spPr/>
      <dgm:t>
        <a:bodyPr/>
        <a:lstStyle/>
        <a:p>
          <a:endParaRPr lang="en-US"/>
        </a:p>
      </dgm:t>
    </dgm:pt>
    <dgm:pt modelId="{92DD6DC6-FC90-4E3E-BCCA-E4565B691EBA}" type="sibTrans" cxnId="{97D3326B-D4DA-4930-A0E0-0AC0BF75942C}">
      <dgm:prSet/>
      <dgm:spPr/>
      <dgm:t>
        <a:bodyPr/>
        <a:lstStyle/>
        <a:p>
          <a:endParaRPr lang="en-US"/>
        </a:p>
      </dgm:t>
    </dgm:pt>
    <dgm:pt modelId="{0F579ECD-5D93-404C-B947-1EE02584B6D9}">
      <dgm:prSet/>
      <dgm:spPr/>
      <dgm:t>
        <a:bodyPr/>
        <a:lstStyle/>
        <a:p>
          <a:pPr>
            <a:defRPr b="1"/>
          </a:pPr>
          <a:r>
            <a:rPr lang="en-US">
              <a:latin typeface="Century Gothic" panose="020B0502020202020204" pitchFamily="34" charset="0"/>
            </a:rPr>
            <a:t>Limitations</a:t>
          </a:r>
        </a:p>
      </dgm:t>
    </dgm:pt>
    <dgm:pt modelId="{D4DBFC35-7041-4B40-96CE-9C471B894236}" type="parTrans" cxnId="{FC4E0875-8562-4EBF-BC97-87DBFEEAE1C4}">
      <dgm:prSet/>
      <dgm:spPr/>
      <dgm:t>
        <a:bodyPr/>
        <a:lstStyle/>
        <a:p>
          <a:endParaRPr lang="en-US"/>
        </a:p>
      </dgm:t>
    </dgm:pt>
    <dgm:pt modelId="{D1E6F127-8127-4C93-AB02-12BCBBDFFE27}" type="sibTrans" cxnId="{FC4E0875-8562-4EBF-BC97-87DBFEEAE1C4}">
      <dgm:prSet/>
      <dgm:spPr/>
      <dgm:t>
        <a:bodyPr/>
        <a:lstStyle/>
        <a:p>
          <a:endParaRPr lang="en-US"/>
        </a:p>
      </dgm:t>
    </dgm:pt>
    <dgm:pt modelId="{FD834D3A-DA35-4A8D-8FDC-9224D039379F}">
      <dgm:prSet/>
      <dgm:spPr/>
      <dgm:t>
        <a:bodyPr/>
        <a:lstStyle/>
        <a:p>
          <a:r>
            <a:rPr lang="en-US">
              <a:latin typeface="Century Gothic" panose="020B0502020202020204" pitchFamily="34" charset="0"/>
            </a:rPr>
            <a:t>Small sample size (10  stakeholders)</a:t>
          </a:r>
        </a:p>
      </dgm:t>
    </dgm:pt>
    <dgm:pt modelId="{9BBC7DFC-5158-4F82-B932-10FDA9C70ACA}" type="parTrans" cxnId="{7112B2F0-803B-435D-A765-B2D88714A775}">
      <dgm:prSet/>
      <dgm:spPr/>
      <dgm:t>
        <a:bodyPr/>
        <a:lstStyle/>
        <a:p>
          <a:endParaRPr lang="en-US"/>
        </a:p>
      </dgm:t>
    </dgm:pt>
    <dgm:pt modelId="{E6920D14-15B3-4D4D-A0D4-809254AC21D0}" type="sibTrans" cxnId="{7112B2F0-803B-435D-A765-B2D88714A775}">
      <dgm:prSet/>
      <dgm:spPr/>
      <dgm:t>
        <a:bodyPr/>
        <a:lstStyle/>
        <a:p>
          <a:endParaRPr lang="en-US"/>
        </a:p>
      </dgm:t>
    </dgm:pt>
    <dgm:pt modelId="{A87D3A7A-A165-408A-BAA7-6D6845026840}">
      <dgm:prSet/>
      <dgm:spPr/>
      <dgm:t>
        <a:bodyPr/>
        <a:lstStyle/>
        <a:p>
          <a:pPr>
            <a:defRPr b="1"/>
          </a:pPr>
          <a:r>
            <a:rPr lang="en-US" b="1" dirty="0">
              <a:latin typeface="Century Gothic" panose="020B0502020202020204" pitchFamily="34" charset="0"/>
            </a:rPr>
            <a:t>Delimitations</a:t>
          </a:r>
          <a:endParaRPr lang="en-US" dirty="0">
            <a:latin typeface="Century Gothic" panose="020B0502020202020204" pitchFamily="34" charset="0"/>
          </a:endParaRPr>
        </a:p>
      </dgm:t>
    </dgm:pt>
    <dgm:pt modelId="{DEC0F61E-B5FF-4794-9296-C87CED85BFDE}" type="parTrans" cxnId="{82C7993C-9906-4EC7-8BA2-15452ACAF2DF}">
      <dgm:prSet/>
      <dgm:spPr/>
      <dgm:t>
        <a:bodyPr/>
        <a:lstStyle/>
        <a:p>
          <a:endParaRPr lang="en-US"/>
        </a:p>
      </dgm:t>
    </dgm:pt>
    <dgm:pt modelId="{9CD97CD5-E0B9-41A0-A6E6-1FC24F07201C}" type="sibTrans" cxnId="{82C7993C-9906-4EC7-8BA2-15452ACAF2DF}">
      <dgm:prSet/>
      <dgm:spPr/>
      <dgm:t>
        <a:bodyPr/>
        <a:lstStyle/>
        <a:p>
          <a:endParaRPr lang="en-US"/>
        </a:p>
      </dgm:t>
    </dgm:pt>
    <dgm:pt modelId="{AFE0B35C-74CB-42C8-B01D-43A66B0BD878}">
      <dgm:prSet/>
      <dgm:spPr/>
      <dgm:t>
        <a:bodyPr/>
        <a:lstStyle/>
        <a:p>
          <a:r>
            <a:rPr lang="en-US" dirty="0">
              <a:latin typeface="Century Gothic" panose="020B0502020202020204" pitchFamily="34" charset="0"/>
            </a:rPr>
            <a:t>Focused on K2 only</a:t>
          </a:r>
        </a:p>
      </dgm:t>
    </dgm:pt>
    <dgm:pt modelId="{FC3B84E8-4446-4DCA-8B18-ECAD4CD25988}" type="parTrans" cxnId="{3640E418-45FD-4822-9F79-CEB02F2BCA21}">
      <dgm:prSet/>
      <dgm:spPr/>
      <dgm:t>
        <a:bodyPr/>
        <a:lstStyle/>
        <a:p>
          <a:endParaRPr lang="en-US"/>
        </a:p>
      </dgm:t>
    </dgm:pt>
    <dgm:pt modelId="{4F858289-A39D-428A-905E-CACE6BA882C7}" type="sibTrans" cxnId="{3640E418-45FD-4822-9F79-CEB02F2BCA21}">
      <dgm:prSet/>
      <dgm:spPr/>
      <dgm:t>
        <a:bodyPr/>
        <a:lstStyle/>
        <a:p>
          <a:endParaRPr lang="en-US"/>
        </a:p>
      </dgm:t>
    </dgm:pt>
    <dgm:pt modelId="{6FA6E40A-C477-C343-83D4-B483909E7858}">
      <dgm:prSet/>
      <dgm:spPr/>
      <dgm:t>
        <a:bodyPr/>
        <a:lstStyle/>
        <a:p>
          <a:r>
            <a:rPr lang="en-US" dirty="0">
              <a:latin typeface="Century Gothic" panose="020B0502020202020204" pitchFamily="34" charset="0"/>
            </a:rPr>
            <a:t>Limited access to proprietary data</a:t>
          </a:r>
        </a:p>
      </dgm:t>
    </dgm:pt>
    <dgm:pt modelId="{E5387775-AA53-7E4C-913E-7190C29B8F74}" type="parTrans" cxnId="{99F63968-3A3A-2A45-B2F9-BFFD117D19E0}">
      <dgm:prSet/>
      <dgm:spPr/>
      <dgm:t>
        <a:bodyPr/>
        <a:lstStyle/>
        <a:p>
          <a:endParaRPr lang="en-US"/>
        </a:p>
      </dgm:t>
    </dgm:pt>
    <dgm:pt modelId="{91B27DD8-A76A-6643-8329-336AC1B2BB8C}" type="sibTrans" cxnId="{99F63968-3A3A-2A45-B2F9-BFFD117D19E0}">
      <dgm:prSet/>
      <dgm:spPr/>
      <dgm:t>
        <a:bodyPr/>
        <a:lstStyle/>
        <a:p>
          <a:endParaRPr lang="en-US"/>
        </a:p>
      </dgm:t>
    </dgm:pt>
    <dgm:pt modelId="{55CD7A07-FA9E-8849-AF66-465CAA7AE667}">
      <dgm:prSet/>
      <dgm:spPr/>
      <dgm:t>
        <a:bodyPr/>
        <a:lstStyle/>
        <a:p>
          <a:r>
            <a:rPr lang="en-US" b="0" dirty="0">
              <a:latin typeface="Century Gothic" panose="020B0502020202020204" pitchFamily="34" charset="0"/>
            </a:rPr>
            <a:t>Interpretive nature of qualitative research leading to interviewer bias </a:t>
          </a:r>
        </a:p>
      </dgm:t>
    </dgm:pt>
    <dgm:pt modelId="{443BE6B7-501F-9046-9DC7-8A692BD56118}" type="parTrans" cxnId="{40FB9C34-0634-4049-92EE-C582246E5A42}">
      <dgm:prSet/>
      <dgm:spPr/>
      <dgm:t>
        <a:bodyPr/>
        <a:lstStyle/>
        <a:p>
          <a:endParaRPr lang="en-US"/>
        </a:p>
      </dgm:t>
    </dgm:pt>
    <dgm:pt modelId="{582E03DB-673F-B441-B3A2-0BFD9095CBDC}" type="sibTrans" cxnId="{40FB9C34-0634-4049-92EE-C582246E5A42}">
      <dgm:prSet/>
      <dgm:spPr/>
      <dgm:t>
        <a:bodyPr/>
        <a:lstStyle/>
        <a:p>
          <a:endParaRPr lang="en-US"/>
        </a:p>
      </dgm:t>
    </dgm:pt>
    <dgm:pt modelId="{970B95CD-126B-0545-B1E5-8B31EF371D39}">
      <dgm:prSet/>
      <dgm:spPr/>
      <dgm:t>
        <a:bodyPr/>
        <a:lstStyle/>
        <a:p>
          <a:r>
            <a:rPr lang="en-US" dirty="0">
              <a:latin typeface="Century Gothic" panose="020B0502020202020204" pitchFamily="34" charset="0"/>
            </a:rPr>
            <a:t>Internal practices &amp; awareness—no vendor risk analysis</a:t>
          </a:r>
        </a:p>
      </dgm:t>
    </dgm:pt>
    <dgm:pt modelId="{EA1B1058-5476-534A-A1DB-471147BF1EB5}" type="parTrans" cxnId="{F491FBE3-1915-014B-83B3-1B2CE8159392}">
      <dgm:prSet/>
      <dgm:spPr/>
      <dgm:t>
        <a:bodyPr/>
        <a:lstStyle/>
        <a:p>
          <a:endParaRPr lang="en-US"/>
        </a:p>
      </dgm:t>
    </dgm:pt>
    <dgm:pt modelId="{ADD2608E-F27B-0740-92C9-919EBCEB63BB}" type="sibTrans" cxnId="{F491FBE3-1915-014B-83B3-1B2CE8159392}">
      <dgm:prSet/>
      <dgm:spPr/>
      <dgm:t>
        <a:bodyPr/>
        <a:lstStyle/>
        <a:p>
          <a:endParaRPr lang="en-US"/>
        </a:p>
      </dgm:t>
    </dgm:pt>
    <dgm:pt modelId="{3C937B3E-6FB4-864B-BB27-E9E3C106AB3B}">
      <dgm:prSet/>
      <dgm:spPr/>
      <dgm:t>
        <a:bodyPr/>
        <a:lstStyle/>
        <a:p>
          <a:r>
            <a:rPr lang="en-US">
              <a:latin typeface="Century Gothic" panose="020B0502020202020204" pitchFamily="34" charset="0"/>
            </a:rPr>
            <a:t>Five-year timeframe for threat relevance</a:t>
          </a:r>
        </a:p>
      </dgm:t>
    </dgm:pt>
    <dgm:pt modelId="{CEA85D68-CEE5-724D-8F93-8AD04692D59D}" type="parTrans" cxnId="{20BF7CA5-9D2F-B544-BD9A-D74017388066}">
      <dgm:prSet/>
      <dgm:spPr/>
      <dgm:t>
        <a:bodyPr/>
        <a:lstStyle/>
        <a:p>
          <a:endParaRPr lang="en-US"/>
        </a:p>
      </dgm:t>
    </dgm:pt>
    <dgm:pt modelId="{E8CA6309-018D-AC43-8A1A-CE28B350D393}" type="sibTrans" cxnId="{20BF7CA5-9D2F-B544-BD9A-D74017388066}">
      <dgm:prSet/>
      <dgm:spPr/>
      <dgm:t>
        <a:bodyPr/>
        <a:lstStyle/>
        <a:p>
          <a:endParaRPr lang="en-US"/>
        </a:p>
      </dgm:t>
    </dgm:pt>
    <dgm:pt modelId="{68F31057-7786-ED47-A289-AC263FC00CEB}">
      <dgm:prSet/>
      <dgm:spPr/>
      <dgm:t>
        <a:bodyPr/>
        <a:lstStyle/>
        <a:p>
          <a:r>
            <a:rPr lang="en-US">
              <a:latin typeface="Century Gothic" panose="020B0502020202020204" pitchFamily="34" charset="0"/>
            </a:rPr>
            <a:t>Qualitative scope over quantitative generalization</a:t>
          </a:r>
        </a:p>
      </dgm:t>
    </dgm:pt>
    <dgm:pt modelId="{751B53FE-1C19-8B4D-921B-6D39ECF860A3}" type="parTrans" cxnId="{417294BA-B198-DC4E-A364-30D05A1B646C}">
      <dgm:prSet/>
      <dgm:spPr/>
      <dgm:t>
        <a:bodyPr/>
        <a:lstStyle/>
        <a:p>
          <a:endParaRPr lang="en-US"/>
        </a:p>
      </dgm:t>
    </dgm:pt>
    <dgm:pt modelId="{961E631B-99CB-4C4C-BF55-B5B92E581498}" type="sibTrans" cxnId="{417294BA-B198-DC4E-A364-30D05A1B646C}">
      <dgm:prSet/>
      <dgm:spPr/>
      <dgm:t>
        <a:bodyPr/>
        <a:lstStyle/>
        <a:p>
          <a:endParaRPr lang="en-US"/>
        </a:p>
      </dgm:t>
    </dgm:pt>
    <dgm:pt modelId="{073C2AFB-3554-F64C-A1CA-1C1EAA79BFCD}">
      <dgm:prSet/>
      <dgm:spPr/>
      <dgm:t>
        <a:bodyPr/>
        <a:lstStyle/>
        <a:p>
          <a:pPr>
            <a:buFont typeface="Arial" panose="020B0604020202020204" pitchFamily="34" charset="0"/>
            <a:buChar char="•"/>
          </a:pPr>
          <a:r>
            <a:rPr lang="en-US" dirty="0">
              <a:latin typeface="Century Gothic" panose="020B0502020202020204" pitchFamily="34" charset="0"/>
            </a:rPr>
            <a:t>Selected participants have relevant knowledge</a:t>
          </a:r>
        </a:p>
      </dgm:t>
    </dgm:pt>
    <dgm:pt modelId="{580E65A4-1638-774B-9ACB-196626026CF9}" type="parTrans" cxnId="{BEAD5F6D-DD1B-DC4F-A4D5-3CC26832AFE7}">
      <dgm:prSet/>
      <dgm:spPr/>
      <dgm:t>
        <a:bodyPr/>
        <a:lstStyle/>
        <a:p>
          <a:endParaRPr lang="en-US"/>
        </a:p>
      </dgm:t>
    </dgm:pt>
    <dgm:pt modelId="{2DF046F5-07A4-474F-8015-D6E1B087E279}" type="sibTrans" cxnId="{BEAD5F6D-DD1B-DC4F-A4D5-3CC26832AFE7}">
      <dgm:prSet/>
      <dgm:spPr/>
      <dgm:t>
        <a:bodyPr/>
        <a:lstStyle/>
        <a:p>
          <a:endParaRPr lang="en-US"/>
        </a:p>
      </dgm:t>
    </dgm:pt>
    <dgm:pt modelId="{4D984AFD-D31A-AE4C-84D9-C73D68EE4901}">
      <dgm:prSet/>
      <dgm:spPr/>
      <dgm:t>
        <a:bodyPr/>
        <a:lstStyle/>
        <a:p>
          <a:pPr>
            <a:buFont typeface="Arial" panose="020B0604020202020204" pitchFamily="34" charset="0"/>
            <a:buChar char="•"/>
          </a:pPr>
          <a:r>
            <a:rPr lang="en-US" dirty="0">
              <a:latin typeface="Century Gothic" panose="020B0502020202020204" pitchFamily="34" charset="0"/>
            </a:rPr>
            <a:t>Documents are accurate, up-to-date &amp; accessible</a:t>
          </a:r>
        </a:p>
      </dgm:t>
    </dgm:pt>
    <dgm:pt modelId="{B17A4EA3-F075-9B43-9AA2-C839EB44B6FE}" type="parTrans" cxnId="{229A1698-A465-394B-BF11-389C05004D39}">
      <dgm:prSet/>
      <dgm:spPr/>
      <dgm:t>
        <a:bodyPr/>
        <a:lstStyle/>
        <a:p>
          <a:endParaRPr lang="en-US"/>
        </a:p>
      </dgm:t>
    </dgm:pt>
    <dgm:pt modelId="{9E2E7A8F-69F2-D44C-9201-896A07BC41F1}" type="sibTrans" cxnId="{229A1698-A465-394B-BF11-389C05004D39}">
      <dgm:prSet/>
      <dgm:spPr/>
      <dgm:t>
        <a:bodyPr/>
        <a:lstStyle/>
        <a:p>
          <a:endParaRPr lang="en-US"/>
        </a:p>
      </dgm:t>
    </dgm:pt>
    <dgm:pt modelId="{48BA1166-C99D-B648-89D2-BDDF48A2C3E4}" type="pres">
      <dgm:prSet presAssocID="{993174EA-068D-4544-A9E1-FFC376E19340}" presName="Name0" presStyleCnt="0">
        <dgm:presLayoutVars>
          <dgm:dir/>
          <dgm:animLvl val="lvl"/>
          <dgm:resizeHandles val="exact"/>
        </dgm:presLayoutVars>
      </dgm:prSet>
      <dgm:spPr/>
    </dgm:pt>
    <dgm:pt modelId="{71042A3B-49BE-5D48-8091-8B02CFE7B903}" type="pres">
      <dgm:prSet presAssocID="{AA230A55-7EE0-4061-A4C5-79845BD0A107}" presName="composite" presStyleCnt="0"/>
      <dgm:spPr/>
    </dgm:pt>
    <dgm:pt modelId="{0A70AC46-98DD-794F-892B-A82250360A68}" type="pres">
      <dgm:prSet presAssocID="{AA230A55-7EE0-4061-A4C5-79845BD0A107}" presName="parTx" presStyleLbl="alignNode1" presStyleIdx="0" presStyleCnt="3">
        <dgm:presLayoutVars>
          <dgm:chMax val="0"/>
          <dgm:chPref val="0"/>
          <dgm:bulletEnabled val="1"/>
        </dgm:presLayoutVars>
      </dgm:prSet>
      <dgm:spPr/>
    </dgm:pt>
    <dgm:pt modelId="{1EFEF3FD-4662-6D42-8085-C495C4B3C0C0}" type="pres">
      <dgm:prSet presAssocID="{AA230A55-7EE0-4061-A4C5-79845BD0A107}" presName="desTx" presStyleLbl="alignAccFollowNode1" presStyleIdx="0" presStyleCnt="3">
        <dgm:presLayoutVars>
          <dgm:bulletEnabled val="1"/>
        </dgm:presLayoutVars>
      </dgm:prSet>
      <dgm:spPr/>
    </dgm:pt>
    <dgm:pt modelId="{B5AE721D-A01B-9F42-A8A6-80B8D2950DC9}" type="pres">
      <dgm:prSet presAssocID="{29E45E3E-64DB-4205-A911-601D20FE812D}" presName="space" presStyleCnt="0"/>
      <dgm:spPr/>
    </dgm:pt>
    <dgm:pt modelId="{C3890860-C064-AC4D-95AD-6AC0A3161EA8}" type="pres">
      <dgm:prSet presAssocID="{0F579ECD-5D93-404C-B947-1EE02584B6D9}" presName="composite" presStyleCnt="0"/>
      <dgm:spPr/>
    </dgm:pt>
    <dgm:pt modelId="{A9985DF3-8593-1340-9600-E510ECB35C15}" type="pres">
      <dgm:prSet presAssocID="{0F579ECD-5D93-404C-B947-1EE02584B6D9}" presName="parTx" presStyleLbl="alignNode1" presStyleIdx="1" presStyleCnt="3">
        <dgm:presLayoutVars>
          <dgm:chMax val="0"/>
          <dgm:chPref val="0"/>
          <dgm:bulletEnabled val="1"/>
        </dgm:presLayoutVars>
      </dgm:prSet>
      <dgm:spPr/>
    </dgm:pt>
    <dgm:pt modelId="{C4C090CE-AE88-1B43-86A4-213065825D80}" type="pres">
      <dgm:prSet presAssocID="{0F579ECD-5D93-404C-B947-1EE02584B6D9}" presName="desTx" presStyleLbl="alignAccFollowNode1" presStyleIdx="1" presStyleCnt="3">
        <dgm:presLayoutVars>
          <dgm:bulletEnabled val="1"/>
        </dgm:presLayoutVars>
      </dgm:prSet>
      <dgm:spPr/>
    </dgm:pt>
    <dgm:pt modelId="{624D1395-919B-2847-BA63-B26A5BF4C086}" type="pres">
      <dgm:prSet presAssocID="{D1E6F127-8127-4C93-AB02-12BCBBDFFE27}" presName="space" presStyleCnt="0"/>
      <dgm:spPr/>
    </dgm:pt>
    <dgm:pt modelId="{792AF198-1804-254A-8A85-CB6AAC433218}" type="pres">
      <dgm:prSet presAssocID="{A87D3A7A-A165-408A-BAA7-6D6845026840}" presName="composite" presStyleCnt="0"/>
      <dgm:spPr/>
    </dgm:pt>
    <dgm:pt modelId="{60C94C97-0EDD-F54C-A2C1-DAAA74C194F3}" type="pres">
      <dgm:prSet presAssocID="{A87D3A7A-A165-408A-BAA7-6D6845026840}" presName="parTx" presStyleLbl="alignNode1" presStyleIdx="2" presStyleCnt="3">
        <dgm:presLayoutVars>
          <dgm:chMax val="0"/>
          <dgm:chPref val="0"/>
          <dgm:bulletEnabled val="1"/>
        </dgm:presLayoutVars>
      </dgm:prSet>
      <dgm:spPr/>
    </dgm:pt>
    <dgm:pt modelId="{807EF23B-71F9-8747-8B0D-12E6F764F8FF}" type="pres">
      <dgm:prSet presAssocID="{A87D3A7A-A165-408A-BAA7-6D6845026840}" presName="desTx" presStyleLbl="alignAccFollowNode1" presStyleIdx="2" presStyleCnt="3">
        <dgm:presLayoutVars>
          <dgm:bulletEnabled val="1"/>
        </dgm:presLayoutVars>
      </dgm:prSet>
      <dgm:spPr/>
    </dgm:pt>
  </dgm:ptLst>
  <dgm:cxnLst>
    <dgm:cxn modelId="{D483DA07-1EE5-4B41-BE27-D0642A4E379E}" type="presOf" srcId="{4D984AFD-D31A-AE4C-84D9-C73D68EE4901}" destId="{1EFEF3FD-4662-6D42-8085-C495C4B3C0C0}" srcOrd="0" destOrd="2" presId="urn:microsoft.com/office/officeart/2005/8/layout/hList1"/>
    <dgm:cxn modelId="{539F1D0C-34B1-B844-8B1A-DCE7F6DEC01C}" type="presOf" srcId="{6EE89826-B2BD-4DC0-92BF-6B97FDECF695}" destId="{1EFEF3FD-4662-6D42-8085-C495C4B3C0C0}" srcOrd="0" destOrd="0" presId="urn:microsoft.com/office/officeart/2005/8/layout/hList1"/>
    <dgm:cxn modelId="{A7390215-28D6-4F48-B724-4CEEA0B23B1B}" type="presOf" srcId="{993174EA-068D-4544-A9E1-FFC376E19340}" destId="{48BA1166-C99D-B648-89D2-BDDF48A2C3E4}" srcOrd="0" destOrd="0" presId="urn:microsoft.com/office/officeart/2005/8/layout/hList1"/>
    <dgm:cxn modelId="{3640E418-45FD-4822-9F79-CEB02F2BCA21}" srcId="{A87D3A7A-A165-408A-BAA7-6D6845026840}" destId="{AFE0B35C-74CB-42C8-B01D-43A66B0BD878}" srcOrd="0" destOrd="0" parTransId="{FC3B84E8-4446-4DCA-8B18-ECAD4CD25988}" sibTransId="{4F858289-A39D-428A-905E-CACE6BA882C7}"/>
    <dgm:cxn modelId="{6C26A131-8413-7347-AFA2-AC9BF511C309}" type="presOf" srcId="{073C2AFB-3554-F64C-A1CA-1C1EAA79BFCD}" destId="{1EFEF3FD-4662-6D42-8085-C495C4B3C0C0}" srcOrd="0" destOrd="1" presId="urn:microsoft.com/office/officeart/2005/8/layout/hList1"/>
    <dgm:cxn modelId="{40FB9C34-0634-4049-92EE-C582246E5A42}" srcId="{0F579ECD-5D93-404C-B947-1EE02584B6D9}" destId="{55CD7A07-FA9E-8849-AF66-465CAA7AE667}" srcOrd="2" destOrd="0" parTransId="{443BE6B7-501F-9046-9DC7-8A692BD56118}" sibTransId="{582E03DB-673F-B441-B3A2-0BFD9095CBDC}"/>
    <dgm:cxn modelId="{5E96B035-E5F8-9446-B412-696AA83F9F00}" type="presOf" srcId="{AFE0B35C-74CB-42C8-B01D-43A66B0BD878}" destId="{807EF23B-71F9-8747-8B0D-12E6F764F8FF}" srcOrd="0" destOrd="0" presId="urn:microsoft.com/office/officeart/2005/8/layout/hList1"/>
    <dgm:cxn modelId="{CD1E453C-85E8-0F4C-BEA1-999F1DA3911A}" type="presOf" srcId="{970B95CD-126B-0545-B1E5-8B31EF371D39}" destId="{807EF23B-71F9-8747-8B0D-12E6F764F8FF}" srcOrd="0" destOrd="1" presId="urn:microsoft.com/office/officeart/2005/8/layout/hList1"/>
    <dgm:cxn modelId="{82C7993C-9906-4EC7-8BA2-15452ACAF2DF}" srcId="{993174EA-068D-4544-A9E1-FFC376E19340}" destId="{A87D3A7A-A165-408A-BAA7-6D6845026840}" srcOrd="2" destOrd="0" parTransId="{DEC0F61E-B5FF-4794-9296-C87CED85BFDE}" sibTransId="{9CD97CD5-E0B9-41A0-A6E6-1FC24F07201C}"/>
    <dgm:cxn modelId="{1D144354-25F6-C745-880A-5C42F8F60640}" type="presOf" srcId="{68F31057-7786-ED47-A289-AC263FC00CEB}" destId="{807EF23B-71F9-8747-8B0D-12E6F764F8FF}" srcOrd="0" destOrd="3" presId="urn:microsoft.com/office/officeart/2005/8/layout/hList1"/>
    <dgm:cxn modelId="{EAA69956-ECBC-3342-9CF7-85D5BC2619E4}" type="presOf" srcId="{6FA6E40A-C477-C343-83D4-B483909E7858}" destId="{C4C090CE-AE88-1B43-86A4-213065825D80}" srcOrd="0" destOrd="1" presId="urn:microsoft.com/office/officeart/2005/8/layout/hList1"/>
    <dgm:cxn modelId="{99F63968-3A3A-2A45-B2F9-BFFD117D19E0}" srcId="{0F579ECD-5D93-404C-B947-1EE02584B6D9}" destId="{6FA6E40A-C477-C343-83D4-B483909E7858}" srcOrd="1" destOrd="0" parTransId="{E5387775-AA53-7E4C-913E-7190C29B8F74}" sibTransId="{91B27DD8-A76A-6643-8329-336AC1B2BB8C}"/>
    <dgm:cxn modelId="{97D3326B-D4DA-4930-A0E0-0AC0BF75942C}" srcId="{AA230A55-7EE0-4061-A4C5-79845BD0A107}" destId="{6EE89826-B2BD-4DC0-92BF-6B97FDECF695}" srcOrd="0" destOrd="0" parTransId="{DB4A198A-AA0B-40D1-BC53-36A895C26A22}" sibTransId="{92DD6DC6-FC90-4E3E-BCCA-E4565B691EBA}"/>
    <dgm:cxn modelId="{BEAD5F6D-DD1B-DC4F-A4D5-3CC26832AFE7}" srcId="{AA230A55-7EE0-4061-A4C5-79845BD0A107}" destId="{073C2AFB-3554-F64C-A1CA-1C1EAA79BFCD}" srcOrd="1" destOrd="0" parTransId="{580E65A4-1638-774B-9ACB-196626026CF9}" sibTransId="{2DF046F5-07A4-474F-8015-D6E1B087E279}"/>
    <dgm:cxn modelId="{FC4E0875-8562-4EBF-BC97-87DBFEEAE1C4}" srcId="{993174EA-068D-4544-A9E1-FFC376E19340}" destId="{0F579ECD-5D93-404C-B947-1EE02584B6D9}" srcOrd="1" destOrd="0" parTransId="{D4DBFC35-7041-4B40-96CE-9C471B894236}" sibTransId="{D1E6F127-8127-4C93-AB02-12BCBBDFFE27}"/>
    <dgm:cxn modelId="{AF915679-1AB0-4BBE-9380-76CB5067CB54}" srcId="{993174EA-068D-4544-A9E1-FFC376E19340}" destId="{AA230A55-7EE0-4061-A4C5-79845BD0A107}" srcOrd="0" destOrd="0" parTransId="{F34633BE-C287-4975-BC7B-7023B01BB154}" sibTransId="{29E45E3E-64DB-4205-A911-601D20FE812D}"/>
    <dgm:cxn modelId="{38EE108D-C9FC-E14C-9D8B-6722A875F986}" type="presOf" srcId="{FD834D3A-DA35-4A8D-8FDC-9224D039379F}" destId="{C4C090CE-AE88-1B43-86A4-213065825D80}" srcOrd="0" destOrd="0" presId="urn:microsoft.com/office/officeart/2005/8/layout/hList1"/>
    <dgm:cxn modelId="{229A1698-A465-394B-BF11-389C05004D39}" srcId="{AA230A55-7EE0-4061-A4C5-79845BD0A107}" destId="{4D984AFD-D31A-AE4C-84D9-C73D68EE4901}" srcOrd="2" destOrd="0" parTransId="{B17A4EA3-F075-9B43-9AA2-C839EB44B6FE}" sibTransId="{9E2E7A8F-69F2-D44C-9201-896A07BC41F1}"/>
    <dgm:cxn modelId="{20BF7CA5-9D2F-B544-BD9A-D74017388066}" srcId="{A87D3A7A-A165-408A-BAA7-6D6845026840}" destId="{3C937B3E-6FB4-864B-BB27-E9E3C106AB3B}" srcOrd="2" destOrd="0" parTransId="{CEA85D68-CEE5-724D-8F93-8AD04692D59D}" sibTransId="{E8CA6309-018D-AC43-8A1A-CE28B350D393}"/>
    <dgm:cxn modelId="{A397DAB2-1D5B-E141-B6CB-435B82D51DD0}" type="presOf" srcId="{A87D3A7A-A165-408A-BAA7-6D6845026840}" destId="{60C94C97-0EDD-F54C-A2C1-DAAA74C194F3}" srcOrd="0" destOrd="0" presId="urn:microsoft.com/office/officeart/2005/8/layout/hList1"/>
    <dgm:cxn modelId="{417294BA-B198-DC4E-A364-30D05A1B646C}" srcId="{A87D3A7A-A165-408A-BAA7-6D6845026840}" destId="{68F31057-7786-ED47-A289-AC263FC00CEB}" srcOrd="3" destOrd="0" parTransId="{751B53FE-1C19-8B4D-921B-6D39ECF860A3}" sibTransId="{961E631B-99CB-4C4C-BF55-B5B92E581498}"/>
    <dgm:cxn modelId="{F491FBE3-1915-014B-83B3-1B2CE8159392}" srcId="{A87D3A7A-A165-408A-BAA7-6D6845026840}" destId="{970B95CD-126B-0545-B1E5-8B31EF371D39}" srcOrd="1" destOrd="0" parTransId="{EA1B1058-5476-534A-A1DB-471147BF1EB5}" sibTransId="{ADD2608E-F27B-0740-92C9-919EBCEB63BB}"/>
    <dgm:cxn modelId="{6B844FE5-C0C8-394D-B56F-93B0C8ED0CFF}" type="presOf" srcId="{55CD7A07-FA9E-8849-AF66-465CAA7AE667}" destId="{C4C090CE-AE88-1B43-86A4-213065825D80}" srcOrd="0" destOrd="2" presId="urn:microsoft.com/office/officeart/2005/8/layout/hList1"/>
    <dgm:cxn modelId="{F98A80ED-750F-954B-98BB-47F558312989}" type="presOf" srcId="{0F579ECD-5D93-404C-B947-1EE02584B6D9}" destId="{A9985DF3-8593-1340-9600-E510ECB35C15}" srcOrd="0" destOrd="0" presId="urn:microsoft.com/office/officeart/2005/8/layout/hList1"/>
    <dgm:cxn modelId="{7112B2F0-803B-435D-A765-B2D88714A775}" srcId="{0F579ECD-5D93-404C-B947-1EE02584B6D9}" destId="{FD834D3A-DA35-4A8D-8FDC-9224D039379F}" srcOrd="0" destOrd="0" parTransId="{9BBC7DFC-5158-4F82-B932-10FDA9C70ACA}" sibTransId="{E6920D14-15B3-4D4D-A0D4-809254AC21D0}"/>
    <dgm:cxn modelId="{F57242FA-3F00-4A4B-A7DD-2139E9FDA2FA}" type="presOf" srcId="{AA230A55-7EE0-4061-A4C5-79845BD0A107}" destId="{0A70AC46-98DD-794F-892B-A82250360A68}" srcOrd="0" destOrd="0" presId="urn:microsoft.com/office/officeart/2005/8/layout/hList1"/>
    <dgm:cxn modelId="{9E5EFFFD-29BE-B44D-8E12-BE3CA3EF0CDC}" type="presOf" srcId="{3C937B3E-6FB4-864B-BB27-E9E3C106AB3B}" destId="{807EF23B-71F9-8747-8B0D-12E6F764F8FF}" srcOrd="0" destOrd="2" presId="urn:microsoft.com/office/officeart/2005/8/layout/hList1"/>
    <dgm:cxn modelId="{1778DC27-0B00-FC44-865F-6B5B56528A3A}" type="presParOf" srcId="{48BA1166-C99D-B648-89D2-BDDF48A2C3E4}" destId="{71042A3B-49BE-5D48-8091-8B02CFE7B903}" srcOrd="0" destOrd="0" presId="urn:microsoft.com/office/officeart/2005/8/layout/hList1"/>
    <dgm:cxn modelId="{53E1C44C-49A5-D84D-90BB-A5C05406D04C}" type="presParOf" srcId="{71042A3B-49BE-5D48-8091-8B02CFE7B903}" destId="{0A70AC46-98DD-794F-892B-A82250360A68}" srcOrd="0" destOrd="0" presId="urn:microsoft.com/office/officeart/2005/8/layout/hList1"/>
    <dgm:cxn modelId="{DB482390-9819-4A4A-8748-DA0730DA1645}" type="presParOf" srcId="{71042A3B-49BE-5D48-8091-8B02CFE7B903}" destId="{1EFEF3FD-4662-6D42-8085-C495C4B3C0C0}" srcOrd="1" destOrd="0" presId="urn:microsoft.com/office/officeart/2005/8/layout/hList1"/>
    <dgm:cxn modelId="{D31FCA8E-715D-5A4F-98BB-70C71F8A246B}" type="presParOf" srcId="{48BA1166-C99D-B648-89D2-BDDF48A2C3E4}" destId="{B5AE721D-A01B-9F42-A8A6-80B8D2950DC9}" srcOrd="1" destOrd="0" presId="urn:microsoft.com/office/officeart/2005/8/layout/hList1"/>
    <dgm:cxn modelId="{C3A7ABA0-22FC-614A-B6D4-287B3A0D8674}" type="presParOf" srcId="{48BA1166-C99D-B648-89D2-BDDF48A2C3E4}" destId="{C3890860-C064-AC4D-95AD-6AC0A3161EA8}" srcOrd="2" destOrd="0" presId="urn:microsoft.com/office/officeart/2005/8/layout/hList1"/>
    <dgm:cxn modelId="{124D0A75-0653-A14F-8559-54E66E76E541}" type="presParOf" srcId="{C3890860-C064-AC4D-95AD-6AC0A3161EA8}" destId="{A9985DF3-8593-1340-9600-E510ECB35C15}" srcOrd="0" destOrd="0" presId="urn:microsoft.com/office/officeart/2005/8/layout/hList1"/>
    <dgm:cxn modelId="{E5D6D053-B396-B640-9F59-890512327483}" type="presParOf" srcId="{C3890860-C064-AC4D-95AD-6AC0A3161EA8}" destId="{C4C090CE-AE88-1B43-86A4-213065825D80}" srcOrd="1" destOrd="0" presId="urn:microsoft.com/office/officeart/2005/8/layout/hList1"/>
    <dgm:cxn modelId="{3F157CA3-DF7E-0E46-BD6B-3076B298B141}" type="presParOf" srcId="{48BA1166-C99D-B648-89D2-BDDF48A2C3E4}" destId="{624D1395-919B-2847-BA63-B26A5BF4C086}" srcOrd="3" destOrd="0" presId="urn:microsoft.com/office/officeart/2005/8/layout/hList1"/>
    <dgm:cxn modelId="{184FB2A2-CEA2-E64B-B2E6-5E7EE3029E65}" type="presParOf" srcId="{48BA1166-C99D-B648-89D2-BDDF48A2C3E4}" destId="{792AF198-1804-254A-8A85-CB6AAC433218}" srcOrd="4" destOrd="0" presId="urn:microsoft.com/office/officeart/2005/8/layout/hList1"/>
    <dgm:cxn modelId="{365C26E2-7839-C74D-A504-D17935363831}" type="presParOf" srcId="{792AF198-1804-254A-8A85-CB6AAC433218}" destId="{60C94C97-0EDD-F54C-A2C1-DAAA74C194F3}" srcOrd="0" destOrd="0" presId="urn:microsoft.com/office/officeart/2005/8/layout/hList1"/>
    <dgm:cxn modelId="{8C7C565D-9CD0-294F-8C31-D8E75058540D}" type="presParOf" srcId="{792AF198-1804-254A-8A85-CB6AAC433218}" destId="{807EF23B-71F9-8747-8B0D-12E6F764F8F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731322F-77E0-4855-B839-94DDAF3BB8AF}" type="doc">
      <dgm:prSet loTypeId="urn:microsoft.com/office/officeart/2005/8/layout/hierarchy1" loCatId="hierarchy" qsTypeId="urn:microsoft.com/office/officeart/2005/8/quickstyle/simple2" qsCatId="simple" csTypeId="urn:microsoft.com/office/officeart/2005/8/colors/accent1_2" csCatId="accent1" phldr="1"/>
      <dgm:spPr/>
      <dgm:t>
        <a:bodyPr/>
        <a:lstStyle/>
        <a:p>
          <a:endParaRPr lang="en-US"/>
        </a:p>
      </dgm:t>
    </dgm:pt>
    <dgm:pt modelId="{7F3905E2-6C70-4B95-BA1E-F840BE8892CB}">
      <dgm:prSet/>
      <dgm:spPr/>
      <dgm:t>
        <a:bodyPr/>
        <a:lstStyle/>
        <a:p>
          <a:r>
            <a:rPr lang="en-US" b="1" dirty="0">
              <a:latin typeface="Century Gothic" panose="020B0502020202020204" pitchFamily="34" charset="0"/>
            </a:rPr>
            <a:t>Study Population:</a:t>
          </a:r>
          <a:r>
            <a:rPr lang="en-US" dirty="0">
              <a:latin typeface="Century Gothic" panose="020B0502020202020204" pitchFamily="34" charset="0"/>
            </a:rPr>
            <a:t> Broad group relevant to cybersecurity in SMEs</a:t>
          </a:r>
          <a:r>
            <a:rPr lang="en-US" dirty="0"/>
            <a:t>.</a:t>
          </a:r>
        </a:p>
      </dgm:t>
    </dgm:pt>
    <dgm:pt modelId="{9EECB9CE-C9B3-45A0-A543-2D4323C37566}" type="parTrans" cxnId="{B4D3E908-939C-499F-A233-0079AE4C2853}">
      <dgm:prSet/>
      <dgm:spPr/>
      <dgm:t>
        <a:bodyPr/>
        <a:lstStyle/>
        <a:p>
          <a:endParaRPr lang="en-US"/>
        </a:p>
      </dgm:t>
    </dgm:pt>
    <dgm:pt modelId="{61147092-6928-46F0-A625-001DE8446848}" type="sibTrans" cxnId="{B4D3E908-939C-499F-A233-0079AE4C2853}">
      <dgm:prSet/>
      <dgm:spPr/>
      <dgm:t>
        <a:bodyPr/>
        <a:lstStyle/>
        <a:p>
          <a:endParaRPr lang="en-US"/>
        </a:p>
      </dgm:t>
    </dgm:pt>
    <dgm:pt modelId="{CEB1E8EA-2636-459F-9CFD-A95A7A872B6D}">
      <dgm:prSet/>
      <dgm:spPr/>
      <dgm:t>
        <a:bodyPr/>
        <a:lstStyle/>
        <a:p>
          <a:r>
            <a:rPr lang="en-US" b="1" dirty="0">
              <a:latin typeface="Century Gothic" panose="020B0502020202020204" pitchFamily="34" charset="0"/>
            </a:rPr>
            <a:t>Target Population:</a:t>
          </a:r>
          <a:r>
            <a:rPr lang="en-US" dirty="0">
              <a:latin typeface="Century Gothic" panose="020B0502020202020204" pitchFamily="34" charset="0"/>
            </a:rPr>
            <a:t> Employees at K2 Partnering Solutions, directly impacted by cybersecurity. </a:t>
          </a:r>
        </a:p>
      </dgm:t>
    </dgm:pt>
    <dgm:pt modelId="{79D12B8D-B003-4ECC-B981-53EAE9C3B841}" type="parTrans" cxnId="{86EEB0A4-35C1-4BDE-926D-ABF5A7716BC4}">
      <dgm:prSet/>
      <dgm:spPr/>
      <dgm:t>
        <a:bodyPr/>
        <a:lstStyle/>
        <a:p>
          <a:endParaRPr lang="en-US"/>
        </a:p>
      </dgm:t>
    </dgm:pt>
    <dgm:pt modelId="{7C1ED33C-03AB-453C-8070-3C8684BAC8F4}" type="sibTrans" cxnId="{86EEB0A4-35C1-4BDE-926D-ABF5A7716BC4}">
      <dgm:prSet/>
      <dgm:spPr/>
      <dgm:t>
        <a:bodyPr/>
        <a:lstStyle/>
        <a:p>
          <a:endParaRPr lang="en-US"/>
        </a:p>
      </dgm:t>
    </dgm:pt>
    <dgm:pt modelId="{ED6BC8B6-9B2F-432E-9245-7AEFF812CE5B}">
      <dgm:prSet/>
      <dgm:spPr/>
      <dgm:t>
        <a:bodyPr/>
        <a:lstStyle/>
        <a:p>
          <a:r>
            <a:rPr lang="en-US" b="1" dirty="0">
              <a:latin typeface="Century Gothic" panose="020B0502020202020204" pitchFamily="34" charset="0"/>
            </a:rPr>
            <a:t>Significance:</a:t>
          </a:r>
          <a:endParaRPr lang="en-US" dirty="0">
            <a:latin typeface="Century Gothic" panose="020B0502020202020204" pitchFamily="34" charset="0"/>
          </a:endParaRPr>
        </a:p>
      </dgm:t>
    </dgm:pt>
    <dgm:pt modelId="{718B4505-8806-4126-BAB5-D553C3B168BF}" type="parTrans" cxnId="{89D77160-26FA-464C-9DDA-334CBE877179}">
      <dgm:prSet/>
      <dgm:spPr/>
      <dgm:t>
        <a:bodyPr/>
        <a:lstStyle/>
        <a:p>
          <a:endParaRPr lang="en-US"/>
        </a:p>
      </dgm:t>
    </dgm:pt>
    <dgm:pt modelId="{FADF6AEE-5890-4B8F-995D-9795C20E7C26}" type="sibTrans" cxnId="{89D77160-26FA-464C-9DDA-334CBE877179}">
      <dgm:prSet/>
      <dgm:spPr/>
      <dgm:t>
        <a:bodyPr/>
        <a:lstStyle/>
        <a:p>
          <a:endParaRPr lang="en-US"/>
        </a:p>
      </dgm:t>
    </dgm:pt>
    <dgm:pt modelId="{DA81F354-BD74-498E-B6D5-5C4786D05B82}">
      <dgm:prSet/>
      <dgm:spPr/>
      <dgm:t>
        <a:bodyPr/>
        <a:lstStyle/>
        <a:p>
          <a:r>
            <a:rPr lang="en-US" dirty="0">
              <a:latin typeface="Century Gothic" panose="020B0502020202020204" pitchFamily="34" charset="0"/>
            </a:rPr>
            <a:t>Focused on accessible, relevant participants to ensure meaningful insights</a:t>
          </a:r>
          <a:r>
            <a:rPr lang="en-US" dirty="0"/>
            <a:t>.</a:t>
          </a:r>
        </a:p>
      </dgm:t>
    </dgm:pt>
    <dgm:pt modelId="{664ECE1F-9924-46ED-AEB9-85EDE9B5BB89}" type="parTrans" cxnId="{9F5A1174-3D61-4525-960B-245EED5E998E}">
      <dgm:prSet/>
      <dgm:spPr/>
      <dgm:t>
        <a:bodyPr/>
        <a:lstStyle/>
        <a:p>
          <a:endParaRPr lang="en-US"/>
        </a:p>
      </dgm:t>
    </dgm:pt>
    <dgm:pt modelId="{26C2C143-26CB-49D9-8E29-1C80F4141320}" type="sibTrans" cxnId="{9F5A1174-3D61-4525-960B-245EED5E998E}">
      <dgm:prSet/>
      <dgm:spPr/>
      <dgm:t>
        <a:bodyPr/>
        <a:lstStyle/>
        <a:p>
          <a:endParaRPr lang="en-US"/>
        </a:p>
      </dgm:t>
    </dgm:pt>
    <dgm:pt modelId="{D1C6BCC3-C2BF-41D5-9CB7-B1EFF73F7BCC}">
      <dgm:prSet/>
      <dgm:spPr/>
      <dgm:t>
        <a:bodyPr/>
        <a:lstStyle/>
        <a:p>
          <a:r>
            <a:rPr lang="en-US" dirty="0">
              <a:latin typeface="Century Gothic" panose="020B0502020202020204" pitchFamily="34" charset="0"/>
            </a:rPr>
            <a:t>Aims to inform K2 Partnering Solutions and offer guidance applicable to similar SMEs navigating cybersecurity challenges</a:t>
          </a:r>
          <a:r>
            <a:rPr lang="en-US" dirty="0"/>
            <a:t>.</a:t>
          </a:r>
        </a:p>
      </dgm:t>
    </dgm:pt>
    <dgm:pt modelId="{E2A6A078-E209-47F1-9CD4-DDD7F754FC77}" type="parTrans" cxnId="{7F1CA325-7322-4C86-9007-805ECCC9600C}">
      <dgm:prSet/>
      <dgm:spPr/>
      <dgm:t>
        <a:bodyPr/>
        <a:lstStyle/>
        <a:p>
          <a:endParaRPr lang="en-US"/>
        </a:p>
      </dgm:t>
    </dgm:pt>
    <dgm:pt modelId="{16F0976A-9E2F-4CBB-968E-446B32F5CA2B}" type="sibTrans" cxnId="{7F1CA325-7322-4C86-9007-805ECCC9600C}">
      <dgm:prSet/>
      <dgm:spPr/>
      <dgm:t>
        <a:bodyPr/>
        <a:lstStyle/>
        <a:p>
          <a:endParaRPr lang="en-US"/>
        </a:p>
      </dgm:t>
    </dgm:pt>
    <dgm:pt modelId="{E9AAC33E-C2BA-A742-A6A0-B64CEA2D2819}" type="pres">
      <dgm:prSet presAssocID="{3731322F-77E0-4855-B839-94DDAF3BB8AF}" presName="hierChild1" presStyleCnt="0">
        <dgm:presLayoutVars>
          <dgm:chPref val="1"/>
          <dgm:dir/>
          <dgm:animOne val="branch"/>
          <dgm:animLvl val="lvl"/>
          <dgm:resizeHandles/>
        </dgm:presLayoutVars>
      </dgm:prSet>
      <dgm:spPr/>
    </dgm:pt>
    <dgm:pt modelId="{5E690DE1-6831-344D-A555-4D008923BC53}" type="pres">
      <dgm:prSet presAssocID="{7F3905E2-6C70-4B95-BA1E-F840BE8892CB}" presName="hierRoot1" presStyleCnt="0"/>
      <dgm:spPr/>
    </dgm:pt>
    <dgm:pt modelId="{8BE16A6B-B8B3-5648-B995-E83284E5AF42}" type="pres">
      <dgm:prSet presAssocID="{7F3905E2-6C70-4B95-BA1E-F840BE8892CB}" presName="composite" presStyleCnt="0"/>
      <dgm:spPr/>
    </dgm:pt>
    <dgm:pt modelId="{E14E4B85-A8B2-CB43-B0F9-5D0757A4AEB0}" type="pres">
      <dgm:prSet presAssocID="{7F3905E2-6C70-4B95-BA1E-F840BE8892CB}" presName="background" presStyleLbl="node0" presStyleIdx="0" presStyleCnt="3"/>
      <dgm:spPr/>
    </dgm:pt>
    <dgm:pt modelId="{5B6DDE2A-23F1-BA49-8B4E-1E5C6EA93355}" type="pres">
      <dgm:prSet presAssocID="{7F3905E2-6C70-4B95-BA1E-F840BE8892CB}" presName="text" presStyleLbl="fgAcc0" presStyleIdx="0" presStyleCnt="3">
        <dgm:presLayoutVars>
          <dgm:chPref val="3"/>
        </dgm:presLayoutVars>
      </dgm:prSet>
      <dgm:spPr/>
    </dgm:pt>
    <dgm:pt modelId="{4EFE87F1-1E62-F148-8B3D-3FFDDA82F216}" type="pres">
      <dgm:prSet presAssocID="{7F3905E2-6C70-4B95-BA1E-F840BE8892CB}" presName="hierChild2" presStyleCnt="0"/>
      <dgm:spPr/>
    </dgm:pt>
    <dgm:pt modelId="{8A549E39-62BE-3141-AA2D-1AFD680F45F3}" type="pres">
      <dgm:prSet presAssocID="{CEB1E8EA-2636-459F-9CFD-A95A7A872B6D}" presName="hierRoot1" presStyleCnt="0"/>
      <dgm:spPr/>
    </dgm:pt>
    <dgm:pt modelId="{2940B675-01AD-E042-A317-91D64E224602}" type="pres">
      <dgm:prSet presAssocID="{CEB1E8EA-2636-459F-9CFD-A95A7A872B6D}" presName="composite" presStyleCnt="0"/>
      <dgm:spPr/>
    </dgm:pt>
    <dgm:pt modelId="{5FDDAB39-94D7-D543-96F7-B2A94369527E}" type="pres">
      <dgm:prSet presAssocID="{CEB1E8EA-2636-459F-9CFD-A95A7A872B6D}" presName="background" presStyleLbl="node0" presStyleIdx="1" presStyleCnt="3"/>
      <dgm:spPr/>
    </dgm:pt>
    <dgm:pt modelId="{0FFC8B20-B9AD-6541-B671-227072AFD20D}" type="pres">
      <dgm:prSet presAssocID="{CEB1E8EA-2636-459F-9CFD-A95A7A872B6D}" presName="text" presStyleLbl="fgAcc0" presStyleIdx="1" presStyleCnt="3">
        <dgm:presLayoutVars>
          <dgm:chPref val="3"/>
        </dgm:presLayoutVars>
      </dgm:prSet>
      <dgm:spPr/>
    </dgm:pt>
    <dgm:pt modelId="{212FF48F-6117-814F-94E8-F5C0057ABAA3}" type="pres">
      <dgm:prSet presAssocID="{CEB1E8EA-2636-459F-9CFD-A95A7A872B6D}" presName="hierChild2" presStyleCnt="0"/>
      <dgm:spPr/>
    </dgm:pt>
    <dgm:pt modelId="{2EA77CD3-4484-844A-8299-A047B77F5986}" type="pres">
      <dgm:prSet presAssocID="{ED6BC8B6-9B2F-432E-9245-7AEFF812CE5B}" presName="hierRoot1" presStyleCnt="0"/>
      <dgm:spPr/>
    </dgm:pt>
    <dgm:pt modelId="{01928632-A417-7042-A30F-B6B164DBBF24}" type="pres">
      <dgm:prSet presAssocID="{ED6BC8B6-9B2F-432E-9245-7AEFF812CE5B}" presName="composite" presStyleCnt="0"/>
      <dgm:spPr/>
    </dgm:pt>
    <dgm:pt modelId="{BA530BF1-9015-C54E-BF6D-85550D5CAE31}" type="pres">
      <dgm:prSet presAssocID="{ED6BC8B6-9B2F-432E-9245-7AEFF812CE5B}" presName="background" presStyleLbl="node0" presStyleIdx="2" presStyleCnt="3"/>
      <dgm:spPr/>
    </dgm:pt>
    <dgm:pt modelId="{7D13A6A6-CBDA-1349-9AB0-767A93035CA6}" type="pres">
      <dgm:prSet presAssocID="{ED6BC8B6-9B2F-432E-9245-7AEFF812CE5B}" presName="text" presStyleLbl="fgAcc0" presStyleIdx="2" presStyleCnt="3">
        <dgm:presLayoutVars>
          <dgm:chPref val="3"/>
        </dgm:presLayoutVars>
      </dgm:prSet>
      <dgm:spPr/>
    </dgm:pt>
    <dgm:pt modelId="{4E0D59DC-033A-6541-996B-C4B7D45F0110}" type="pres">
      <dgm:prSet presAssocID="{ED6BC8B6-9B2F-432E-9245-7AEFF812CE5B}" presName="hierChild2" presStyleCnt="0"/>
      <dgm:spPr/>
    </dgm:pt>
    <dgm:pt modelId="{7EEC0AB5-2E87-1347-9EF4-E6CFA16A541F}" type="pres">
      <dgm:prSet presAssocID="{664ECE1F-9924-46ED-AEB9-85EDE9B5BB89}" presName="Name10" presStyleLbl="parChTrans1D2" presStyleIdx="0" presStyleCnt="2"/>
      <dgm:spPr/>
    </dgm:pt>
    <dgm:pt modelId="{67096CE3-5732-4941-A163-D69D8768D842}" type="pres">
      <dgm:prSet presAssocID="{DA81F354-BD74-498E-B6D5-5C4786D05B82}" presName="hierRoot2" presStyleCnt="0"/>
      <dgm:spPr/>
    </dgm:pt>
    <dgm:pt modelId="{93967F9C-724E-4C41-85D9-578168C34F9D}" type="pres">
      <dgm:prSet presAssocID="{DA81F354-BD74-498E-B6D5-5C4786D05B82}" presName="composite2" presStyleCnt="0"/>
      <dgm:spPr/>
    </dgm:pt>
    <dgm:pt modelId="{B6E8763F-6E2C-F447-A880-644A6A5DFA5B}" type="pres">
      <dgm:prSet presAssocID="{DA81F354-BD74-498E-B6D5-5C4786D05B82}" presName="background2" presStyleLbl="node2" presStyleIdx="0" presStyleCnt="2"/>
      <dgm:spPr/>
    </dgm:pt>
    <dgm:pt modelId="{62A4DE9D-8A7A-D54D-8CAE-0BE767CB1B07}" type="pres">
      <dgm:prSet presAssocID="{DA81F354-BD74-498E-B6D5-5C4786D05B82}" presName="text2" presStyleLbl="fgAcc2" presStyleIdx="0" presStyleCnt="2">
        <dgm:presLayoutVars>
          <dgm:chPref val="3"/>
        </dgm:presLayoutVars>
      </dgm:prSet>
      <dgm:spPr/>
    </dgm:pt>
    <dgm:pt modelId="{BA9B732E-6AC8-A246-8228-84277E16A982}" type="pres">
      <dgm:prSet presAssocID="{DA81F354-BD74-498E-B6D5-5C4786D05B82}" presName="hierChild3" presStyleCnt="0"/>
      <dgm:spPr/>
    </dgm:pt>
    <dgm:pt modelId="{338DA603-91B6-814A-93A0-18BF0DD83159}" type="pres">
      <dgm:prSet presAssocID="{E2A6A078-E209-47F1-9CD4-DDD7F754FC77}" presName="Name10" presStyleLbl="parChTrans1D2" presStyleIdx="1" presStyleCnt="2"/>
      <dgm:spPr/>
    </dgm:pt>
    <dgm:pt modelId="{283C2287-EBA5-264F-B65E-9DBD86E83373}" type="pres">
      <dgm:prSet presAssocID="{D1C6BCC3-C2BF-41D5-9CB7-B1EFF73F7BCC}" presName="hierRoot2" presStyleCnt="0"/>
      <dgm:spPr/>
    </dgm:pt>
    <dgm:pt modelId="{E86A30EE-A9F6-6741-816C-48B53F01FA95}" type="pres">
      <dgm:prSet presAssocID="{D1C6BCC3-C2BF-41D5-9CB7-B1EFF73F7BCC}" presName="composite2" presStyleCnt="0"/>
      <dgm:spPr/>
    </dgm:pt>
    <dgm:pt modelId="{7E2A9126-0E4C-CF46-9D4A-0A969AC5DF05}" type="pres">
      <dgm:prSet presAssocID="{D1C6BCC3-C2BF-41D5-9CB7-B1EFF73F7BCC}" presName="background2" presStyleLbl="node2" presStyleIdx="1" presStyleCnt="2"/>
      <dgm:spPr/>
    </dgm:pt>
    <dgm:pt modelId="{B9AE8FA6-3BCD-BF40-A218-969F9BB6E5BE}" type="pres">
      <dgm:prSet presAssocID="{D1C6BCC3-C2BF-41D5-9CB7-B1EFF73F7BCC}" presName="text2" presStyleLbl="fgAcc2" presStyleIdx="1" presStyleCnt="2">
        <dgm:presLayoutVars>
          <dgm:chPref val="3"/>
        </dgm:presLayoutVars>
      </dgm:prSet>
      <dgm:spPr/>
    </dgm:pt>
    <dgm:pt modelId="{5801B136-1CDF-8942-BCDE-51DDBF0E1647}" type="pres">
      <dgm:prSet presAssocID="{D1C6BCC3-C2BF-41D5-9CB7-B1EFF73F7BCC}" presName="hierChild3" presStyleCnt="0"/>
      <dgm:spPr/>
    </dgm:pt>
  </dgm:ptLst>
  <dgm:cxnLst>
    <dgm:cxn modelId="{9631DC00-AC11-D341-808F-67998C3E187F}" type="presOf" srcId="{D1C6BCC3-C2BF-41D5-9CB7-B1EFF73F7BCC}" destId="{B9AE8FA6-3BCD-BF40-A218-969F9BB6E5BE}" srcOrd="0" destOrd="0" presId="urn:microsoft.com/office/officeart/2005/8/layout/hierarchy1"/>
    <dgm:cxn modelId="{B4D3E908-939C-499F-A233-0079AE4C2853}" srcId="{3731322F-77E0-4855-B839-94DDAF3BB8AF}" destId="{7F3905E2-6C70-4B95-BA1E-F840BE8892CB}" srcOrd="0" destOrd="0" parTransId="{9EECB9CE-C9B3-45A0-A543-2D4323C37566}" sibTransId="{61147092-6928-46F0-A625-001DE8446848}"/>
    <dgm:cxn modelId="{C951A30D-6CC9-6448-8CCB-AAA572C0721B}" type="presOf" srcId="{3731322F-77E0-4855-B839-94DDAF3BB8AF}" destId="{E9AAC33E-C2BA-A742-A6A0-B64CEA2D2819}" srcOrd="0" destOrd="0" presId="urn:microsoft.com/office/officeart/2005/8/layout/hierarchy1"/>
    <dgm:cxn modelId="{7F1CA325-7322-4C86-9007-805ECCC9600C}" srcId="{ED6BC8B6-9B2F-432E-9245-7AEFF812CE5B}" destId="{D1C6BCC3-C2BF-41D5-9CB7-B1EFF73F7BCC}" srcOrd="1" destOrd="0" parTransId="{E2A6A078-E209-47F1-9CD4-DDD7F754FC77}" sibTransId="{16F0976A-9E2F-4CBB-968E-446B32F5CA2B}"/>
    <dgm:cxn modelId="{BEB63D3B-B3E6-6245-92C2-04D403D69EAC}" type="presOf" srcId="{CEB1E8EA-2636-459F-9CFD-A95A7A872B6D}" destId="{0FFC8B20-B9AD-6541-B671-227072AFD20D}" srcOrd="0" destOrd="0" presId="urn:microsoft.com/office/officeart/2005/8/layout/hierarchy1"/>
    <dgm:cxn modelId="{40F3B548-D745-5F41-A502-1ECA4D48ACA1}" type="presOf" srcId="{DA81F354-BD74-498E-B6D5-5C4786D05B82}" destId="{62A4DE9D-8A7A-D54D-8CAE-0BE767CB1B07}" srcOrd="0" destOrd="0" presId="urn:microsoft.com/office/officeart/2005/8/layout/hierarchy1"/>
    <dgm:cxn modelId="{689C2251-F5B2-7145-9663-DEE0FA481417}" type="presOf" srcId="{664ECE1F-9924-46ED-AEB9-85EDE9B5BB89}" destId="{7EEC0AB5-2E87-1347-9EF4-E6CFA16A541F}" srcOrd="0" destOrd="0" presId="urn:microsoft.com/office/officeart/2005/8/layout/hierarchy1"/>
    <dgm:cxn modelId="{89D77160-26FA-464C-9DDA-334CBE877179}" srcId="{3731322F-77E0-4855-B839-94DDAF3BB8AF}" destId="{ED6BC8B6-9B2F-432E-9245-7AEFF812CE5B}" srcOrd="2" destOrd="0" parTransId="{718B4505-8806-4126-BAB5-D553C3B168BF}" sibTransId="{FADF6AEE-5890-4B8F-995D-9795C20E7C26}"/>
    <dgm:cxn modelId="{9F5A1174-3D61-4525-960B-245EED5E998E}" srcId="{ED6BC8B6-9B2F-432E-9245-7AEFF812CE5B}" destId="{DA81F354-BD74-498E-B6D5-5C4786D05B82}" srcOrd="0" destOrd="0" parTransId="{664ECE1F-9924-46ED-AEB9-85EDE9B5BB89}" sibTransId="{26C2C143-26CB-49D9-8E29-1C80F4141320}"/>
    <dgm:cxn modelId="{B8B51B81-4AAF-EB4E-B627-D01E15ADA280}" type="presOf" srcId="{ED6BC8B6-9B2F-432E-9245-7AEFF812CE5B}" destId="{7D13A6A6-CBDA-1349-9AB0-767A93035CA6}" srcOrd="0" destOrd="0" presId="urn:microsoft.com/office/officeart/2005/8/layout/hierarchy1"/>
    <dgm:cxn modelId="{86EEB0A4-35C1-4BDE-926D-ABF5A7716BC4}" srcId="{3731322F-77E0-4855-B839-94DDAF3BB8AF}" destId="{CEB1E8EA-2636-459F-9CFD-A95A7A872B6D}" srcOrd="1" destOrd="0" parTransId="{79D12B8D-B003-4ECC-B981-53EAE9C3B841}" sibTransId="{7C1ED33C-03AB-453C-8070-3C8684BAC8F4}"/>
    <dgm:cxn modelId="{5C6C7DD5-837A-E948-BC18-BE6E44758BB8}" type="presOf" srcId="{E2A6A078-E209-47F1-9CD4-DDD7F754FC77}" destId="{338DA603-91B6-814A-93A0-18BF0DD83159}" srcOrd="0" destOrd="0" presId="urn:microsoft.com/office/officeart/2005/8/layout/hierarchy1"/>
    <dgm:cxn modelId="{A382E3E7-857C-DF46-B918-7C4047EC14BF}" type="presOf" srcId="{7F3905E2-6C70-4B95-BA1E-F840BE8892CB}" destId="{5B6DDE2A-23F1-BA49-8B4E-1E5C6EA93355}" srcOrd="0" destOrd="0" presId="urn:microsoft.com/office/officeart/2005/8/layout/hierarchy1"/>
    <dgm:cxn modelId="{38D5267B-710C-D84D-8BA4-9DD76B0B7F8F}" type="presParOf" srcId="{E9AAC33E-C2BA-A742-A6A0-B64CEA2D2819}" destId="{5E690DE1-6831-344D-A555-4D008923BC53}" srcOrd="0" destOrd="0" presId="urn:microsoft.com/office/officeart/2005/8/layout/hierarchy1"/>
    <dgm:cxn modelId="{650B2E8F-59DF-FF4E-B398-3F3448A103D9}" type="presParOf" srcId="{5E690DE1-6831-344D-A555-4D008923BC53}" destId="{8BE16A6B-B8B3-5648-B995-E83284E5AF42}" srcOrd="0" destOrd="0" presId="urn:microsoft.com/office/officeart/2005/8/layout/hierarchy1"/>
    <dgm:cxn modelId="{ADF3A0DD-2D05-5C4B-9336-C5474A63DE0E}" type="presParOf" srcId="{8BE16A6B-B8B3-5648-B995-E83284E5AF42}" destId="{E14E4B85-A8B2-CB43-B0F9-5D0757A4AEB0}" srcOrd="0" destOrd="0" presId="urn:microsoft.com/office/officeart/2005/8/layout/hierarchy1"/>
    <dgm:cxn modelId="{C1F48F21-9BDF-DE4A-A955-CA5BBE84068D}" type="presParOf" srcId="{8BE16A6B-B8B3-5648-B995-E83284E5AF42}" destId="{5B6DDE2A-23F1-BA49-8B4E-1E5C6EA93355}" srcOrd="1" destOrd="0" presId="urn:microsoft.com/office/officeart/2005/8/layout/hierarchy1"/>
    <dgm:cxn modelId="{F1BFF70E-2879-5B4B-A665-904432060353}" type="presParOf" srcId="{5E690DE1-6831-344D-A555-4D008923BC53}" destId="{4EFE87F1-1E62-F148-8B3D-3FFDDA82F216}" srcOrd="1" destOrd="0" presId="urn:microsoft.com/office/officeart/2005/8/layout/hierarchy1"/>
    <dgm:cxn modelId="{69677828-726A-3248-8E11-123175458B62}" type="presParOf" srcId="{E9AAC33E-C2BA-A742-A6A0-B64CEA2D2819}" destId="{8A549E39-62BE-3141-AA2D-1AFD680F45F3}" srcOrd="1" destOrd="0" presId="urn:microsoft.com/office/officeart/2005/8/layout/hierarchy1"/>
    <dgm:cxn modelId="{3FEB0C38-0828-DB46-AF1C-3CFFF086B13D}" type="presParOf" srcId="{8A549E39-62BE-3141-AA2D-1AFD680F45F3}" destId="{2940B675-01AD-E042-A317-91D64E224602}" srcOrd="0" destOrd="0" presId="urn:microsoft.com/office/officeart/2005/8/layout/hierarchy1"/>
    <dgm:cxn modelId="{6945526F-1E64-4F45-A225-C30426789548}" type="presParOf" srcId="{2940B675-01AD-E042-A317-91D64E224602}" destId="{5FDDAB39-94D7-D543-96F7-B2A94369527E}" srcOrd="0" destOrd="0" presId="urn:microsoft.com/office/officeart/2005/8/layout/hierarchy1"/>
    <dgm:cxn modelId="{AABFA302-B7DD-1845-BF82-9911BCCA78F1}" type="presParOf" srcId="{2940B675-01AD-E042-A317-91D64E224602}" destId="{0FFC8B20-B9AD-6541-B671-227072AFD20D}" srcOrd="1" destOrd="0" presId="urn:microsoft.com/office/officeart/2005/8/layout/hierarchy1"/>
    <dgm:cxn modelId="{728109D5-373F-DF48-8A85-D9A819AB4F69}" type="presParOf" srcId="{8A549E39-62BE-3141-AA2D-1AFD680F45F3}" destId="{212FF48F-6117-814F-94E8-F5C0057ABAA3}" srcOrd="1" destOrd="0" presId="urn:microsoft.com/office/officeart/2005/8/layout/hierarchy1"/>
    <dgm:cxn modelId="{0680A702-5DF2-8046-92F7-0BD89088D81A}" type="presParOf" srcId="{E9AAC33E-C2BA-A742-A6A0-B64CEA2D2819}" destId="{2EA77CD3-4484-844A-8299-A047B77F5986}" srcOrd="2" destOrd="0" presId="urn:microsoft.com/office/officeart/2005/8/layout/hierarchy1"/>
    <dgm:cxn modelId="{13A93EC5-25B6-5146-95D3-7648A4E9851A}" type="presParOf" srcId="{2EA77CD3-4484-844A-8299-A047B77F5986}" destId="{01928632-A417-7042-A30F-B6B164DBBF24}" srcOrd="0" destOrd="0" presId="urn:microsoft.com/office/officeart/2005/8/layout/hierarchy1"/>
    <dgm:cxn modelId="{F8C8BADB-4F5E-9C46-84FC-20306DEEF51D}" type="presParOf" srcId="{01928632-A417-7042-A30F-B6B164DBBF24}" destId="{BA530BF1-9015-C54E-BF6D-85550D5CAE31}" srcOrd="0" destOrd="0" presId="urn:microsoft.com/office/officeart/2005/8/layout/hierarchy1"/>
    <dgm:cxn modelId="{CC28032C-6500-9744-9BB5-B595DF0CAA4A}" type="presParOf" srcId="{01928632-A417-7042-A30F-B6B164DBBF24}" destId="{7D13A6A6-CBDA-1349-9AB0-767A93035CA6}" srcOrd="1" destOrd="0" presId="urn:microsoft.com/office/officeart/2005/8/layout/hierarchy1"/>
    <dgm:cxn modelId="{4DA16C65-48D1-E944-9EC3-970FAD4C2DF6}" type="presParOf" srcId="{2EA77CD3-4484-844A-8299-A047B77F5986}" destId="{4E0D59DC-033A-6541-996B-C4B7D45F0110}" srcOrd="1" destOrd="0" presId="urn:microsoft.com/office/officeart/2005/8/layout/hierarchy1"/>
    <dgm:cxn modelId="{28570EB0-70DB-1C40-88D8-A8C435CBA609}" type="presParOf" srcId="{4E0D59DC-033A-6541-996B-C4B7D45F0110}" destId="{7EEC0AB5-2E87-1347-9EF4-E6CFA16A541F}" srcOrd="0" destOrd="0" presId="urn:microsoft.com/office/officeart/2005/8/layout/hierarchy1"/>
    <dgm:cxn modelId="{5BB5ED70-8AAE-5B45-9656-3959D2E69843}" type="presParOf" srcId="{4E0D59DC-033A-6541-996B-C4B7D45F0110}" destId="{67096CE3-5732-4941-A163-D69D8768D842}" srcOrd="1" destOrd="0" presId="urn:microsoft.com/office/officeart/2005/8/layout/hierarchy1"/>
    <dgm:cxn modelId="{DAF454CB-CC05-D24F-84C4-7CDBE6A377FF}" type="presParOf" srcId="{67096CE3-5732-4941-A163-D69D8768D842}" destId="{93967F9C-724E-4C41-85D9-578168C34F9D}" srcOrd="0" destOrd="0" presId="urn:microsoft.com/office/officeart/2005/8/layout/hierarchy1"/>
    <dgm:cxn modelId="{89F761A5-39A1-6A4F-AB42-8BC23FD9ABEB}" type="presParOf" srcId="{93967F9C-724E-4C41-85D9-578168C34F9D}" destId="{B6E8763F-6E2C-F447-A880-644A6A5DFA5B}" srcOrd="0" destOrd="0" presId="urn:microsoft.com/office/officeart/2005/8/layout/hierarchy1"/>
    <dgm:cxn modelId="{6E4EB572-56BB-5644-8E42-3E32E0D44B3E}" type="presParOf" srcId="{93967F9C-724E-4C41-85D9-578168C34F9D}" destId="{62A4DE9D-8A7A-D54D-8CAE-0BE767CB1B07}" srcOrd="1" destOrd="0" presId="urn:microsoft.com/office/officeart/2005/8/layout/hierarchy1"/>
    <dgm:cxn modelId="{BD93ADDD-6BF3-2344-A815-F19D956E4838}" type="presParOf" srcId="{67096CE3-5732-4941-A163-D69D8768D842}" destId="{BA9B732E-6AC8-A246-8228-84277E16A982}" srcOrd="1" destOrd="0" presId="urn:microsoft.com/office/officeart/2005/8/layout/hierarchy1"/>
    <dgm:cxn modelId="{99D7758D-14B2-6E47-9D0A-AD9B888B49C4}" type="presParOf" srcId="{4E0D59DC-033A-6541-996B-C4B7D45F0110}" destId="{338DA603-91B6-814A-93A0-18BF0DD83159}" srcOrd="2" destOrd="0" presId="urn:microsoft.com/office/officeart/2005/8/layout/hierarchy1"/>
    <dgm:cxn modelId="{D9C0CCFF-C234-3F45-BE51-EFFA08BB2AC7}" type="presParOf" srcId="{4E0D59DC-033A-6541-996B-C4B7D45F0110}" destId="{283C2287-EBA5-264F-B65E-9DBD86E83373}" srcOrd="3" destOrd="0" presId="urn:microsoft.com/office/officeart/2005/8/layout/hierarchy1"/>
    <dgm:cxn modelId="{C6E98FF1-5F85-4E40-88FE-444CBE43BEC4}" type="presParOf" srcId="{283C2287-EBA5-264F-B65E-9DBD86E83373}" destId="{E86A30EE-A9F6-6741-816C-48B53F01FA95}" srcOrd="0" destOrd="0" presId="urn:microsoft.com/office/officeart/2005/8/layout/hierarchy1"/>
    <dgm:cxn modelId="{B1C34C04-D846-D443-A767-E3662A636478}" type="presParOf" srcId="{E86A30EE-A9F6-6741-816C-48B53F01FA95}" destId="{7E2A9126-0E4C-CF46-9D4A-0A969AC5DF05}" srcOrd="0" destOrd="0" presId="urn:microsoft.com/office/officeart/2005/8/layout/hierarchy1"/>
    <dgm:cxn modelId="{911F109E-B6DA-3647-8E28-4B8DC0394C72}" type="presParOf" srcId="{E86A30EE-A9F6-6741-816C-48B53F01FA95}" destId="{B9AE8FA6-3BCD-BF40-A218-969F9BB6E5BE}" srcOrd="1" destOrd="0" presId="urn:microsoft.com/office/officeart/2005/8/layout/hierarchy1"/>
    <dgm:cxn modelId="{D44C26C9-0670-3942-A19D-5BB5F429BDC1}" type="presParOf" srcId="{283C2287-EBA5-264F-B65E-9DBD86E83373}" destId="{5801B136-1CDF-8942-BCDE-51DDBF0E1647}"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99A02F0-37AE-4924-8721-B5E5E44312F4}" type="doc">
      <dgm:prSet loTypeId="urn:microsoft.com/office/officeart/2005/8/layout/process4" loCatId="process" qsTypeId="urn:microsoft.com/office/officeart/2005/8/quickstyle/simple2" qsCatId="simple" csTypeId="urn:microsoft.com/office/officeart/2005/8/colors/accent3_2" csCatId="accent3" phldr="1"/>
      <dgm:spPr/>
      <dgm:t>
        <a:bodyPr/>
        <a:lstStyle/>
        <a:p>
          <a:endParaRPr lang="en-US"/>
        </a:p>
      </dgm:t>
    </dgm:pt>
    <dgm:pt modelId="{DFE69BEF-E025-4E5F-89F7-CDC03480CC3A}">
      <dgm:prSet custT="1"/>
      <dgm:spPr>
        <a:solidFill>
          <a:schemeClr val="accent4">
            <a:lumMod val="40000"/>
            <a:lumOff val="60000"/>
            <a:alpha val="99000"/>
          </a:schemeClr>
        </a:solidFill>
        <a:ln>
          <a:noFill/>
        </a:ln>
      </dgm:spPr>
      <dgm:t>
        <a:bodyPr/>
        <a:lstStyle/>
        <a:p>
          <a:r>
            <a:rPr lang="en-US" sz="3600" b="1" dirty="0">
              <a:solidFill>
                <a:schemeClr val="tx1"/>
              </a:solidFill>
              <a:latin typeface="Century Gothic" panose="020B0502020202020204" pitchFamily="34" charset="0"/>
            </a:rPr>
            <a:t>Thematic Analysis</a:t>
          </a:r>
          <a:endParaRPr lang="en-US" sz="3600" dirty="0">
            <a:solidFill>
              <a:schemeClr val="tx1"/>
            </a:solidFill>
            <a:latin typeface="Century Gothic" panose="020B0502020202020204" pitchFamily="34" charset="0"/>
          </a:endParaRPr>
        </a:p>
      </dgm:t>
    </dgm:pt>
    <dgm:pt modelId="{683A819D-E023-4077-B4FD-6F0A1C0050B9}" type="parTrans" cxnId="{B4F21DAD-EBAB-4BDB-A099-3996BC1EA560}">
      <dgm:prSet/>
      <dgm:spPr/>
      <dgm:t>
        <a:bodyPr/>
        <a:lstStyle/>
        <a:p>
          <a:endParaRPr lang="en-US"/>
        </a:p>
      </dgm:t>
    </dgm:pt>
    <dgm:pt modelId="{0A0169CB-57F4-4785-A157-E9F31BD5ED10}" type="sibTrans" cxnId="{B4F21DAD-EBAB-4BDB-A099-3996BC1EA560}">
      <dgm:prSet/>
      <dgm:spPr/>
      <dgm:t>
        <a:bodyPr/>
        <a:lstStyle/>
        <a:p>
          <a:endParaRPr lang="en-US"/>
        </a:p>
      </dgm:t>
    </dgm:pt>
    <dgm:pt modelId="{C300674D-CF2A-4AFC-90D6-7E367F64D0C1}">
      <dgm:prSet custT="1"/>
      <dgm:spPr>
        <a:solidFill>
          <a:schemeClr val="accent6">
            <a:lumMod val="40000"/>
            <a:lumOff val="60000"/>
          </a:schemeClr>
        </a:solidFill>
      </dgm:spPr>
      <dgm:t>
        <a:bodyPr/>
        <a:lstStyle/>
        <a:p>
          <a:r>
            <a:rPr lang="en-US" sz="3400" b="1" dirty="0">
              <a:solidFill>
                <a:schemeClr val="tx1"/>
              </a:solidFill>
              <a:latin typeface="Century Gothic" panose="020B0502020202020204" pitchFamily="34" charset="0"/>
            </a:rPr>
            <a:t>Four themes emerged</a:t>
          </a:r>
          <a:r>
            <a:rPr lang="en-US" sz="3400" b="1" dirty="0">
              <a:solidFill>
                <a:schemeClr val="tx1"/>
              </a:solidFill>
            </a:rPr>
            <a:t>:</a:t>
          </a:r>
        </a:p>
      </dgm:t>
    </dgm:pt>
    <dgm:pt modelId="{1DDE7CCE-B7A6-4E5D-8325-8461F09F61B3}" type="parTrans" cxnId="{D4353DA6-D675-4781-A757-5EAA6A5AC3F2}">
      <dgm:prSet/>
      <dgm:spPr/>
      <dgm:t>
        <a:bodyPr/>
        <a:lstStyle/>
        <a:p>
          <a:endParaRPr lang="en-US"/>
        </a:p>
      </dgm:t>
    </dgm:pt>
    <dgm:pt modelId="{05D4E12A-EC80-4811-BA61-2780D450A36E}" type="sibTrans" cxnId="{D4353DA6-D675-4781-A757-5EAA6A5AC3F2}">
      <dgm:prSet/>
      <dgm:spPr/>
      <dgm:t>
        <a:bodyPr/>
        <a:lstStyle/>
        <a:p>
          <a:endParaRPr lang="en-US"/>
        </a:p>
      </dgm:t>
    </dgm:pt>
    <dgm:pt modelId="{ED8C004C-2E84-443F-8368-26ADFF8B4AC1}">
      <dgm:prSet/>
      <dgm:spPr/>
      <dgm:t>
        <a:bodyPr/>
        <a:lstStyle/>
        <a:p>
          <a:r>
            <a:rPr lang="en-US" dirty="0">
              <a:latin typeface="Century Gothic" panose="020B0502020202020204" pitchFamily="34" charset="0"/>
            </a:rPr>
            <a:t>Organizational Cybersecurity Strategies and Infrastructure</a:t>
          </a:r>
        </a:p>
      </dgm:t>
    </dgm:pt>
    <dgm:pt modelId="{44767ACE-64CC-4856-B02F-64C990E91B7B}" type="parTrans" cxnId="{CF3105F0-7970-43A6-A202-D3818FE7E71A}">
      <dgm:prSet/>
      <dgm:spPr/>
      <dgm:t>
        <a:bodyPr/>
        <a:lstStyle/>
        <a:p>
          <a:endParaRPr lang="en-US"/>
        </a:p>
      </dgm:t>
    </dgm:pt>
    <dgm:pt modelId="{DFC2E5BF-6572-4C9E-94CD-CFC28BC1F746}" type="sibTrans" cxnId="{CF3105F0-7970-43A6-A202-D3818FE7E71A}">
      <dgm:prSet/>
      <dgm:spPr/>
      <dgm:t>
        <a:bodyPr/>
        <a:lstStyle/>
        <a:p>
          <a:endParaRPr lang="en-US"/>
        </a:p>
      </dgm:t>
    </dgm:pt>
    <dgm:pt modelId="{024C4EFF-DDC5-47A7-BC8D-F0B620655F63}">
      <dgm:prSet/>
      <dgm:spPr/>
      <dgm:t>
        <a:bodyPr/>
        <a:lstStyle/>
        <a:p>
          <a:r>
            <a:rPr lang="en-US" dirty="0">
              <a:latin typeface="Century Gothic" panose="020B0502020202020204" pitchFamily="34" charset="0"/>
            </a:rPr>
            <a:t>Cybersecurity Awareness and Training Culture</a:t>
          </a:r>
        </a:p>
      </dgm:t>
    </dgm:pt>
    <dgm:pt modelId="{132785CE-DDBD-422D-980D-B8DD38541EF3}" type="parTrans" cxnId="{CA8E70D0-97CD-44AD-8A7C-0695F4026585}">
      <dgm:prSet/>
      <dgm:spPr/>
      <dgm:t>
        <a:bodyPr/>
        <a:lstStyle/>
        <a:p>
          <a:endParaRPr lang="en-US"/>
        </a:p>
      </dgm:t>
    </dgm:pt>
    <dgm:pt modelId="{4A6BBB0E-6E54-4A77-9646-9EBEFF639CAC}" type="sibTrans" cxnId="{CA8E70D0-97CD-44AD-8A7C-0695F4026585}">
      <dgm:prSet/>
      <dgm:spPr/>
      <dgm:t>
        <a:bodyPr/>
        <a:lstStyle/>
        <a:p>
          <a:endParaRPr lang="en-US"/>
        </a:p>
      </dgm:t>
    </dgm:pt>
    <dgm:pt modelId="{A1824A15-7E26-42ED-9AAA-FD16B62A32C5}">
      <dgm:prSet/>
      <dgm:spPr/>
      <dgm:t>
        <a:bodyPr/>
        <a:lstStyle/>
        <a:p>
          <a:r>
            <a:rPr lang="en-US" dirty="0">
              <a:latin typeface="Century Gothic" panose="020B0502020202020204" pitchFamily="34" charset="0"/>
            </a:rPr>
            <a:t>Cybersecurity Culture and Organizational Commitment</a:t>
          </a:r>
        </a:p>
      </dgm:t>
    </dgm:pt>
    <dgm:pt modelId="{2922008C-F3E4-4876-B87D-B0339884CF37}" type="parTrans" cxnId="{A330A465-47E8-4905-A07A-6EFEA050B9AC}">
      <dgm:prSet/>
      <dgm:spPr/>
      <dgm:t>
        <a:bodyPr/>
        <a:lstStyle/>
        <a:p>
          <a:endParaRPr lang="en-US"/>
        </a:p>
      </dgm:t>
    </dgm:pt>
    <dgm:pt modelId="{0B476DBD-EECF-4BA8-AFFA-C9D24D795E8E}" type="sibTrans" cxnId="{A330A465-47E8-4905-A07A-6EFEA050B9AC}">
      <dgm:prSet/>
      <dgm:spPr/>
      <dgm:t>
        <a:bodyPr/>
        <a:lstStyle/>
        <a:p>
          <a:endParaRPr lang="en-US"/>
        </a:p>
      </dgm:t>
    </dgm:pt>
    <dgm:pt modelId="{5ABDF9E6-40F7-4FAC-A1A0-5CEC45431CC2}">
      <dgm:prSet/>
      <dgm:spPr/>
      <dgm:t>
        <a:bodyPr/>
        <a:lstStyle/>
        <a:p>
          <a:r>
            <a:rPr lang="en-US" dirty="0">
              <a:latin typeface="Century Gothic" panose="020B0502020202020204" pitchFamily="34" charset="0"/>
            </a:rPr>
            <a:t>Sustainability and Strategic Impact</a:t>
          </a:r>
        </a:p>
      </dgm:t>
    </dgm:pt>
    <dgm:pt modelId="{A24AFB1A-8353-4AC6-9D90-63B8F0A5AA83}" type="parTrans" cxnId="{EC144BE7-698E-47FB-A9C7-C1DD86BB81DE}">
      <dgm:prSet/>
      <dgm:spPr/>
      <dgm:t>
        <a:bodyPr/>
        <a:lstStyle/>
        <a:p>
          <a:endParaRPr lang="en-US"/>
        </a:p>
      </dgm:t>
    </dgm:pt>
    <dgm:pt modelId="{4CCF547E-129F-4966-B2D8-824227550B22}" type="sibTrans" cxnId="{EC144BE7-698E-47FB-A9C7-C1DD86BB81DE}">
      <dgm:prSet/>
      <dgm:spPr/>
      <dgm:t>
        <a:bodyPr/>
        <a:lstStyle/>
        <a:p>
          <a:endParaRPr lang="en-US"/>
        </a:p>
      </dgm:t>
    </dgm:pt>
    <dgm:pt modelId="{6712FE71-D77D-E144-952A-9EFA5683443E}" type="pres">
      <dgm:prSet presAssocID="{299A02F0-37AE-4924-8721-B5E5E44312F4}" presName="Name0" presStyleCnt="0">
        <dgm:presLayoutVars>
          <dgm:dir/>
          <dgm:animLvl val="lvl"/>
          <dgm:resizeHandles val="exact"/>
        </dgm:presLayoutVars>
      </dgm:prSet>
      <dgm:spPr/>
    </dgm:pt>
    <dgm:pt modelId="{05AB98FF-8E3A-5C45-A0C0-232B348F6F87}" type="pres">
      <dgm:prSet presAssocID="{C300674D-CF2A-4AFC-90D6-7E367F64D0C1}" presName="boxAndChildren" presStyleCnt="0"/>
      <dgm:spPr/>
    </dgm:pt>
    <dgm:pt modelId="{A206A8BA-524E-2447-A360-EB7645A94FBE}" type="pres">
      <dgm:prSet presAssocID="{C300674D-CF2A-4AFC-90D6-7E367F64D0C1}" presName="parentTextBox" presStyleLbl="node1" presStyleIdx="0" presStyleCnt="2"/>
      <dgm:spPr/>
    </dgm:pt>
    <dgm:pt modelId="{F8ED9C48-B324-0544-BFC0-137C898166B9}" type="pres">
      <dgm:prSet presAssocID="{C300674D-CF2A-4AFC-90D6-7E367F64D0C1}" presName="entireBox" presStyleLbl="node1" presStyleIdx="0" presStyleCnt="2"/>
      <dgm:spPr/>
    </dgm:pt>
    <dgm:pt modelId="{5193EE8A-BF3B-2D49-AAAB-FDAD524720BD}" type="pres">
      <dgm:prSet presAssocID="{C300674D-CF2A-4AFC-90D6-7E367F64D0C1}" presName="descendantBox" presStyleCnt="0"/>
      <dgm:spPr/>
    </dgm:pt>
    <dgm:pt modelId="{66032258-E68F-244B-80F7-7065CAC132CE}" type="pres">
      <dgm:prSet presAssocID="{ED8C004C-2E84-443F-8368-26ADFF8B4AC1}" presName="childTextBox" presStyleLbl="fgAccFollowNode1" presStyleIdx="0" presStyleCnt="4">
        <dgm:presLayoutVars>
          <dgm:bulletEnabled val="1"/>
        </dgm:presLayoutVars>
      </dgm:prSet>
      <dgm:spPr/>
    </dgm:pt>
    <dgm:pt modelId="{A377E583-1138-174F-B5BC-51A7C5117BE1}" type="pres">
      <dgm:prSet presAssocID="{024C4EFF-DDC5-47A7-BC8D-F0B620655F63}" presName="childTextBox" presStyleLbl="fgAccFollowNode1" presStyleIdx="1" presStyleCnt="4">
        <dgm:presLayoutVars>
          <dgm:bulletEnabled val="1"/>
        </dgm:presLayoutVars>
      </dgm:prSet>
      <dgm:spPr/>
    </dgm:pt>
    <dgm:pt modelId="{216A549B-59D7-1640-8B53-72A7619C07D8}" type="pres">
      <dgm:prSet presAssocID="{A1824A15-7E26-42ED-9AAA-FD16B62A32C5}" presName="childTextBox" presStyleLbl="fgAccFollowNode1" presStyleIdx="2" presStyleCnt="4">
        <dgm:presLayoutVars>
          <dgm:bulletEnabled val="1"/>
        </dgm:presLayoutVars>
      </dgm:prSet>
      <dgm:spPr/>
    </dgm:pt>
    <dgm:pt modelId="{89D29F27-C695-2746-915A-D99EE00DCBB1}" type="pres">
      <dgm:prSet presAssocID="{5ABDF9E6-40F7-4FAC-A1A0-5CEC45431CC2}" presName="childTextBox" presStyleLbl="fgAccFollowNode1" presStyleIdx="3" presStyleCnt="4">
        <dgm:presLayoutVars>
          <dgm:bulletEnabled val="1"/>
        </dgm:presLayoutVars>
      </dgm:prSet>
      <dgm:spPr/>
    </dgm:pt>
    <dgm:pt modelId="{E852A3FD-7955-0E4D-A12E-F00BA7C079CE}" type="pres">
      <dgm:prSet presAssocID="{0A0169CB-57F4-4785-A157-E9F31BD5ED10}" presName="sp" presStyleCnt="0"/>
      <dgm:spPr/>
    </dgm:pt>
    <dgm:pt modelId="{2F7E44B9-5FDD-9141-B056-70FA143DEFCB}" type="pres">
      <dgm:prSet presAssocID="{DFE69BEF-E025-4E5F-89F7-CDC03480CC3A}" presName="arrowAndChildren" presStyleCnt="0"/>
      <dgm:spPr/>
    </dgm:pt>
    <dgm:pt modelId="{A697FCCB-50B2-644E-9672-3EE86AF2BFEE}" type="pres">
      <dgm:prSet presAssocID="{DFE69BEF-E025-4E5F-89F7-CDC03480CC3A}" presName="parentTextArrow" presStyleLbl="node1" presStyleIdx="1" presStyleCnt="2" custLinFactNeighborX="-3833" custLinFactNeighborY="-74"/>
      <dgm:spPr/>
    </dgm:pt>
  </dgm:ptLst>
  <dgm:cxnLst>
    <dgm:cxn modelId="{A330A465-47E8-4905-A07A-6EFEA050B9AC}" srcId="{C300674D-CF2A-4AFC-90D6-7E367F64D0C1}" destId="{A1824A15-7E26-42ED-9AAA-FD16B62A32C5}" srcOrd="2" destOrd="0" parTransId="{2922008C-F3E4-4876-B87D-B0339884CF37}" sibTransId="{0B476DBD-EECF-4BA8-AFFA-C9D24D795E8E}"/>
    <dgm:cxn modelId="{19717A68-4A78-BE47-AFBF-304612E1783F}" type="presOf" srcId="{DFE69BEF-E025-4E5F-89F7-CDC03480CC3A}" destId="{A697FCCB-50B2-644E-9672-3EE86AF2BFEE}" srcOrd="0" destOrd="0" presId="urn:microsoft.com/office/officeart/2005/8/layout/process4"/>
    <dgm:cxn modelId="{2AD7EA88-3D05-2E4C-9FC2-DE43D337B2A9}" type="presOf" srcId="{ED8C004C-2E84-443F-8368-26ADFF8B4AC1}" destId="{66032258-E68F-244B-80F7-7065CAC132CE}" srcOrd="0" destOrd="0" presId="urn:microsoft.com/office/officeart/2005/8/layout/process4"/>
    <dgm:cxn modelId="{D4353DA6-D675-4781-A757-5EAA6A5AC3F2}" srcId="{299A02F0-37AE-4924-8721-B5E5E44312F4}" destId="{C300674D-CF2A-4AFC-90D6-7E367F64D0C1}" srcOrd="1" destOrd="0" parTransId="{1DDE7CCE-B7A6-4E5D-8325-8461F09F61B3}" sibTransId="{05D4E12A-EC80-4811-BA61-2780D450A36E}"/>
    <dgm:cxn modelId="{B4F21DAD-EBAB-4BDB-A099-3996BC1EA560}" srcId="{299A02F0-37AE-4924-8721-B5E5E44312F4}" destId="{DFE69BEF-E025-4E5F-89F7-CDC03480CC3A}" srcOrd="0" destOrd="0" parTransId="{683A819D-E023-4077-B4FD-6F0A1C0050B9}" sibTransId="{0A0169CB-57F4-4785-A157-E9F31BD5ED10}"/>
    <dgm:cxn modelId="{E17BC9C8-EC38-A441-81D5-C0B2D3E03C01}" type="presOf" srcId="{299A02F0-37AE-4924-8721-B5E5E44312F4}" destId="{6712FE71-D77D-E144-952A-9EFA5683443E}" srcOrd="0" destOrd="0" presId="urn:microsoft.com/office/officeart/2005/8/layout/process4"/>
    <dgm:cxn modelId="{CA8E70D0-97CD-44AD-8A7C-0695F4026585}" srcId="{C300674D-CF2A-4AFC-90D6-7E367F64D0C1}" destId="{024C4EFF-DDC5-47A7-BC8D-F0B620655F63}" srcOrd="1" destOrd="0" parTransId="{132785CE-DDBD-422D-980D-B8DD38541EF3}" sibTransId="{4A6BBB0E-6E54-4A77-9646-9EBEFF639CAC}"/>
    <dgm:cxn modelId="{BB174BDC-4264-4443-9F20-10F2A95A1079}" type="presOf" srcId="{024C4EFF-DDC5-47A7-BC8D-F0B620655F63}" destId="{A377E583-1138-174F-B5BC-51A7C5117BE1}" srcOrd="0" destOrd="0" presId="urn:microsoft.com/office/officeart/2005/8/layout/process4"/>
    <dgm:cxn modelId="{4A1093E0-3B3F-B34F-949D-38E464465B5B}" type="presOf" srcId="{A1824A15-7E26-42ED-9AAA-FD16B62A32C5}" destId="{216A549B-59D7-1640-8B53-72A7619C07D8}" srcOrd="0" destOrd="0" presId="urn:microsoft.com/office/officeart/2005/8/layout/process4"/>
    <dgm:cxn modelId="{088AF8E5-89A5-C644-982C-EAB9108ACD54}" type="presOf" srcId="{C300674D-CF2A-4AFC-90D6-7E367F64D0C1}" destId="{F8ED9C48-B324-0544-BFC0-137C898166B9}" srcOrd="1" destOrd="0" presId="urn:microsoft.com/office/officeart/2005/8/layout/process4"/>
    <dgm:cxn modelId="{EC144BE7-698E-47FB-A9C7-C1DD86BB81DE}" srcId="{C300674D-CF2A-4AFC-90D6-7E367F64D0C1}" destId="{5ABDF9E6-40F7-4FAC-A1A0-5CEC45431CC2}" srcOrd="3" destOrd="0" parTransId="{A24AFB1A-8353-4AC6-9D90-63B8F0A5AA83}" sibTransId="{4CCF547E-129F-4966-B2D8-824227550B22}"/>
    <dgm:cxn modelId="{55F9E2EA-EC51-3F4F-95D2-246B6A131EEA}" type="presOf" srcId="{C300674D-CF2A-4AFC-90D6-7E367F64D0C1}" destId="{A206A8BA-524E-2447-A360-EB7645A94FBE}" srcOrd="0" destOrd="0" presId="urn:microsoft.com/office/officeart/2005/8/layout/process4"/>
    <dgm:cxn modelId="{A41449EF-D9F3-6144-B7AF-D8D7F507618A}" type="presOf" srcId="{5ABDF9E6-40F7-4FAC-A1A0-5CEC45431CC2}" destId="{89D29F27-C695-2746-915A-D99EE00DCBB1}" srcOrd="0" destOrd="0" presId="urn:microsoft.com/office/officeart/2005/8/layout/process4"/>
    <dgm:cxn modelId="{CF3105F0-7970-43A6-A202-D3818FE7E71A}" srcId="{C300674D-CF2A-4AFC-90D6-7E367F64D0C1}" destId="{ED8C004C-2E84-443F-8368-26ADFF8B4AC1}" srcOrd="0" destOrd="0" parTransId="{44767ACE-64CC-4856-B02F-64C990E91B7B}" sibTransId="{DFC2E5BF-6572-4C9E-94CD-CFC28BC1F746}"/>
    <dgm:cxn modelId="{27C44710-8DEC-194D-8618-B4F42DDF8CEE}" type="presParOf" srcId="{6712FE71-D77D-E144-952A-9EFA5683443E}" destId="{05AB98FF-8E3A-5C45-A0C0-232B348F6F87}" srcOrd="0" destOrd="0" presId="urn:microsoft.com/office/officeart/2005/8/layout/process4"/>
    <dgm:cxn modelId="{040932B6-959D-BC48-899F-0959DF3E86C5}" type="presParOf" srcId="{05AB98FF-8E3A-5C45-A0C0-232B348F6F87}" destId="{A206A8BA-524E-2447-A360-EB7645A94FBE}" srcOrd="0" destOrd="0" presId="urn:microsoft.com/office/officeart/2005/8/layout/process4"/>
    <dgm:cxn modelId="{BC129E2A-6E2D-CA4D-8FC0-2532A48E391D}" type="presParOf" srcId="{05AB98FF-8E3A-5C45-A0C0-232B348F6F87}" destId="{F8ED9C48-B324-0544-BFC0-137C898166B9}" srcOrd="1" destOrd="0" presId="urn:microsoft.com/office/officeart/2005/8/layout/process4"/>
    <dgm:cxn modelId="{99BE32D3-50DB-0B4F-AE65-541514A344F1}" type="presParOf" srcId="{05AB98FF-8E3A-5C45-A0C0-232B348F6F87}" destId="{5193EE8A-BF3B-2D49-AAAB-FDAD524720BD}" srcOrd="2" destOrd="0" presId="urn:microsoft.com/office/officeart/2005/8/layout/process4"/>
    <dgm:cxn modelId="{235EE995-37BD-284A-97F7-D4EF576798EB}" type="presParOf" srcId="{5193EE8A-BF3B-2D49-AAAB-FDAD524720BD}" destId="{66032258-E68F-244B-80F7-7065CAC132CE}" srcOrd="0" destOrd="0" presId="urn:microsoft.com/office/officeart/2005/8/layout/process4"/>
    <dgm:cxn modelId="{D0F5DB24-EFE1-544F-B114-6310E072CCC7}" type="presParOf" srcId="{5193EE8A-BF3B-2D49-AAAB-FDAD524720BD}" destId="{A377E583-1138-174F-B5BC-51A7C5117BE1}" srcOrd="1" destOrd="0" presId="urn:microsoft.com/office/officeart/2005/8/layout/process4"/>
    <dgm:cxn modelId="{DE82126E-7187-3E49-9443-5A56A520A985}" type="presParOf" srcId="{5193EE8A-BF3B-2D49-AAAB-FDAD524720BD}" destId="{216A549B-59D7-1640-8B53-72A7619C07D8}" srcOrd="2" destOrd="0" presId="urn:microsoft.com/office/officeart/2005/8/layout/process4"/>
    <dgm:cxn modelId="{9F7428C3-F5F7-2646-AF3E-EBCD0DACE904}" type="presParOf" srcId="{5193EE8A-BF3B-2D49-AAAB-FDAD524720BD}" destId="{89D29F27-C695-2746-915A-D99EE00DCBB1}" srcOrd="3" destOrd="0" presId="urn:microsoft.com/office/officeart/2005/8/layout/process4"/>
    <dgm:cxn modelId="{17A10019-BFA9-5748-8F68-881022F77A75}" type="presParOf" srcId="{6712FE71-D77D-E144-952A-9EFA5683443E}" destId="{E852A3FD-7955-0E4D-A12E-F00BA7C079CE}" srcOrd="1" destOrd="0" presId="urn:microsoft.com/office/officeart/2005/8/layout/process4"/>
    <dgm:cxn modelId="{64AB5078-39F7-4543-A6A7-2AAD4899073C}" type="presParOf" srcId="{6712FE71-D77D-E144-952A-9EFA5683443E}" destId="{2F7E44B9-5FDD-9141-B056-70FA143DEFCB}" srcOrd="2" destOrd="0" presId="urn:microsoft.com/office/officeart/2005/8/layout/process4"/>
    <dgm:cxn modelId="{42B7A33C-23EE-1A42-8E48-9F752469558F}" type="presParOf" srcId="{2F7E44B9-5FDD-9141-B056-70FA143DEFCB}" destId="{A697FCCB-50B2-644E-9672-3EE86AF2BFEE}"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99A02F0-37AE-4924-8721-B5E5E44312F4}" type="doc">
      <dgm:prSet loTypeId="urn:microsoft.com/office/officeart/2005/8/layout/process4" loCatId="process" qsTypeId="urn:microsoft.com/office/officeart/2005/8/quickstyle/simple2" qsCatId="simple" csTypeId="urn:microsoft.com/office/officeart/2005/8/colors/accent3_2" csCatId="accent3" phldr="1"/>
      <dgm:spPr/>
      <dgm:t>
        <a:bodyPr/>
        <a:lstStyle/>
        <a:p>
          <a:endParaRPr lang="en-US"/>
        </a:p>
      </dgm:t>
    </dgm:pt>
    <dgm:pt modelId="{DFE69BEF-E025-4E5F-89F7-CDC03480CC3A}">
      <dgm:prSet custT="1"/>
      <dgm:spPr>
        <a:solidFill>
          <a:schemeClr val="accent4">
            <a:lumMod val="40000"/>
            <a:lumOff val="60000"/>
            <a:alpha val="99000"/>
          </a:schemeClr>
        </a:solidFill>
        <a:ln>
          <a:noFill/>
        </a:ln>
      </dgm:spPr>
      <dgm:t>
        <a:bodyPr/>
        <a:lstStyle/>
        <a:p>
          <a:r>
            <a:rPr lang="en-US" sz="3600" b="1" dirty="0">
              <a:solidFill>
                <a:schemeClr val="tx1"/>
              </a:solidFill>
              <a:latin typeface="Century Gothic" panose="020B0502020202020204" pitchFamily="34" charset="0"/>
            </a:rPr>
            <a:t>Thematic Analysis</a:t>
          </a:r>
          <a:endParaRPr lang="en-US" sz="3600" dirty="0">
            <a:solidFill>
              <a:schemeClr val="tx1"/>
            </a:solidFill>
            <a:latin typeface="Century Gothic" panose="020B0502020202020204" pitchFamily="34" charset="0"/>
          </a:endParaRPr>
        </a:p>
      </dgm:t>
    </dgm:pt>
    <dgm:pt modelId="{683A819D-E023-4077-B4FD-6F0A1C0050B9}" type="parTrans" cxnId="{B4F21DAD-EBAB-4BDB-A099-3996BC1EA560}">
      <dgm:prSet/>
      <dgm:spPr/>
      <dgm:t>
        <a:bodyPr/>
        <a:lstStyle/>
        <a:p>
          <a:endParaRPr lang="en-US"/>
        </a:p>
      </dgm:t>
    </dgm:pt>
    <dgm:pt modelId="{0A0169CB-57F4-4785-A157-E9F31BD5ED10}" type="sibTrans" cxnId="{B4F21DAD-EBAB-4BDB-A099-3996BC1EA560}">
      <dgm:prSet/>
      <dgm:spPr/>
      <dgm:t>
        <a:bodyPr/>
        <a:lstStyle/>
        <a:p>
          <a:endParaRPr lang="en-US"/>
        </a:p>
      </dgm:t>
    </dgm:pt>
    <dgm:pt modelId="{C300674D-CF2A-4AFC-90D6-7E367F64D0C1}">
      <dgm:prSet custT="1"/>
      <dgm:spPr>
        <a:solidFill>
          <a:schemeClr val="accent6">
            <a:lumMod val="40000"/>
            <a:lumOff val="60000"/>
          </a:schemeClr>
        </a:solidFill>
      </dgm:spPr>
      <dgm:t>
        <a:bodyPr/>
        <a:lstStyle/>
        <a:p>
          <a:r>
            <a:rPr lang="en-US" sz="3400" b="1" dirty="0">
              <a:solidFill>
                <a:schemeClr val="tx1"/>
              </a:solidFill>
              <a:latin typeface="Century Gothic" panose="020B0502020202020204" pitchFamily="34" charset="0"/>
            </a:rPr>
            <a:t>Four themes emerged</a:t>
          </a:r>
          <a:r>
            <a:rPr lang="en-US" sz="3400" b="1" dirty="0">
              <a:solidFill>
                <a:schemeClr val="tx1"/>
              </a:solidFill>
            </a:rPr>
            <a:t>:</a:t>
          </a:r>
        </a:p>
      </dgm:t>
    </dgm:pt>
    <dgm:pt modelId="{1DDE7CCE-B7A6-4E5D-8325-8461F09F61B3}" type="parTrans" cxnId="{D4353DA6-D675-4781-A757-5EAA6A5AC3F2}">
      <dgm:prSet/>
      <dgm:spPr/>
      <dgm:t>
        <a:bodyPr/>
        <a:lstStyle/>
        <a:p>
          <a:endParaRPr lang="en-US"/>
        </a:p>
      </dgm:t>
    </dgm:pt>
    <dgm:pt modelId="{05D4E12A-EC80-4811-BA61-2780D450A36E}" type="sibTrans" cxnId="{D4353DA6-D675-4781-A757-5EAA6A5AC3F2}">
      <dgm:prSet/>
      <dgm:spPr/>
      <dgm:t>
        <a:bodyPr/>
        <a:lstStyle/>
        <a:p>
          <a:endParaRPr lang="en-US"/>
        </a:p>
      </dgm:t>
    </dgm:pt>
    <dgm:pt modelId="{ED8C004C-2E84-443F-8368-26ADFF8B4AC1}">
      <dgm:prSet/>
      <dgm:spPr/>
      <dgm:t>
        <a:bodyPr/>
        <a:lstStyle/>
        <a:p>
          <a:r>
            <a:rPr lang="en-US" dirty="0">
              <a:latin typeface="Century Gothic" panose="020B0502020202020204" pitchFamily="34" charset="0"/>
            </a:rPr>
            <a:t>Organizational Cybersecurity Strategies and Infrastructure</a:t>
          </a:r>
        </a:p>
      </dgm:t>
    </dgm:pt>
    <dgm:pt modelId="{44767ACE-64CC-4856-B02F-64C990E91B7B}" type="parTrans" cxnId="{CF3105F0-7970-43A6-A202-D3818FE7E71A}">
      <dgm:prSet/>
      <dgm:spPr/>
      <dgm:t>
        <a:bodyPr/>
        <a:lstStyle/>
        <a:p>
          <a:endParaRPr lang="en-US"/>
        </a:p>
      </dgm:t>
    </dgm:pt>
    <dgm:pt modelId="{DFC2E5BF-6572-4C9E-94CD-CFC28BC1F746}" type="sibTrans" cxnId="{CF3105F0-7970-43A6-A202-D3818FE7E71A}">
      <dgm:prSet/>
      <dgm:spPr/>
      <dgm:t>
        <a:bodyPr/>
        <a:lstStyle/>
        <a:p>
          <a:endParaRPr lang="en-US"/>
        </a:p>
      </dgm:t>
    </dgm:pt>
    <dgm:pt modelId="{024C4EFF-DDC5-47A7-BC8D-F0B620655F63}">
      <dgm:prSet/>
      <dgm:spPr/>
      <dgm:t>
        <a:bodyPr/>
        <a:lstStyle/>
        <a:p>
          <a:r>
            <a:rPr lang="en-US" dirty="0">
              <a:latin typeface="Century Gothic" panose="020B0502020202020204" pitchFamily="34" charset="0"/>
            </a:rPr>
            <a:t>Cybersecurity Awareness and Training Culture</a:t>
          </a:r>
        </a:p>
      </dgm:t>
    </dgm:pt>
    <dgm:pt modelId="{132785CE-DDBD-422D-980D-B8DD38541EF3}" type="parTrans" cxnId="{CA8E70D0-97CD-44AD-8A7C-0695F4026585}">
      <dgm:prSet/>
      <dgm:spPr/>
      <dgm:t>
        <a:bodyPr/>
        <a:lstStyle/>
        <a:p>
          <a:endParaRPr lang="en-US"/>
        </a:p>
      </dgm:t>
    </dgm:pt>
    <dgm:pt modelId="{4A6BBB0E-6E54-4A77-9646-9EBEFF639CAC}" type="sibTrans" cxnId="{CA8E70D0-97CD-44AD-8A7C-0695F4026585}">
      <dgm:prSet/>
      <dgm:spPr/>
      <dgm:t>
        <a:bodyPr/>
        <a:lstStyle/>
        <a:p>
          <a:endParaRPr lang="en-US"/>
        </a:p>
      </dgm:t>
    </dgm:pt>
    <dgm:pt modelId="{A1824A15-7E26-42ED-9AAA-FD16B62A32C5}">
      <dgm:prSet/>
      <dgm:spPr/>
      <dgm:t>
        <a:bodyPr/>
        <a:lstStyle/>
        <a:p>
          <a:r>
            <a:rPr lang="en-US" dirty="0">
              <a:latin typeface="Century Gothic" panose="020B0502020202020204" pitchFamily="34" charset="0"/>
            </a:rPr>
            <a:t>Cybersecurity Culture and Organizational Commitment</a:t>
          </a:r>
        </a:p>
      </dgm:t>
    </dgm:pt>
    <dgm:pt modelId="{2922008C-F3E4-4876-B87D-B0339884CF37}" type="parTrans" cxnId="{A330A465-47E8-4905-A07A-6EFEA050B9AC}">
      <dgm:prSet/>
      <dgm:spPr/>
      <dgm:t>
        <a:bodyPr/>
        <a:lstStyle/>
        <a:p>
          <a:endParaRPr lang="en-US"/>
        </a:p>
      </dgm:t>
    </dgm:pt>
    <dgm:pt modelId="{0B476DBD-EECF-4BA8-AFFA-C9D24D795E8E}" type="sibTrans" cxnId="{A330A465-47E8-4905-A07A-6EFEA050B9AC}">
      <dgm:prSet/>
      <dgm:spPr/>
      <dgm:t>
        <a:bodyPr/>
        <a:lstStyle/>
        <a:p>
          <a:endParaRPr lang="en-US"/>
        </a:p>
      </dgm:t>
    </dgm:pt>
    <dgm:pt modelId="{5ABDF9E6-40F7-4FAC-A1A0-5CEC45431CC2}">
      <dgm:prSet/>
      <dgm:spPr/>
      <dgm:t>
        <a:bodyPr/>
        <a:lstStyle/>
        <a:p>
          <a:r>
            <a:rPr lang="en-US" dirty="0">
              <a:latin typeface="Century Gothic" panose="020B0502020202020204" pitchFamily="34" charset="0"/>
            </a:rPr>
            <a:t>Sustainability and Strategic Impact</a:t>
          </a:r>
        </a:p>
      </dgm:t>
    </dgm:pt>
    <dgm:pt modelId="{A24AFB1A-8353-4AC6-9D90-63B8F0A5AA83}" type="parTrans" cxnId="{EC144BE7-698E-47FB-A9C7-C1DD86BB81DE}">
      <dgm:prSet/>
      <dgm:spPr/>
      <dgm:t>
        <a:bodyPr/>
        <a:lstStyle/>
        <a:p>
          <a:endParaRPr lang="en-US"/>
        </a:p>
      </dgm:t>
    </dgm:pt>
    <dgm:pt modelId="{4CCF547E-129F-4966-B2D8-824227550B22}" type="sibTrans" cxnId="{EC144BE7-698E-47FB-A9C7-C1DD86BB81DE}">
      <dgm:prSet/>
      <dgm:spPr/>
      <dgm:t>
        <a:bodyPr/>
        <a:lstStyle/>
        <a:p>
          <a:endParaRPr lang="en-US"/>
        </a:p>
      </dgm:t>
    </dgm:pt>
    <dgm:pt modelId="{6712FE71-D77D-E144-952A-9EFA5683443E}" type="pres">
      <dgm:prSet presAssocID="{299A02F0-37AE-4924-8721-B5E5E44312F4}" presName="Name0" presStyleCnt="0">
        <dgm:presLayoutVars>
          <dgm:dir/>
          <dgm:animLvl val="lvl"/>
          <dgm:resizeHandles val="exact"/>
        </dgm:presLayoutVars>
      </dgm:prSet>
      <dgm:spPr/>
    </dgm:pt>
    <dgm:pt modelId="{05AB98FF-8E3A-5C45-A0C0-232B348F6F87}" type="pres">
      <dgm:prSet presAssocID="{C300674D-CF2A-4AFC-90D6-7E367F64D0C1}" presName="boxAndChildren" presStyleCnt="0"/>
      <dgm:spPr/>
    </dgm:pt>
    <dgm:pt modelId="{A206A8BA-524E-2447-A360-EB7645A94FBE}" type="pres">
      <dgm:prSet presAssocID="{C300674D-CF2A-4AFC-90D6-7E367F64D0C1}" presName="parentTextBox" presStyleLbl="node1" presStyleIdx="0" presStyleCnt="2"/>
      <dgm:spPr/>
    </dgm:pt>
    <dgm:pt modelId="{F8ED9C48-B324-0544-BFC0-137C898166B9}" type="pres">
      <dgm:prSet presAssocID="{C300674D-CF2A-4AFC-90D6-7E367F64D0C1}" presName="entireBox" presStyleLbl="node1" presStyleIdx="0" presStyleCnt="2"/>
      <dgm:spPr/>
    </dgm:pt>
    <dgm:pt modelId="{5193EE8A-BF3B-2D49-AAAB-FDAD524720BD}" type="pres">
      <dgm:prSet presAssocID="{C300674D-CF2A-4AFC-90D6-7E367F64D0C1}" presName="descendantBox" presStyleCnt="0"/>
      <dgm:spPr/>
    </dgm:pt>
    <dgm:pt modelId="{66032258-E68F-244B-80F7-7065CAC132CE}" type="pres">
      <dgm:prSet presAssocID="{ED8C004C-2E84-443F-8368-26ADFF8B4AC1}" presName="childTextBox" presStyleLbl="fgAccFollowNode1" presStyleIdx="0" presStyleCnt="4">
        <dgm:presLayoutVars>
          <dgm:bulletEnabled val="1"/>
        </dgm:presLayoutVars>
      </dgm:prSet>
      <dgm:spPr/>
    </dgm:pt>
    <dgm:pt modelId="{A377E583-1138-174F-B5BC-51A7C5117BE1}" type="pres">
      <dgm:prSet presAssocID="{024C4EFF-DDC5-47A7-BC8D-F0B620655F63}" presName="childTextBox" presStyleLbl="fgAccFollowNode1" presStyleIdx="1" presStyleCnt="4">
        <dgm:presLayoutVars>
          <dgm:bulletEnabled val="1"/>
        </dgm:presLayoutVars>
      </dgm:prSet>
      <dgm:spPr/>
    </dgm:pt>
    <dgm:pt modelId="{216A549B-59D7-1640-8B53-72A7619C07D8}" type="pres">
      <dgm:prSet presAssocID="{A1824A15-7E26-42ED-9AAA-FD16B62A32C5}" presName="childTextBox" presStyleLbl="fgAccFollowNode1" presStyleIdx="2" presStyleCnt="4">
        <dgm:presLayoutVars>
          <dgm:bulletEnabled val="1"/>
        </dgm:presLayoutVars>
      </dgm:prSet>
      <dgm:spPr/>
    </dgm:pt>
    <dgm:pt modelId="{89D29F27-C695-2746-915A-D99EE00DCBB1}" type="pres">
      <dgm:prSet presAssocID="{5ABDF9E6-40F7-4FAC-A1A0-5CEC45431CC2}" presName="childTextBox" presStyleLbl="fgAccFollowNode1" presStyleIdx="3" presStyleCnt="4">
        <dgm:presLayoutVars>
          <dgm:bulletEnabled val="1"/>
        </dgm:presLayoutVars>
      </dgm:prSet>
      <dgm:spPr/>
    </dgm:pt>
    <dgm:pt modelId="{E852A3FD-7955-0E4D-A12E-F00BA7C079CE}" type="pres">
      <dgm:prSet presAssocID="{0A0169CB-57F4-4785-A157-E9F31BD5ED10}" presName="sp" presStyleCnt="0"/>
      <dgm:spPr/>
    </dgm:pt>
    <dgm:pt modelId="{2F7E44B9-5FDD-9141-B056-70FA143DEFCB}" type="pres">
      <dgm:prSet presAssocID="{DFE69BEF-E025-4E5F-89F7-CDC03480CC3A}" presName="arrowAndChildren" presStyleCnt="0"/>
      <dgm:spPr/>
    </dgm:pt>
    <dgm:pt modelId="{A697FCCB-50B2-644E-9672-3EE86AF2BFEE}" type="pres">
      <dgm:prSet presAssocID="{DFE69BEF-E025-4E5F-89F7-CDC03480CC3A}" presName="parentTextArrow" presStyleLbl="node1" presStyleIdx="1" presStyleCnt="2" custLinFactNeighborX="-3833" custLinFactNeighborY="-74"/>
      <dgm:spPr/>
    </dgm:pt>
  </dgm:ptLst>
  <dgm:cxnLst>
    <dgm:cxn modelId="{A330A465-47E8-4905-A07A-6EFEA050B9AC}" srcId="{C300674D-CF2A-4AFC-90D6-7E367F64D0C1}" destId="{A1824A15-7E26-42ED-9AAA-FD16B62A32C5}" srcOrd="2" destOrd="0" parTransId="{2922008C-F3E4-4876-B87D-B0339884CF37}" sibTransId="{0B476DBD-EECF-4BA8-AFFA-C9D24D795E8E}"/>
    <dgm:cxn modelId="{19717A68-4A78-BE47-AFBF-304612E1783F}" type="presOf" srcId="{DFE69BEF-E025-4E5F-89F7-CDC03480CC3A}" destId="{A697FCCB-50B2-644E-9672-3EE86AF2BFEE}" srcOrd="0" destOrd="0" presId="urn:microsoft.com/office/officeart/2005/8/layout/process4"/>
    <dgm:cxn modelId="{2AD7EA88-3D05-2E4C-9FC2-DE43D337B2A9}" type="presOf" srcId="{ED8C004C-2E84-443F-8368-26ADFF8B4AC1}" destId="{66032258-E68F-244B-80F7-7065CAC132CE}" srcOrd="0" destOrd="0" presId="urn:microsoft.com/office/officeart/2005/8/layout/process4"/>
    <dgm:cxn modelId="{D4353DA6-D675-4781-A757-5EAA6A5AC3F2}" srcId="{299A02F0-37AE-4924-8721-B5E5E44312F4}" destId="{C300674D-CF2A-4AFC-90D6-7E367F64D0C1}" srcOrd="1" destOrd="0" parTransId="{1DDE7CCE-B7A6-4E5D-8325-8461F09F61B3}" sibTransId="{05D4E12A-EC80-4811-BA61-2780D450A36E}"/>
    <dgm:cxn modelId="{B4F21DAD-EBAB-4BDB-A099-3996BC1EA560}" srcId="{299A02F0-37AE-4924-8721-B5E5E44312F4}" destId="{DFE69BEF-E025-4E5F-89F7-CDC03480CC3A}" srcOrd="0" destOrd="0" parTransId="{683A819D-E023-4077-B4FD-6F0A1C0050B9}" sibTransId="{0A0169CB-57F4-4785-A157-E9F31BD5ED10}"/>
    <dgm:cxn modelId="{E17BC9C8-EC38-A441-81D5-C0B2D3E03C01}" type="presOf" srcId="{299A02F0-37AE-4924-8721-B5E5E44312F4}" destId="{6712FE71-D77D-E144-952A-9EFA5683443E}" srcOrd="0" destOrd="0" presId="urn:microsoft.com/office/officeart/2005/8/layout/process4"/>
    <dgm:cxn modelId="{CA8E70D0-97CD-44AD-8A7C-0695F4026585}" srcId="{C300674D-CF2A-4AFC-90D6-7E367F64D0C1}" destId="{024C4EFF-DDC5-47A7-BC8D-F0B620655F63}" srcOrd="1" destOrd="0" parTransId="{132785CE-DDBD-422D-980D-B8DD38541EF3}" sibTransId="{4A6BBB0E-6E54-4A77-9646-9EBEFF639CAC}"/>
    <dgm:cxn modelId="{BB174BDC-4264-4443-9F20-10F2A95A1079}" type="presOf" srcId="{024C4EFF-DDC5-47A7-BC8D-F0B620655F63}" destId="{A377E583-1138-174F-B5BC-51A7C5117BE1}" srcOrd="0" destOrd="0" presId="urn:microsoft.com/office/officeart/2005/8/layout/process4"/>
    <dgm:cxn modelId="{4A1093E0-3B3F-B34F-949D-38E464465B5B}" type="presOf" srcId="{A1824A15-7E26-42ED-9AAA-FD16B62A32C5}" destId="{216A549B-59D7-1640-8B53-72A7619C07D8}" srcOrd="0" destOrd="0" presId="urn:microsoft.com/office/officeart/2005/8/layout/process4"/>
    <dgm:cxn modelId="{088AF8E5-89A5-C644-982C-EAB9108ACD54}" type="presOf" srcId="{C300674D-CF2A-4AFC-90D6-7E367F64D0C1}" destId="{F8ED9C48-B324-0544-BFC0-137C898166B9}" srcOrd="1" destOrd="0" presId="urn:microsoft.com/office/officeart/2005/8/layout/process4"/>
    <dgm:cxn modelId="{EC144BE7-698E-47FB-A9C7-C1DD86BB81DE}" srcId="{C300674D-CF2A-4AFC-90D6-7E367F64D0C1}" destId="{5ABDF9E6-40F7-4FAC-A1A0-5CEC45431CC2}" srcOrd="3" destOrd="0" parTransId="{A24AFB1A-8353-4AC6-9D90-63B8F0A5AA83}" sibTransId="{4CCF547E-129F-4966-B2D8-824227550B22}"/>
    <dgm:cxn modelId="{55F9E2EA-EC51-3F4F-95D2-246B6A131EEA}" type="presOf" srcId="{C300674D-CF2A-4AFC-90D6-7E367F64D0C1}" destId="{A206A8BA-524E-2447-A360-EB7645A94FBE}" srcOrd="0" destOrd="0" presId="urn:microsoft.com/office/officeart/2005/8/layout/process4"/>
    <dgm:cxn modelId="{A41449EF-D9F3-6144-B7AF-D8D7F507618A}" type="presOf" srcId="{5ABDF9E6-40F7-4FAC-A1A0-5CEC45431CC2}" destId="{89D29F27-C695-2746-915A-D99EE00DCBB1}" srcOrd="0" destOrd="0" presId="urn:microsoft.com/office/officeart/2005/8/layout/process4"/>
    <dgm:cxn modelId="{CF3105F0-7970-43A6-A202-D3818FE7E71A}" srcId="{C300674D-CF2A-4AFC-90D6-7E367F64D0C1}" destId="{ED8C004C-2E84-443F-8368-26ADFF8B4AC1}" srcOrd="0" destOrd="0" parTransId="{44767ACE-64CC-4856-B02F-64C990E91B7B}" sibTransId="{DFC2E5BF-6572-4C9E-94CD-CFC28BC1F746}"/>
    <dgm:cxn modelId="{27C44710-8DEC-194D-8618-B4F42DDF8CEE}" type="presParOf" srcId="{6712FE71-D77D-E144-952A-9EFA5683443E}" destId="{05AB98FF-8E3A-5C45-A0C0-232B348F6F87}" srcOrd="0" destOrd="0" presId="urn:microsoft.com/office/officeart/2005/8/layout/process4"/>
    <dgm:cxn modelId="{040932B6-959D-BC48-899F-0959DF3E86C5}" type="presParOf" srcId="{05AB98FF-8E3A-5C45-A0C0-232B348F6F87}" destId="{A206A8BA-524E-2447-A360-EB7645A94FBE}" srcOrd="0" destOrd="0" presId="urn:microsoft.com/office/officeart/2005/8/layout/process4"/>
    <dgm:cxn modelId="{BC129E2A-6E2D-CA4D-8FC0-2532A48E391D}" type="presParOf" srcId="{05AB98FF-8E3A-5C45-A0C0-232B348F6F87}" destId="{F8ED9C48-B324-0544-BFC0-137C898166B9}" srcOrd="1" destOrd="0" presId="urn:microsoft.com/office/officeart/2005/8/layout/process4"/>
    <dgm:cxn modelId="{99BE32D3-50DB-0B4F-AE65-541514A344F1}" type="presParOf" srcId="{05AB98FF-8E3A-5C45-A0C0-232B348F6F87}" destId="{5193EE8A-BF3B-2D49-AAAB-FDAD524720BD}" srcOrd="2" destOrd="0" presId="urn:microsoft.com/office/officeart/2005/8/layout/process4"/>
    <dgm:cxn modelId="{235EE995-37BD-284A-97F7-D4EF576798EB}" type="presParOf" srcId="{5193EE8A-BF3B-2D49-AAAB-FDAD524720BD}" destId="{66032258-E68F-244B-80F7-7065CAC132CE}" srcOrd="0" destOrd="0" presId="urn:microsoft.com/office/officeart/2005/8/layout/process4"/>
    <dgm:cxn modelId="{D0F5DB24-EFE1-544F-B114-6310E072CCC7}" type="presParOf" srcId="{5193EE8A-BF3B-2D49-AAAB-FDAD524720BD}" destId="{A377E583-1138-174F-B5BC-51A7C5117BE1}" srcOrd="1" destOrd="0" presId="urn:microsoft.com/office/officeart/2005/8/layout/process4"/>
    <dgm:cxn modelId="{DE82126E-7187-3E49-9443-5A56A520A985}" type="presParOf" srcId="{5193EE8A-BF3B-2D49-AAAB-FDAD524720BD}" destId="{216A549B-59D7-1640-8B53-72A7619C07D8}" srcOrd="2" destOrd="0" presId="urn:microsoft.com/office/officeart/2005/8/layout/process4"/>
    <dgm:cxn modelId="{9F7428C3-F5F7-2646-AF3E-EBCD0DACE904}" type="presParOf" srcId="{5193EE8A-BF3B-2D49-AAAB-FDAD524720BD}" destId="{89D29F27-C695-2746-915A-D99EE00DCBB1}" srcOrd="3" destOrd="0" presId="urn:microsoft.com/office/officeart/2005/8/layout/process4"/>
    <dgm:cxn modelId="{17A10019-BFA9-5748-8F68-881022F77A75}" type="presParOf" srcId="{6712FE71-D77D-E144-952A-9EFA5683443E}" destId="{E852A3FD-7955-0E4D-A12E-F00BA7C079CE}" srcOrd="1" destOrd="0" presId="urn:microsoft.com/office/officeart/2005/8/layout/process4"/>
    <dgm:cxn modelId="{64AB5078-39F7-4543-A6A7-2AAD4899073C}" type="presParOf" srcId="{6712FE71-D77D-E144-952A-9EFA5683443E}" destId="{2F7E44B9-5FDD-9141-B056-70FA143DEFCB}" srcOrd="2" destOrd="0" presId="urn:microsoft.com/office/officeart/2005/8/layout/process4"/>
    <dgm:cxn modelId="{42B7A33C-23EE-1A42-8E48-9F752469558F}" type="presParOf" srcId="{2F7E44B9-5FDD-9141-B056-70FA143DEFCB}" destId="{A697FCCB-50B2-644E-9672-3EE86AF2BFEE}"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803CB8B-206A-4C85-8367-38C0D27E426B}" type="doc">
      <dgm:prSet loTypeId="urn:microsoft.com/office/officeart/2016/7/layout/LinearBlockProcessNumbered" loCatId="process" qsTypeId="urn:microsoft.com/office/officeart/2005/8/quickstyle/simple4" qsCatId="simple" csTypeId="urn:microsoft.com/office/officeart/2005/8/colors/accent2_2" csCatId="accent2"/>
      <dgm:spPr/>
      <dgm:t>
        <a:bodyPr/>
        <a:lstStyle/>
        <a:p>
          <a:endParaRPr lang="en-US"/>
        </a:p>
      </dgm:t>
    </dgm:pt>
    <dgm:pt modelId="{3221B330-369E-42BF-A1AF-CE057315AEBB}">
      <dgm:prSet/>
      <dgm:spPr/>
      <dgm:t>
        <a:bodyPr/>
        <a:lstStyle/>
        <a:p>
          <a:r>
            <a:rPr lang="en-US" dirty="0">
              <a:latin typeface="Century Gothic" panose="020B0502020202020204" pitchFamily="34" charset="0"/>
            </a:rPr>
            <a:t>Cybersecurity is integral to SME sustainability in the digital economy.</a:t>
          </a:r>
        </a:p>
      </dgm:t>
    </dgm:pt>
    <dgm:pt modelId="{55C70DA7-A1DE-4070-9BB0-8D957D385ACF}" type="parTrans" cxnId="{413D0002-A9B6-45F0-8CD1-8ADD39DB5584}">
      <dgm:prSet/>
      <dgm:spPr/>
      <dgm:t>
        <a:bodyPr/>
        <a:lstStyle/>
        <a:p>
          <a:endParaRPr lang="en-US"/>
        </a:p>
      </dgm:t>
    </dgm:pt>
    <dgm:pt modelId="{BBC14759-2CD5-452E-B616-6CF6600599D4}" type="sibTrans" cxnId="{413D0002-A9B6-45F0-8CD1-8ADD39DB5584}">
      <dgm:prSet phldrT="01"/>
      <dgm:spPr/>
      <dgm:t>
        <a:bodyPr/>
        <a:lstStyle/>
        <a:p>
          <a:r>
            <a:rPr lang="en-US"/>
            <a:t>01</a:t>
          </a:r>
        </a:p>
      </dgm:t>
    </dgm:pt>
    <dgm:pt modelId="{6A789988-C120-419D-87FD-E8CED8F3EA1D}">
      <dgm:prSet/>
      <dgm:spPr/>
      <dgm:t>
        <a:bodyPr/>
        <a:lstStyle/>
        <a:p>
          <a:r>
            <a:rPr lang="en-US" dirty="0">
              <a:latin typeface="Century Gothic" panose="020B0502020202020204" pitchFamily="34" charset="0"/>
            </a:rPr>
            <a:t>Education and awareness serve as the most cost-effective and impactful defenses</a:t>
          </a:r>
          <a:r>
            <a:rPr lang="en-US" dirty="0"/>
            <a:t>.</a:t>
          </a:r>
        </a:p>
      </dgm:t>
    </dgm:pt>
    <dgm:pt modelId="{8E8641A9-9CBF-41F1-B004-6B2F3E5796A0}" type="parTrans" cxnId="{E85D5B94-3B0D-4E94-81C8-0D7E479967BF}">
      <dgm:prSet/>
      <dgm:spPr/>
      <dgm:t>
        <a:bodyPr/>
        <a:lstStyle/>
        <a:p>
          <a:endParaRPr lang="en-US"/>
        </a:p>
      </dgm:t>
    </dgm:pt>
    <dgm:pt modelId="{8AD8F1ED-55E6-4FFC-992C-EEA7085B86B7}" type="sibTrans" cxnId="{E85D5B94-3B0D-4E94-81C8-0D7E479967BF}">
      <dgm:prSet phldrT="02"/>
      <dgm:spPr/>
      <dgm:t>
        <a:bodyPr/>
        <a:lstStyle/>
        <a:p>
          <a:r>
            <a:rPr lang="en-US"/>
            <a:t>02</a:t>
          </a:r>
        </a:p>
      </dgm:t>
    </dgm:pt>
    <dgm:pt modelId="{D1A632D6-2BC5-4E47-926A-5FF6390DD5B6}">
      <dgm:prSet/>
      <dgm:spPr/>
      <dgm:t>
        <a:bodyPr/>
        <a:lstStyle/>
        <a:p>
          <a:r>
            <a:rPr lang="en-US" dirty="0">
              <a:latin typeface="Century Gothic" panose="020B0502020202020204" pitchFamily="34" charset="0"/>
            </a:rPr>
            <a:t>This study contributes actionable, context-specific strategies to strengthen SME resilience.</a:t>
          </a:r>
        </a:p>
      </dgm:t>
    </dgm:pt>
    <dgm:pt modelId="{4601B90E-8682-4CEE-898C-82B63BB7E952}" type="parTrans" cxnId="{EF995019-73D9-40C4-BB87-422CA0B4A02B}">
      <dgm:prSet/>
      <dgm:spPr/>
      <dgm:t>
        <a:bodyPr/>
        <a:lstStyle/>
        <a:p>
          <a:endParaRPr lang="en-US"/>
        </a:p>
      </dgm:t>
    </dgm:pt>
    <dgm:pt modelId="{5765FB16-DBDA-4EFA-AC47-E2EF915A93AC}" type="sibTrans" cxnId="{EF995019-73D9-40C4-BB87-422CA0B4A02B}">
      <dgm:prSet phldrT="03"/>
      <dgm:spPr/>
      <dgm:t>
        <a:bodyPr/>
        <a:lstStyle/>
        <a:p>
          <a:r>
            <a:rPr lang="en-US"/>
            <a:t>03</a:t>
          </a:r>
        </a:p>
      </dgm:t>
    </dgm:pt>
    <dgm:pt modelId="{B449BDE6-CBC0-40FE-AE13-A8D02A8992FC}">
      <dgm:prSet/>
      <dgm:spPr/>
      <dgm:t>
        <a:bodyPr/>
        <a:lstStyle/>
        <a:p>
          <a:r>
            <a:rPr lang="en-US" dirty="0">
              <a:latin typeface="Century Gothic" panose="020B0502020202020204" pitchFamily="34" charset="0"/>
            </a:rPr>
            <a:t>A proactive cybersecurity culture safeguards operational continuity and stakeholder trust.</a:t>
          </a:r>
        </a:p>
      </dgm:t>
    </dgm:pt>
    <dgm:pt modelId="{32C99D12-887D-4789-8E32-4F36EC62F08E}" type="parTrans" cxnId="{2EFFE9F1-89AA-47FF-9709-DE7B2118EBFE}">
      <dgm:prSet/>
      <dgm:spPr/>
      <dgm:t>
        <a:bodyPr/>
        <a:lstStyle/>
        <a:p>
          <a:endParaRPr lang="en-US"/>
        </a:p>
      </dgm:t>
    </dgm:pt>
    <dgm:pt modelId="{1E55EAAA-09A3-43DA-932A-FF530F774B85}" type="sibTrans" cxnId="{2EFFE9F1-89AA-47FF-9709-DE7B2118EBFE}">
      <dgm:prSet phldrT="04"/>
      <dgm:spPr/>
      <dgm:t>
        <a:bodyPr/>
        <a:lstStyle/>
        <a:p>
          <a:r>
            <a:rPr lang="en-US"/>
            <a:t>04</a:t>
          </a:r>
        </a:p>
      </dgm:t>
    </dgm:pt>
    <dgm:pt modelId="{1DFFB100-5003-974E-B799-F2FBE9914AF4}" type="pres">
      <dgm:prSet presAssocID="{7803CB8B-206A-4C85-8367-38C0D27E426B}" presName="Name0" presStyleCnt="0">
        <dgm:presLayoutVars>
          <dgm:animLvl val="lvl"/>
          <dgm:resizeHandles val="exact"/>
        </dgm:presLayoutVars>
      </dgm:prSet>
      <dgm:spPr/>
    </dgm:pt>
    <dgm:pt modelId="{824BFE7A-9542-EA4C-AA70-2432313B3B17}" type="pres">
      <dgm:prSet presAssocID="{3221B330-369E-42BF-A1AF-CE057315AEBB}" presName="compositeNode" presStyleCnt="0">
        <dgm:presLayoutVars>
          <dgm:bulletEnabled val="1"/>
        </dgm:presLayoutVars>
      </dgm:prSet>
      <dgm:spPr/>
    </dgm:pt>
    <dgm:pt modelId="{735DC817-D12D-1D4B-81B0-1C981EC096AC}" type="pres">
      <dgm:prSet presAssocID="{3221B330-369E-42BF-A1AF-CE057315AEBB}" presName="bgRect" presStyleLbl="alignNode1" presStyleIdx="0" presStyleCnt="4"/>
      <dgm:spPr/>
    </dgm:pt>
    <dgm:pt modelId="{329CEA7E-4EEA-5B47-8D14-88CA28991E44}" type="pres">
      <dgm:prSet presAssocID="{BBC14759-2CD5-452E-B616-6CF6600599D4}" presName="sibTransNodeRect" presStyleLbl="alignNode1" presStyleIdx="0" presStyleCnt="4">
        <dgm:presLayoutVars>
          <dgm:chMax val="0"/>
          <dgm:bulletEnabled val="1"/>
        </dgm:presLayoutVars>
      </dgm:prSet>
      <dgm:spPr/>
    </dgm:pt>
    <dgm:pt modelId="{32BA12CE-F0CC-AD4E-93F7-5FCAB131B2A2}" type="pres">
      <dgm:prSet presAssocID="{3221B330-369E-42BF-A1AF-CE057315AEBB}" presName="nodeRect" presStyleLbl="alignNode1" presStyleIdx="0" presStyleCnt="4">
        <dgm:presLayoutVars>
          <dgm:bulletEnabled val="1"/>
        </dgm:presLayoutVars>
      </dgm:prSet>
      <dgm:spPr/>
    </dgm:pt>
    <dgm:pt modelId="{4A79CB90-CD57-594A-A5BB-399CCE1E7EEF}" type="pres">
      <dgm:prSet presAssocID="{BBC14759-2CD5-452E-B616-6CF6600599D4}" presName="sibTrans" presStyleCnt="0"/>
      <dgm:spPr/>
    </dgm:pt>
    <dgm:pt modelId="{CCBB5733-0517-084B-8274-735DE727831E}" type="pres">
      <dgm:prSet presAssocID="{6A789988-C120-419D-87FD-E8CED8F3EA1D}" presName="compositeNode" presStyleCnt="0">
        <dgm:presLayoutVars>
          <dgm:bulletEnabled val="1"/>
        </dgm:presLayoutVars>
      </dgm:prSet>
      <dgm:spPr/>
    </dgm:pt>
    <dgm:pt modelId="{7CF7A997-3D5D-D849-9F62-BF544B16957D}" type="pres">
      <dgm:prSet presAssocID="{6A789988-C120-419D-87FD-E8CED8F3EA1D}" presName="bgRect" presStyleLbl="alignNode1" presStyleIdx="1" presStyleCnt="4"/>
      <dgm:spPr/>
    </dgm:pt>
    <dgm:pt modelId="{62BA6AF2-7334-7B4C-BEE7-C5D4B9017403}" type="pres">
      <dgm:prSet presAssocID="{8AD8F1ED-55E6-4FFC-992C-EEA7085B86B7}" presName="sibTransNodeRect" presStyleLbl="alignNode1" presStyleIdx="1" presStyleCnt="4">
        <dgm:presLayoutVars>
          <dgm:chMax val="0"/>
          <dgm:bulletEnabled val="1"/>
        </dgm:presLayoutVars>
      </dgm:prSet>
      <dgm:spPr/>
    </dgm:pt>
    <dgm:pt modelId="{9CF3C3D6-C045-AB49-B27D-1D3331D922C2}" type="pres">
      <dgm:prSet presAssocID="{6A789988-C120-419D-87FD-E8CED8F3EA1D}" presName="nodeRect" presStyleLbl="alignNode1" presStyleIdx="1" presStyleCnt="4">
        <dgm:presLayoutVars>
          <dgm:bulletEnabled val="1"/>
        </dgm:presLayoutVars>
      </dgm:prSet>
      <dgm:spPr/>
    </dgm:pt>
    <dgm:pt modelId="{F3D1E4D5-4A43-A746-B76C-308E81D313C6}" type="pres">
      <dgm:prSet presAssocID="{8AD8F1ED-55E6-4FFC-992C-EEA7085B86B7}" presName="sibTrans" presStyleCnt="0"/>
      <dgm:spPr/>
    </dgm:pt>
    <dgm:pt modelId="{BE237664-B5A0-4144-8605-B7EA84E2FE70}" type="pres">
      <dgm:prSet presAssocID="{D1A632D6-2BC5-4E47-926A-5FF6390DD5B6}" presName="compositeNode" presStyleCnt="0">
        <dgm:presLayoutVars>
          <dgm:bulletEnabled val="1"/>
        </dgm:presLayoutVars>
      </dgm:prSet>
      <dgm:spPr/>
    </dgm:pt>
    <dgm:pt modelId="{D4280403-00E4-CE43-801E-3F926DD9CEAA}" type="pres">
      <dgm:prSet presAssocID="{D1A632D6-2BC5-4E47-926A-5FF6390DD5B6}" presName="bgRect" presStyleLbl="alignNode1" presStyleIdx="2" presStyleCnt="4"/>
      <dgm:spPr/>
    </dgm:pt>
    <dgm:pt modelId="{94E6B357-5B99-B747-B7CE-0F016E7E080A}" type="pres">
      <dgm:prSet presAssocID="{5765FB16-DBDA-4EFA-AC47-E2EF915A93AC}" presName="sibTransNodeRect" presStyleLbl="alignNode1" presStyleIdx="2" presStyleCnt="4">
        <dgm:presLayoutVars>
          <dgm:chMax val="0"/>
          <dgm:bulletEnabled val="1"/>
        </dgm:presLayoutVars>
      </dgm:prSet>
      <dgm:spPr/>
    </dgm:pt>
    <dgm:pt modelId="{B11F8991-EAAA-9F4D-A8F6-707C64A7BF74}" type="pres">
      <dgm:prSet presAssocID="{D1A632D6-2BC5-4E47-926A-5FF6390DD5B6}" presName="nodeRect" presStyleLbl="alignNode1" presStyleIdx="2" presStyleCnt="4">
        <dgm:presLayoutVars>
          <dgm:bulletEnabled val="1"/>
        </dgm:presLayoutVars>
      </dgm:prSet>
      <dgm:spPr/>
    </dgm:pt>
    <dgm:pt modelId="{FED70C9E-3589-514A-91CD-66FEA9F221EA}" type="pres">
      <dgm:prSet presAssocID="{5765FB16-DBDA-4EFA-AC47-E2EF915A93AC}" presName="sibTrans" presStyleCnt="0"/>
      <dgm:spPr/>
    </dgm:pt>
    <dgm:pt modelId="{05042A2D-417A-234A-A40E-A1DBEF842A5F}" type="pres">
      <dgm:prSet presAssocID="{B449BDE6-CBC0-40FE-AE13-A8D02A8992FC}" presName="compositeNode" presStyleCnt="0">
        <dgm:presLayoutVars>
          <dgm:bulletEnabled val="1"/>
        </dgm:presLayoutVars>
      </dgm:prSet>
      <dgm:spPr/>
    </dgm:pt>
    <dgm:pt modelId="{B1DDA28B-5C81-EE47-B732-77CB6F25A0D7}" type="pres">
      <dgm:prSet presAssocID="{B449BDE6-CBC0-40FE-AE13-A8D02A8992FC}" presName="bgRect" presStyleLbl="alignNode1" presStyleIdx="3" presStyleCnt="4"/>
      <dgm:spPr/>
    </dgm:pt>
    <dgm:pt modelId="{92D0B96E-92EA-1047-93DF-2AF329E41882}" type="pres">
      <dgm:prSet presAssocID="{1E55EAAA-09A3-43DA-932A-FF530F774B85}" presName="sibTransNodeRect" presStyleLbl="alignNode1" presStyleIdx="3" presStyleCnt="4">
        <dgm:presLayoutVars>
          <dgm:chMax val="0"/>
          <dgm:bulletEnabled val="1"/>
        </dgm:presLayoutVars>
      </dgm:prSet>
      <dgm:spPr/>
    </dgm:pt>
    <dgm:pt modelId="{99886854-EACE-494F-9DFA-EFBCDDF87F02}" type="pres">
      <dgm:prSet presAssocID="{B449BDE6-CBC0-40FE-AE13-A8D02A8992FC}" presName="nodeRect" presStyleLbl="alignNode1" presStyleIdx="3" presStyleCnt="4">
        <dgm:presLayoutVars>
          <dgm:bulletEnabled val="1"/>
        </dgm:presLayoutVars>
      </dgm:prSet>
      <dgm:spPr/>
    </dgm:pt>
  </dgm:ptLst>
  <dgm:cxnLst>
    <dgm:cxn modelId="{413D0002-A9B6-45F0-8CD1-8ADD39DB5584}" srcId="{7803CB8B-206A-4C85-8367-38C0D27E426B}" destId="{3221B330-369E-42BF-A1AF-CE057315AEBB}" srcOrd="0" destOrd="0" parTransId="{55C70DA7-A1DE-4070-9BB0-8D957D385ACF}" sibTransId="{BBC14759-2CD5-452E-B616-6CF6600599D4}"/>
    <dgm:cxn modelId="{DD135A02-F85A-2045-A3B2-28603BEBA4DA}" type="presOf" srcId="{6A789988-C120-419D-87FD-E8CED8F3EA1D}" destId="{9CF3C3D6-C045-AB49-B27D-1D3331D922C2}" srcOrd="1" destOrd="0" presId="urn:microsoft.com/office/officeart/2016/7/layout/LinearBlockProcessNumbered"/>
    <dgm:cxn modelId="{752CC107-6E36-2944-94EC-954E93D2D20A}" type="presOf" srcId="{5765FB16-DBDA-4EFA-AC47-E2EF915A93AC}" destId="{94E6B357-5B99-B747-B7CE-0F016E7E080A}" srcOrd="0" destOrd="0" presId="urn:microsoft.com/office/officeart/2016/7/layout/LinearBlockProcessNumbered"/>
    <dgm:cxn modelId="{EF995019-73D9-40C4-BB87-422CA0B4A02B}" srcId="{7803CB8B-206A-4C85-8367-38C0D27E426B}" destId="{D1A632D6-2BC5-4E47-926A-5FF6390DD5B6}" srcOrd="2" destOrd="0" parTransId="{4601B90E-8682-4CEE-898C-82B63BB7E952}" sibTransId="{5765FB16-DBDA-4EFA-AC47-E2EF915A93AC}"/>
    <dgm:cxn modelId="{1557DF25-9042-0E43-A2A0-7A3603CF2EFA}" type="presOf" srcId="{6A789988-C120-419D-87FD-E8CED8F3EA1D}" destId="{7CF7A997-3D5D-D849-9F62-BF544B16957D}" srcOrd="0" destOrd="0" presId="urn:microsoft.com/office/officeart/2016/7/layout/LinearBlockProcessNumbered"/>
    <dgm:cxn modelId="{52D7873F-75F7-1344-A1A6-0EA88079D022}" type="presOf" srcId="{1E55EAAA-09A3-43DA-932A-FF530F774B85}" destId="{92D0B96E-92EA-1047-93DF-2AF329E41882}" srcOrd="0" destOrd="0" presId="urn:microsoft.com/office/officeart/2016/7/layout/LinearBlockProcessNumbered"/>
    <dgm:cxn modelId="{3068CA40-4C83-B14D-92E0-74B410C48F38}" type="presOf" srcId="{3221B330-369E-42BF-A1AF-CE057315AEBB}" destId="{32BA12CE-F0CC-AD4E-93F7-5FCAB131B2A2}" srcOrd="1" destOrd="0" presId="urn:microsoft.com/office/officeart/2016/7/layout/LinearBlockProcessNumbered"/>
    <dgm:cxn modelId="{64C82247-2EE3-BE4E-A3F1-D2E7BB0155FB}" type="presOf" srcId="{B449BDE6-CBC0-40FE-AE13-A8D02A8992FC}" destId="{99886854-EACE-494F-9DFA-EFBCDDF87F02}" srcOrd="1" destOrd="0" presId="urn:microsoft.com/office/officeart/2016/7/layout/LinearBlockProcessNumbered"/>
    <dgm:cxn modelId="{0A1A5B59-EA85-A245-BFCA-F7FA02E87F3F}" type="presOf" srcId="{D1A632D6-2BC5-4E47-926A-5FF6390DD5B6}" destId="{B11F8991-EAAA-9F4D-A8F6-707C64A7BF74}" srcOrd="1" destOrd="0" presId="urn:microsoft.com/office/officeart/2016/7/layout/LinearBlockProcessNumbered"/>
    <dgm:cxn modelId="{E85D5B94-3B0D-4E94-81C8-0D7E479967BF}" srcId="{7803CB8B-206A-4C85-8367-38C0D27E426B}" destId="{6A789988-C120-419D-87FD-E8CED8F3EA1D}" srcOrd="1" destOrd="0" parTransId="{8E8641A9-9CBF-41F1-B004-6B2F3E5796A0}" sibTransId="{8AD8F1ED-55E6-4FFC-992C-EEA7085B86B7}"/>
    <dgm:cxn modelId="{6116E0A9-E2B7-6948-9C3F-205C1783432F}" type="presOf" srcId="{8AD8F1ED-55E6-4FFC-992C-EEA7085B86B7}" destId="{62BA6AF2-7334-7B4C-BEE7-C5D4B9017403}" srcOrd="0" destOrd="0" presId="urn:microsoft.com/office/officeart/2016/7/layout/LinearBlockProcessNumbered"/>
    <dgm:cxn modelId="{E69C51AC-6EA3-734E-A660-A66DAA156688}" type="presOf" srcId="{BBC14759-2CD5-452E-B616-6CF6600599D4}" destId="{329CEA7E-4EEA-5B47-8D14-88CA28991E44}" srcOrd="0" destOrd="0" presId="urn:microsoft.com/office/officeart/2016/7/layout/LinearBlockProcessNumbered"/>
    <dgm:cxn modelId="{C2C374B8-E45E-E64E-8295-A537DCDBC817}" type="presOf" srcId="{3221B330-369E-42BF-A1AF-CE057315AEBB}" destId="{735DC817-D12D-1D4B-81B0-1C981EC096AC}" srcOrd="0" destOrd="0" presId="urn:microsoft.com/office/officeart/2016/7/layout/LinearBlockProcessNumbered"/>
    <dgm:cxn modelId="{CFD95BBB-1010-BE48-A383-1C43E3B2D854}" type="presOf" srcId="{D1A632D6-2BC5-4E47-926A-5FF6390DD5B6}" destId="{D4280403-00E4-CE43-801E-3F926DD9CEAA}" srcOrd="0" destOrd="0" presId="urn:microsoft.com/office/officeart/2016/7/layout/LinearBlockProcessNumbered"/>
    <dgm:cxn modelId="{78B90AC9-1C18-5D46-AC56-AC0C329632BE}" type="presOf" srcId="{7803CB8B-206A-4C85-8367-38C0D27E426B}" destId="{1DFFB100-5003-974E-B799-F2FBE9914AF4}" srcOrd="0" destOrd="0" presId="urn:microsoft.com/office/officeart/2016/7/layout/LinearBlockProcessNumbered"/>
    <dgm:cxn modelId="{2EFFE9F1-89AA-47FF-9709-DE7B2118EBFE}" srcId="{7803CB8B-206A-4C85-8367-38C0D27E426B}" destId="{B449BDE6-CBC0-40FE-AE13-A8D02A8992FC}" srcOrd="3" destOrd="0" parTransId="{32C99D12-887D-4789-8E32-4F36EC62F08E}" sibTransId="{1E55EAAA-09A3-43DA-932A-FF530F774B85}"/>
    <dgm:cxn modelId="{5F567AF2-FDC0-3D4D-AABF-221D51CC112B}" type="presOf" srcId="{B449BDE6-CBC0-40FE-AE13-A8D02A8992FC}" destId="{B1DDA28B-5C81-EE47-B732-77CB6F25A0D7}" srcOrd="0" destOrd="0" presId="urn:microsoft.com/office/officeart/2016/7/layout/LinearBlockProcessNumbered"/>
    <dgm:cxn modelId="{2DEF53D2-EBDA-5F4B-B89C-BA1C989BFA56}" type="presParOf" srcId="{1DFFB100-5003-974E-B799-F2FBE9914AF4}" destId="{824BFE7A-9542-EA4C-AA70-2432313B3B17}" srcOrd="0" destOrd="0" presId="urn:microsoft.com/office/officeart/2016/7/layout/LinearBlockProcessNumbered"/>
    <dgm:cxn modelId="{72CF1898-14B5-3546-8AC1-9D16DEEDD639}" type="presParOf" srcId="{824BFE7A-9542-EA4C-AA70-2432313B3B17}" destId="{735DC817-D12D-1D4B-81B0-1C981EC096AC}" srcOrd="0" destOrd="0" presId="urn:microsoft.com/office/officeart/2016/7/layout/LinearBlockProcessNumbered"/>
    <dgm:cxn modelId="{8AF23A94-384B-B243-9765-491A9B04421E}" type="presParOf" srcId="{824BFE7A-9542-EA4C-AA70-2432313B3B17}" destId="{329CEA7E-4EEA-5B47-8D14-88CA28991E44}" srcOrd="1" destOrd="0" presId="urn:microsoft.com/office/officeart/2016/7/layout/LinearBlockProcessNumbered"/>
    <dgm:cxn modelId="{A7AD0A33-3BF5-4646-9D4F-6B4DF6963416}" type="presParOf" srcId="{824BFE7A-9542-EA4C-AA70-2432313B3B17}" destId="{32BA12CE-F0CC-AD4E-93F7-5FCAB131B2A2}" srcOrd="2" destOrd="0" presId="urn:microsoft.com/office/officeart/2016/7/layout/LinearBlockProcessNumbered"/>
    <dgm:cxn modelId="{B5A993C6-8D5E-704C-86AE-7259B2051B4B}" type="presParOf" srcId="{1DFFB100-5003-974E-B799-F2FBE9914AF4}" destId="{4A79CB90-CD57-594A-A5BB-399CCE1E7EEF}" srcOrd="1" destOrd="0" presId="urn:microsoft.com/office/officeart/2016/7/layout/LinearBlockProcessNumbered"/>
    <dgm:cxn modelId="{87DE4139-BC67-D64C-8B43-111EC95AD710}" type="presParOf" srcId="{1DFFB100-5003-974E-B799-F2FBE9914AF4}" destId="{CCBB5733-0517-084B-8274-735DE727831E}" srcOrd="2" destOrd="0" presId="urn:microsoft.com/office/officeart/2016/7/layout/LinearBlockProcessNumbered"/>
    <dgm:cxn modelId="{B5730644-419A-C34D-A00D-4892CC201B04}" type="presParOf" srcId="{CCBB5733-0517-084B-8274-735DE727831E}" destId="{7CF7A997-3D5D-D849-9F62-BF544B16957D}" srcOrd="0" destOrd="0" presId="urn:microsoft.com/office/officeart/2016/7/layout/LinearBlockProcessNumbered"/>
    <dgm:cxn modelId="{372B2AAA-B6EB-5B4A-9690-2EDBEB661D23}" type="presParOf" srcId="{CCBB5733-0517-084B-8274-735DE727831E}" destId="{62BA6AF2-7334-7B4C-BEE7-C5D4B9017403}" srcOrd="1" destOrd="0" presId="urn:microsoft.com/office/officeart/2016/7/layout/LinearBlockProcessNumbered"/>
    <dgm:cxn modelId="{1F50A665-43FA-5A49-AE34-4E120EC09DE8}" type="presParOf" srcId="{CCBB5733-0517-084B-8274-735DE727831E}" destId="{9CF3C3D6-C045-AB49-B27D-1D3331D922C2}" srcOrd="2" destOrd="0" presId="urn:microsoft.com/office/officeart/2016/7/layout/LinearBlockProcessNumbered"/>
    <dgm:cxn modelId="{8E5CE9B3-1CAC-CD40-8D1C-2A50C957F002}" type="presParOf" srcId="{1DFFB100-5003-974E-B799-F2FBE9914AF4}" destId="{F3D1E4D5-4A43-A746-B76C-308E81D313C6}" srcOrd="3" destOrd="0" presId="urn:microsoft.com/office/officeart/2016/7/layout/LinearBlockProcessNumbered"/>
    <dgm:cxn modelId="{DFEBE21E-EFB7-BD44-9832-A7ECBF139258}" type="presParOf" srcId="{1DFFB100-5003-974E-B799-F2FBE9914AF4}" destId="{BE237664-B5A0-4144-8605-B7EA84E2FE70}" srcOrd="4" destOrd="0" presId="urn:microsoft.com/office/officeart/2016/7/layout/LinearBlockProcessNumbered"/>
    <dgm:cxn modelId="{67E02CD7-D7A2-0E47-845E-245F3181364E}" type="presParOf" srcId="{BE237664-B5A0-4144-8605-B7EA84E2FE70}" destId="{D4280403-00E4-CE43-801E-3F926DD9CEAA}" srcOrd="0" destOrd="0" presId="urn:microsoft.com/office/officeart/2016/7/layout/LinearBlockProcessNumbered"/>
    <dgm:cxn modelId="{566EF05D-BC41-6C43-A575-B76F056EF310}" type="presParOf" srcId="{BE237664-B5A0-4144-8605-B7EA84E2FE70}" destId="{94E6B357-5B99-B747-B7CE-0F016E7E080A}" srcOrd="1" destOrd="0" presId="urn:microsoft.com/office/officeart/2016/7/layout/LinearBlockProcessNumbered"/>
    <dgm:cxn modelId="{96986DEC-AEB7-864C-9E9B-0933D68FC1B7}" type="presParOf" srcId="{BE237664-B5A0-4144-8605-B7EA84E2FE70}" destId="{B11F8991-EAAA-9F4D-A8F6-707C64A7BF74}" srcOrd="2" destOrd="0" presId="urn:microsoft.com/office/officeart/2016/7/layout/LinearBlockProcessNumbered"/>
    <dgm:cxn modelId="{DAAA67CE-1BA4-6145-AD2E-A6BBE406F1F6}" type="presParOf" srcId="{1DFFB100-5003-974E-B799-F2FBE9914AF4}" destId="{FED70C9E-3589-514A-91CD-66FEA9F221EA}" srcOrd="5" destOrd="0" presId="urn:microsoft.com/office/officeart/2016/7/layout/LinearBlockProcessNumbered"/>
    <dgm:cxn modelId="{5CAECA0B-0C0C-9E4C-8BD9-42F051FED8BA}" type="presParOf" srcId="{1DFFB100-5003-974E-B799-F2FBE9914AF4}" destId="{05042A2D-417A-234A-A40E-A1DBEF842A5F}" srcOrd="6" destOrd="0" presId="urn:microsoft.com/office/officeart/2016/7/layout/LinearBlockProcessNumbered"/>
    <dgm:cxn modelId="{CB10D374-6A16-7243-8AB3-17BE9E16C581}" type="presParOf" srcId="{05042A2D-417A-234A-A40E-A1DBEF842A5F}" destId="{B1DDA28B-5C81-EE47-B732-77CB6F25A0D7}" srcOrd="0" destOrd="0" presId="urn:microsoft.com/office/officeart/2016/7/layout/LinearBlockProcessNumbered"/>
    <dgm:cxn modelId="{BC1A00DA-3B8D-AA4B-A36F-08B59D5D6AB0}" type="presParOf" srcId="{05042A2D-417A-234A-A40E-A1DBEF842A5F}" destId="{92D0B96E-92EA-1047-93DF-2AF329E41882}" srcOrd="1" destOrd="0" presId="urn:microsoft.com/office/officeart/2016/7/layout/LinearBlockProcessNumbered"/>
    <dgm:cxn modelId="{ED754DAC-B6A2-C940-B202-421FA131EAB6}" type="presParOf" srcId="{05042A2D-417A-234A-A40E-A1DBEF842A5F}" destId="{99886854-EACE-494F-9DFA-EFBCDDF87F02}"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9BDFD65-16F0-41F1-A81D-3CBA014226F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AE6CEF56-E695-4F17-8A2E-BA0E56D8FBAC}">
      <dgm:prSet/>
      <dgm:spPr/>
      <dgm:t>
        <a:bodyPr/>
        <a:lstStyle/>
        <a:p>
          <a:r>
            <a:rPr lang="en-US" dirty="0">
              <a:latin typeface="Century Gothic" panose="020B0502020202020204" pitchFamily="34" charset="0"/>
            </a:rPr>
            <a:t>My deepest gratitude to my outstanding Dissertation Chair, Dr. Pedro Nunes, for his unwavering guidance, exceptional patience, and invaluable expertise that greatly contributed to this work.</a:t>
          </a:r>
        </a:p>
      </dgm:t>
    </dgm:pt>
    <dgm:pt modelId="{7B8DD2EC-5F1B-4625-A649-A9F1AEA9D2CB}" type="parTrans" cxnId="{4B34485E-CA3D-4731-9BD8-C6B24C5ADCFA}">
      <dgm:prSet/>
      <dgm:spPr/>
      <dgm:t>
        <a:bodyPr/>
        <a:lstStyle/>
        <a:p>
          <a:endParaRPr lang="en-US"/>
        </a:p>
      </dgm:t>
    </dgm:pt>
    <dgm:pt modelId="{89E7C4B6-6ACE-44EC-8A5E-15B11A0AA5BD}" type="sibTrans" cxnId="{4B34485E-CA3D-4731-9BD8-C6B24C5ADCFA}">
      <dgm:prSet/>
      <dgm:spPr/>
      <dgm:t>
        <a:bodyPr/>
        <a:lstStyle/>
        <a:p>
          <a:endParaRPr lang="en-US"/>
        </a:p>
      </dgm:t>
    </dgm:pt>
    <dgm:pt modelId="{96B85CAF-8876-4939-A239-8E29B7F5AF1C}">
      <dgm:prSet/>
      <dgm:spPr/>
      <dgm:t>
        <a:bodyPr/>
        <a:lstStyle/>
        <a:p>
          <a:r>
            <a:rPr lang="en-US" dirty="0">
              <a:latin typeface="Century Gothic" panose="020B0502020202020204" pitchFamily="34" charset="0"/>
            </a:rPr>
            <a:t>Sincere appreciation to my Committee Members for their thoughtful feedback and encouragement</a:t>
          </a:r>
        </a:p>
      </dgm:t>
    </dgm:pt>
    <dgm:pt modelId="{76DC7659-E61F-45C1-AAED-DDE09C3E3DF1}" type="parTrans" cxnId="{5F4848AE-5D24-4CBA-8E2E-424898EB12B3}">
      <dgm:prSet/>
      <dgm:spPr/>
      <dgm:t>
        <a:bodyPr/>
        <a:lstStyle/>
        <a:p>
          <a:endParaRPr lang="en-US"/>
        </a:p>
      </dgm:t>
    </dgm:pt>
    <dgm:pt modelId="{BB5DEA3B-5C71-4287-A3A1-8C8D35EFEC20}" type="sibTrans" cxnId="{5F4848AE-5D24-4CBA-8E2E-424898EB12B3}">
      <dgm:prSet/>
      <dgm:spPr/>
      <dgm:t>
        <a:bodyPr/>
        <a:lstStyle/>
        <a:p>
          <a:endParaRPr lang="en-US"/>
        </a:p>
      </dgm:t>
    </dgm:pt>
    <dgm:pt modelId="{C2A89DA0-92D9-494A-A339-37541749C0F7}">
      <dgm:prSet/>
      <dgm:spPr/>
      <dgm:t>
        <a:bodyPr/>
        <a:lstStyle/>
        <a:p>
          <a:r>
            <a:rPr lang="en-US" dirty="0">
              <a:latin typeface="Century Gothic" panose="020B0502020202020204" pitchFamily="34" charset="0"/>
            </a:rPr>
            <a:t>Heartfelt appreciation to Ivet Rodriguez, my Student Success Advisor, and to all Faculty and Staff for their steadfast support throughout this journey.</a:t>
          </a:r>
        </a:p>
      </dgm:t>
    </dgm:pt>
    <dgm:pt modelId="{145A4FC0-68BC-49E8-8193-8D1473C8ACE9}" type="parTrans" cxnId="{789CD34F-8D10-4479-866A-B77D15F13BDA}">
      <dgm:prSet/>
      <dgm:spPr/>
      <dgm:t>
        <a:bodyPr/>
        <a:lstStyle/>
        <a:p>
          <a:endParaRPr lang="en-US"/>
        </a:p>
      </dgm:t>
    </dgm:pt>
    <dgm:pt modelId="{577A06A8-B1E4-4A44-B6A6-78E11A8477A6}" type="sibTrans" cxnId="{789CD34F-8D10-4479-866A-B77D15F13BDA}">
      <dgm:prSet/>
      <dgm:spPr/>
      <dgm:t>
        <a:bodyPr/>
        <a:lstStyle/>
        <a:p>
          <a:endParaRPr lang="en-US"/>
        </a:p>
      </dgm:t>
    </dgm:pt>
    <dgm:pt modelId="{C6455DCE-C4DD-4AD0-A029-BB4936F3DC46}" type="pres">
      <dgm:prSet presAssocID="{C9BDFD65-16F0-41F1-A81D-3CBA014226F9}" presName="root" presStyleCnt="0">
        <dgm:presLayoutVars>
          <dgm:dir/>
          <dgm:resizeHandles val="exact"/>
        </dgm:presLayoutVars>
      </dgm:prSet>
      <dgm:spPr/>
    </dgm:pt>
    <dgm:pt modelId="{38D52C37-0F7B-4F7B-844E-EB8A183293D3}" type="pres">
      <dgm:prSet presAssocID="{AE6CEF56-E695-4F17-8A2E-BA0E56D8FBAC}" presName="compNode" presStyleCnt="0"/>
      <dgm:spPr/>
    </dgm:pt>
    <dgm:pt modelId="{0FB1956E-D3D5-44C7-9DDA-B7BDFEF3A8C1}" type="pres">
      <dgm:prSet presAssocID="{AE6CEF56-E695-4F17-8A2E-BA0E56D8FBAC}" presName="bgRect" presStyleLbl="bgShp" presStyleIdx="0" presStyleCnt="3"/>
      <dgm:spPr/>
    </dgm:pt>
    <dgm:pt modelId="{CBF66B1D-665B-453A-930B-C39AA9401FF5}" type="pres">
      <dgm:prSet presAssocID="{AE6CEF56-E695-4F17-8A2E-BA0E56D8FBA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ve Letter"/>
        </a:ext>
      </dgm:extLst>
    </dgm:pt>
    <dgm:pt modelId="{93A06995-61B2-428E-BDB5-9F072F12CA9A}" type="pres">
      <dgm:prSet presAssocID="{AE6CEF56-E695-4F17-8A2E-BA0E56D8FBAC}" presName="spaceRect" presStyleCnt="0"/>
      <dgm:spPr/>
    </dgm:pt>
    <dgm:pt modelId="{68AFCBBB-169E-4AAB-B21D-B27BA382D4C8}" type="pres">
      <dgm:prSet presAssocID="{AE6CEF56-E695-4F17-8A2E-BA0E56D8FBAC}" presName="parTx" presStyleLbl="revTx" presStyleIdx="0" presStyleCnt="3">
        <dgm:presLayoutVars>
          <dgm:chMax val="0"/>
          <dgm:chPref val="0"/>
        </dgm:presLayoutVars>
      </dgm:prSet>
      <dgm:spPr/>
    </dgm:pt>
    <dgm:pt modelId="{CCEFE766-CD62-4037-BA90-DB8E7EC5A9A4}" type="pres">
      <dgm:prSet presAssocID="{89E7C4B6-6ACE-44EC-8A5E-15B11A0AA5BD}" presName="sibTrans" presStyleCnt="0"/>
      <dgm:spPr/>
    </dgm:pt>
    <dgm:pt modelId="{A78AB6F1-97F0-43F6-A144-6007D25862B4}" type="pres">
      <dgm:prSet presAssocID="{96B85CAF-8876-4939-A239-8E29B7F5AF1C}" presName="compNode" presStyleCnt="0"/>
      <dgm:spPr/>
    </dgm:pt>
    <dgm:pt modelId="{A0B82E69-FDD1-4B59-81B5-4C20CF7442C1}" type="pres">
      <dgm:prSet presAssocID="{96B85CAF-8876-4939-A239-8E29B7F5AF1C}" presName="bgRect" presStyleLbl="bgShp" presStyleIdx="1" presStyleCnt="3"/>
      <dgm:spPr/>
    </dgm:pt>
    <dgm:pt modelId="{5E7A48EF-7F05-44EC-A598-DD81FA110FA5}" type="pres">
      <dgm:prSet presAssocID="{96B85CAF-8876-4939-A239-8E29B7F5AF1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149FAA49-C220-4D76-9EF3-F18C7211C0A1}" type="pres">
      <dgm:prSet presAssocID="{96B85CAF-8876-4939-A239-8E29B7F5AF1C}" presName="spaceRect" presStyleCnt="0"/>
      <dgm:spPr/>
    </dgm:pt>
    <dgm:pt modelId="{6E0D5769-0B3D-4446-B5C3-9021EF10EDAA}" type="pres">
      <dgm:prSet presAssocID="{96B85CAF-8876-4939-A239-8E29B7F5AF1C}" presName="parTx" presStyleLbl="revTx" presStyleIdx="1" presStyleCnt="3">
        <dgm:presLayoutVars>
          <dgm:chMax val="0"/>
          <dgm:chPref val="0"/>
        </dgm:presLayoutVars>
      </dgm:prSet>
      <dgm:spPr/>
    </dgm:pt>
    <dgm:pt modelId="{7DBEB8BC-7843-45F5-B8F2-7523FDE0574D}" type="pres">
      <dgm:prSet presAssocID="{BB5DEA3B-5C71-4287-A3A1-8C8D35EFEC20}" presName="sibTrans" presStyleCnt="0"/>
      <dgm:spPr/>
    </dgm:pt>
    <dgm:pt modelId="{0F4EEAA8-C2E8-443D-B851-D0436D7E8C7C}" type="pres">
      <dgm:prSet presAssocID="{C2A89DA0-92D9-494A-A339-37541749C0F7}" presName="compNode" presStyleCnt="0"/>
      <dgm:spPr/>
    </dgm:pt>
    <dgm:pt modelId="{47E02A8D-5940-4A10-9074-264E54BE4219}" type="pres">
      <dgm:prSet presAssocID="{C2A89DA0-92D9-494A-A339-37541749C0F7}" presName="bgRect" presStyleLbl="bgShp" presStyleIdx="2" presStyleCnt="3"/>
      <dgm:spPr/>
    </dgm:pt>
    <dgm:pt modelId="{5CD1A587-CD97-4784-8E77-B97045398CEE}" type="pres">
      <dgm:prSet presAssocID="{C2A89DA0-92D9-494A-A339-37541749C0F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rt Lock"/>
        </a:ext>
      </dgm:extLst>
    </dgm:pt>
    <dgm:pt modelId="{6BD0BF93-D8A5-4EEF-A731-628E0F08B685}" type="pres">
      <dgm:prSet presAssocID="{C2A89DA0-92D9-494A-A339-37541749C0F7}" presName="spaceRect" presStyleCnt="0"/>
      <dgm:spPr/>
    </dgm:pt>
    <dgm:pt modelId="{B6CCD082-3ACC-4546-A3D9-B1F47DF74A14}" type="pres">
      <dgm:prSet presAssocID="{C2A89DA0-92D9-494A-A339-37541749C0F7}" presName="parTx" presStyleLbl="revTx" presStyleIdx="2" presStyleCnt="3">
        <dgm:presLayoutVars>
          <dgm:chMax val="0"/>
          <dgm:chPref val="0"/>
        </dgm:presLayoutVars>
      </dgm:prSet>
      <dgm:spPr/>
    </dgm:pt>
  </dgm:ptLst>
  <dgm:cxnLst>
    <dgm:cxn modelId="{54729106-9ED4-4C32-96E9-909C566E1E23}" type="presOf" srcId="{C9BDFD65-16F0-41F1-A81D-3CBA014226F9}" destId="{C6455DCE-C4DD-4AD0-A029-BB4936F3DC46}" srcOrd="0" destOrd="0" presId="urn:microsoft.com/office/officeart/2018/2/layout/IconVerticalSolidList"/>
    <dgm:cxn modelId="{789CD34F-8D10-4479-866A-B77D15F13BDA}" srcId="{C9BDFD65-16F0-41F1-A81D-3CBA014226F9}" destId="{C2A89DA0-92D9-494A-A339-37541749C0F7}" srcOrd="2" destOrd="0" parTransId="{145A4FC0-68BC-49E8-8193-8D1473C8ACE9}" sibTransId="{577A06A8-B1E4-4A44-B6A6-78E11A8477A6}"/>
    <dgm:cxn modelId="{4B34485E-CA3D-4731-9BD8-C6B24C5ADCFA}" srcId="{C9BDFD65-16F0-41F1-A81D-3CBA014226F9}" destId="{AE6CEF56-E695-4F17-8A2E-BA0E56D8FBAC}" srcOrd="0" destOrd="0" parTransId="{7B8DD2EC-5F1B-4625-A649-A9F1AEA9D2CB}" sibTransId="{89E7C4B6-6ACE-44EC-8A5E-15B11A0AA5BD}"/>
    <dgm:cxn modelId="{B594199D-F0DE-45AE-BB65-1503B0CF8A2C}" type="presOf" srcId="{C2A89DA0-92D9-494A-A339-37541749C0F7}" destId="{B6CCD082-3ACC-4546-A3D9-B1F47DF74A14}" srcOrd="0" destOrd="0" presId="urn:microsoft.com/office/officeart/2018/2/layout/IconVerticalSolidList"/>
    <dgm:cxn modelId="{5F4848AE-5D24-4CBA-8E2E-424898EB12B3}" srcId="{C9BDFD65-16F0-41F1-A81D-3CBA014226F9}" destId="{96B85CAF-8876-4939-A239-8E29B7F5AF1C}" srcOrd="1" destOrd="0" parTransId="{76DC7659-E61F-45C1-AAED-DDE09C3E3DF1}" sibTransId="{BB5DEA3B-5C71-4287-A3A1-8C8D35EFEC20}"/>
    <dgm:cxn modelId="{6A4C27BC-2B1D-4823-A09A-5C4FB46C63DB}" type="presOf" srcId="{96B85CAF-8876-4939-A239-8E29B7F5AF1C}" destId="{6E0D5769-0B3D-4446-B5C3-9021EF10EDAA}" srcOrd="0" destOrd="0" presId="urn:microsoft.com/office/officeart/2018/2/layout/IconVerticalSolidList"/>
    <dgm:cxn modelId="{88C22FE7-389D-431A-A48B-745542E081BD}" type="presOf" srcId="{AE6CEF56-E695-4F17-8A2E-BA0E56D8FBAC}" destId="{68AFCBBB-169E-4AAB-B21D-B27BA382D4C8}" srcOrd="0" destOrd="0" presId="urn:microsoft.com/office/officeart/2018/2/layout/IconVerticalSolidList"/>
    <dgm:cxn modelId="{1F1A0390-52B6-417A-8FAE-216AE633FDB3}" type="presParOf" srcId="{C6455DCE-C4DD-4AD0-A029-BB4936F3DC46}" destId="{38D52C37-0F7B-4F7B-844E-EB8A183293D3}" srcOrd="0" destOrd="0" presId="urn:microsoft.com/office/officeart/2018/2/layout/IconVerticalSolidList"/>
    <dgm:cxn modelId="{0F7028BF-1BA7-44A1-9954-783BFFE237D0}" type="presParOf" srcId="{38D52C37-0F7B-4F7B-844E-EB8A183293D3}" destId="{0FB1956E-D3D5-44C7-9DDA-B7BDFEF3A8C1}" srcOrd="0" destOrd="0" presId="urn:microsoft.com/office/officeart/2018/2/layout/IconVerticalSolidList"/>
    <dgm:cxn modelId="{F76225D2-5885-4A3A-849A-7D923E28C9FA}" type="presParOf" srcId="{38D52C37-0F7B-4F7B-844E-EB8A183293D3}" destId="{CBF66B1D-665B-453A-930B-C39AA9401FF5}" srcOrd="1" destOrd="0" presId="urn:microsoft.com/office/officeart/2018/2/layout/IconVerticalSolidList"/>
    <dgm:cxn modelId="{63A57666-EE6A-4451-8B13-FEC1F404BA12}" type="presParOf" srcId="{38D52C37-0F7B-4F7B-844E-EB8A183293D3}" destId="{93A06995-61B2-428E-BDB5-9F072F12CA9A}" srcOrd="2" destOrd="0" presId="urn:microsoft.com/office/officeart/2018/2/layout/IconVerticalSolidList"/>
    <dgm:cxn modelId="{86E03094-98B2-4745-A804-0DC022FC5AE3}" type="presParOf" srcId="{38D52C37-0F7B-4F7B-844E-EB8A183293D3}" destId="{68AFCBBB-169E-4AAB-B21D-B27BA382D4C8}" srcOrd="3" destOrd="0" presId="urn:microsoft.com/office/officeart/2018/2/layout/IconVerticalSolidList"/>
    <dgm:cxn modelId="{A354A849-CEF0-4F57-B804-C3C340CB2CB3}" type="presParOf" srcId="{C6455DCE-C4DD-4AD0-A029-BB4936F3DC46}" destId="{CCEFE766-CD62-4037-BA90-DB8E7EC5A9A4}" srcOrd="1" destOrd="0" presId="urn:microsoft.com/office/officeart/2018/2/layout/IconVerticalSolidList"/>
    <dgm:cxn modelId="{DB18B025-E9CB-4D31-A13A-3A800BF0A3D4}" type="presParOf" srcId="{C6455DCE-C4DD-4AD0-A029-BB4936F3DC46}" destId="{A78AB6F1-97F0-43F6-A144-6007D25862B4}" srcOrd="2" destOrd="0" presId="urn:microsoft.com/office/officeart/2018/2/layout/IconVerticalSolidList"/>
    <dgm:cxn modelId="{4744F4AB-F8F7-4E44-A2B6-A2E545A48325}" type="presParOf" srcId="{A78AB6F1-97F0-43F6-A144-6007D25862B4}" destId="{A0B82E69-FDD1-4B59-81B5-4C20CF7442C1}" srcOrd="0" destOrd="0" presId="urn:microsoft.com/office/officeart/2018/2/layout/IconVerticalSolidList"/>
    <dgm:cxn modelId="{449A1F5D-C40F-473A-BD93-29FB2014736B}" type="presParOf" srcId="{A78AB6F1-97F0-43F6-A144-6007D25862B4}" destId="{5E7A48EF-7F05-44EC-A598-DD81FA110FA5}" srcOrd="1" destOrd="0" presId="urn:microsoft.com/office/officeart/2018/2/layout/IconVerticalSolidList"/>
    <dgm:cxn modelId="{A8F27D57-A107-4419-9432-A5BA8C03F220}" type="presParOf" srcId="{A78AB6F1-97F0-43F6-A144-6007D25862B4}" destId="{149FAA49-C220-4D76-9EF3-F18C7211C0A1}" srcOrd="2" destOrd="0" presId="urn:microsoft.com/office/officeart/2018/2/layout/IconVerticalSolidList"/>
    <dgm:cxn modelId="{E1AB36C9-54DD-434B-8577-A35C66C78012}" type="presParOf" srcId="{A78AB6F1-97F0-43F6-A144-6007D25862B4}" destId="{6E0D5769-0B3D-4446-B5C3-9021EF10EDAA}" srcOrd="3" destOrd="0" presId="urn:microsoft.com/office/officeart/2018/2/layout/IconVerticalSolidList"/>
    <dgm:cxn modelId="{7A3DD9FD-A400-4973-B3E4-F6B53F1C9746}" type="presParOf" srcId="{C6455DCE-C4DD-4AD0-A029-BB4936F3DC46}" destId="{7DBEB8BC-7843-45F5-B8F2-7523FDE0574D}" srcOrd="3" destOrd="0" presId="urn:microsoft.com/office/officeart/2018/2/layout/IconVerticalSolidList"/>
    <dgm:cxn modelId="{BCD0972B-A923-419A-850C-1BB645F267FD}" type="presParOf" srcId="{C6455DCE-C4DD-4AD0-A029-BB4936F3DC46}" destId="{0F4EEAA8-C2E8-443D-B851-D0436D7E8C7C}" srcOrd="4" destOrd="0" presId="urn:microsoft.com/office/officeart/2018/2/layout/IconVerticalSolidList"/>
    <dgm:cxn modelId="{6E866B9F-1DE0-4EB9-8F93-CD707764AF34}" type="presParOf" srcId="{0F4EEAA8-C2E8-443D-B851-D0436D7E8C7C}" destId="{47E02A8D-5940-4A10-9074-264E54BE4219}" srcOrd="0" destOrd="0" presId="urn:microsoft.com/office/officeart/2018/2/layout/IconVerticalSolidList"/>
    <dgm:cxn modelId="{47FF07E7-371D-4856-BE45-C70C48E3C8BF}" type="presParOf" srcId="{0F4EEAA8-C2E8-443D-B851-D0436D7E8C7C}" destId="{5CD1A587-CD97-4784-8E77-B97045398CEE}" srcOrd="1" destOrd="0" presId="urn:microsoft.com/office/officeart/2018/2/layout/IconVerticalSolidList"/>
    <dgm:cxn modelId="{6D570A41-779A-47BB-B8DC-B798F4511E2B}" type="presParOf" srcId="{0F4EEAA8-C2E8-443D-B851-D0436D7E8C7C}" destId="{6BD0BF93-D8A5-4EEF-A731-628E0F08B685}" srcOrd="2" destOrd="0" presId="urn:microsoft.com/office/officeart/2018/2/layout/IconVerticalSolidList"/>
    <dgm:cxn modelId="{344B62DD-1D76-48B3-BA77-0F3A478485F6}" type="presParOf" srcId="{0F4EEAA8-C2E8-443D-B851-D0436D7E8C7C}" destId="{B6CCD082-3ACC-4546-A3D9-B1F47DF74A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244A00-DA47-CF49-BFA3-70E4BCB62915}">
      <dsp:nvSpPr>
        <dsp:cNvPr id="0" name=""/>
        <dsp:cNvSpPr/>
      </dsp:nvSpPr>
      <dsp:spPr>
        <a:xfrm>
          <a:off x="0" y="2124"/>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E44E3CB-1D55-0F44-A1DD-B674CE178659}">
      <dsp:nvSpPr>
        <dsp:cNvPr id="0" name=""/>
        <dsp:cNvSpPr/>
      </dsp:nvSpPr>
      <dsp:spPr>
        <a:xfrm>
          <a:off x="0" y="212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Century Gothic" panose="020B0502020202020204" pitchFamily="34" charset="0"/>
            </a:rPr>
            <a:t>Background to the Study</a:t>
          </a:r>
        </a:p>
      </dsp:txBody>
      <dsp:txXfrm>
        <a:off x="0" y="2124"/>
        <a:ext cx="10515600" cy="395189"/>
      </dsp:txXfrm>
    </dsp:sp>
    <dsp:sp modelId="{186944E8-8E6A-4542-BBC4-8BF89C9A4035}">
      <dsp:nvSpPr>
        <dsp:cNvPr id="0" name=""/>
        <dsp:cNvSpPr/>
      </dsp:nvSpPr>
      <dsp:spPr>
        <a:xfrm>
          <a:off x="0" y="397314"/>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8706BA6-9D45-4B42-9D86-518F4C9BEDF5}">
      <dsp:nvSpPr>
        <dsp:cNvPr id="0" name=""/>
        <dsp:cNvSpPr/>
      </dsp:nvSpPr>
      <dsp:spPr>
        <a:xfrm>
          <a:off x="0" y="39731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Century Gothic" panose="020B0502020202020204" pitchFamily="34" charset="0"/>
            </a:rPr>
            <a:t>Problem Statements</a:t>
          </a:r>
        </a:p>
      </dsp:txBody>
      <dsp:txXfrm>
        <a:off x="0" y="397314"/>
        <a:ext cx="10515600" cy="395189"/>
      </dsp:txXfrm>
    </dsp:sp>
    <dsp:sp modelId="{CB673681-E9B2-B441-8C6D-E7D14A270084}">
      <dsp:nvSpPr>
        <dsp:cNvPr id="0" name=""/>
        <dsp:cNvSpPr/>
      </dsp:nvSpPr>
      <dsp:spPr>
        <a:xfrm>
          <a:off x="0" y="792504"/>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F908810-3D36-A645-9617-345EA2B6CA22}">
      <dsp:nvSpPr>
        <dsp:cNvPr id="0" name=""/>
        <dsp:cNvSpPr/>
      </dsp:nvSpPr>
      <dsp:spPr>
        <a:xfrm>
          <a:off x="0" y="79250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Century Gothic" panose="020B0502020202020204" pitchFamily="34" charset="0"/>
            </a:rPr>
            <a:t>Literature Support</a:t>
          </a:r>
        </a:p>
      </dsp:txBody>
      <dsp:txXfrm>
        <a:off x="0" y="792504"/>
        <a:ext cx="10515600" cy="395189"/>
      </dsp:txXfrm>
    </dsp:sp>
    <dsp:sp modelId="{A935EDBA-DD14-C445-A9C8-3E20D2E20E4B}">
      <dsp:nvSpPr>
        <dsp:cNvPr id="0" name=""/>
        <dsp:cNvSpPr/>
      </dsp:nvSpPr>
      <dsp:spPr>
        <a:xfrm>
          <a:off x="0" y="1187694"/>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52B8BF82-3EFB-884A-8FCD-C741271F7811}">
      <dsp:nvSpPr>
        <dsp:cNvPr id="0" name=""/>
        <dsp:cNvSpPr/>
      </dsp:nvSpPr>
      <dsp:spPr>
        <a:xfrm>
          <a:off x="0" y="118769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Century Gothic" panose="020B0502020202020204" pitchFamily="34" charset="0"/>
            </a:rPr>
            <a:t>Research Framework</a:t>
          </a:r>
        </a:p>
      </dsp:txBody>
      <dsp:txXfrm>
        <a:off x="0" y="1187694"/>
        <a:ext cx="10515600" cy="395189"/>
      </dsp:txXfrm>
    </dsp:sp>
    <dsp:sp modelId="{50811C4C-E593-0C4D-927C-8AB8FDAF5115}">
      <dsp:nvSpPr>
        <dsp:cNvPr id="0" name=""/>
        <dsp:cNvSpPr/>
      </dsp:nvSpPr>
      <dsp:spPr>
        <a:xfrm>
          <a:off x="0" y="1582884"/>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2FC425A-E9AC-FF4D-8350-51B3C45D4B4A}">
      <dsp:nvSpPr>
        <dsp:cNvPr id="0" name=""/>
        <dsp:cNvSpPr/>
      </dsp:nvSpPr>
      <dsp:spPr>
        <a:xfrm>
          <a:off x="0" y="158288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Century Gothic" panose="020B0502020202020204" pitchFamily="34" charset="0"/>
            </a:rPr>
            <a:t>Assumptions, Limitations and Delimitations</a:t>
          </a:r>
        </a:p>
      </dsp:txBody>
      <dsp:txXfrm>
        <a:off x="0" y="1582884"/>
        <a:ext cx="10515600" cy="395189"/>
      </dsp:txXfrm>
    </dsp:sp>
    <dsp:sp modelId="{39917CBD-1B13-144F-8870-5EE2043EBD27}">
      <dsp:nvSpPr>
        <dsp:cNvPr id="0" name=""/>
        <dsp:cNvSpPr/>
      </dsp:nvSpPr>
      <dsp:spPr>
        <a:xfrm>
          <a:off x="0" y="1978074"/>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FD107A42-EC2B-204A-93E2-8931A96E723E}">
      <dsp:nvSpPr>
        <dsp:cNvPr id="0" name=""/>
        <dsp:cNvSpPr/>
      </dsp:nvSpPr>
      <dsp:spPr>
        <a:xfrm>
          <a:off x="0" y="1978074"/>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Century Gothic" panose="020B0502020202020204" pitchFamily="34" charset="0"/>
            </a:rPr>
            <a:t>Research Methodology</a:t>
          </a:r>
        </a:p>
      </dsp:txBody>
      <dsp:txXfrm>
        <a:off x="0" y="1978074"/>
        <a:ext cx="10515600" cy="395189"/>
      </dsp:txXfrm>
    </dsp:sp>
    <dsp:sp modelId="{B401F7C3-22E6-C54F-8E92-F8EA3AFC8D13}">
      <dsp:nvSpPr>
        <dsp:cNvPr id="0" name=""/>
        <dsp:cNvSpPr/>
      </dsp:nvSpPr>
      <dsp:spPr>
        <a:xfrm>
          <a:off x="0" y="2373263"/>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0E850BA-7972-7A40-885E-6F002A26875D}">
      <dsp:nvSpPr>
        <dsp:cNvPr id="0" name=""/>
        <dsp:cNvSpPr/>
      </dsp:nvSpPr>
      <dsp:spPr>
        <a:xfrm>
          <a:off x="0" y="2373263"/>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Century Gothic" panose="020B0502020202020204" pitchFamily="34" charset="0"/>
            </a:rPr>
            <a:t>Population and Sampling</a:t>
          </a:r>
        </a:p>
      </dsp:txBody>
      <dsp:txXfrm>
        <a:off x="0" y="2373263"/>
        <a:ext cx="10515600" cy="395189"/>
      </dsp:txXfrm>
    </dsp:sp>
    <dsp:sp modelId="{84E55B47-EC5C-A848-89AA-B81AB4E029E1}">
      <dsp:nvSpPr>
        <dsp:cNvPr id="0" name=""/>
        <dsp:cNvSpPr/>
      </dsp:nvSpPr>
      <dsp:spPr>
        <a:xfrm>
          <a:off x="0" y="2768453"/>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3CE63F59-D23B-A349-87E3-AB48566DF2BF}">
      <dsp:nvSpPr>
        <dsp:cNvPr id="0" name=""/>
        <dsp:cNvSpPr/>
      </dsp:nvSpPr>
      <dsp:spPr>
        <a:xfrm>
          <a:off x="0" y="2768453"/>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Century Gothic" panose="020B0502020202020204" pitchFamily="34" charset="0"/>
            </a:rPr>
            <a:t>Data collection and Analysis</a:t>
          </a:r>
        </a:p>
      </dsp:txBody>
      <dsp:txXfrm>
        <a:off x="0" y="2768453"/>
        <a:ext cx="10515600" cy="395189"/>
      </dsp:txXfrm>
    </dsp:sp>
    <dsp:sp modelId="{6960BF18-B047-1D45-8F3A-6678E3C322A0}">
      <dsp:nvSpPr>
        <dsp:cNvPr id="0" name=""/>
        <dsp:cNvSpPr/>
      </dsp:nvSpPr>
      <dsp:spPr>
        <a:xfrm>
          <a:off x="0" y="3163643"/>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C4A5F10-0963-064C-8EFB-0558263426E6}">
      <dsp:nvSpPr>
        <dsp:cNvPr id="0" name=""/>
        <dsp:cNvSpPr/>
      </dsp:nvSpPr>
      <dsp:spPr>
        <a:xfrm>
          <a:off x="0" y="3163643"/>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Century Gothic" panose="020B0502020202020204" pitchFamily="34" charset="0"/>
            </a:rPr>
            <a:t>Results, Discussion and Implications</a:t>
          </a:r>
        </a:p>
      </dsp:txBody>
      <dsp:txXfrm>
        <a:off x="0" y="3163643"/>
        <a:ext cx="10515600" cy="395189"/>
      </dsp:txXfrm>
    </dsp:sp>
    <dsp:sp modelId="{D5FD3368-53D9-5649-B292-BF782BBA584C}">
      <dsp:nvSpPr>
        <dsp:cNvPr id="0" name=""/>
        <dsp:cNvSpPr/>
      </dsp:nvSpPr>
      <dsp:spPr>
        <a:xfrm>
          <a:off x="0" y="3558833"/>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A413EA2D-2E2C-D944-A8B5-67CD060DA7F4}">
      <dsp:nvSpPr>
        <dsp:cNvPr id="0" name=""/>
        <dsp:cNvSpPr/>
      </dsp:nvSpPr>
      <dsp:spPr>
        <a:xfrm>
          <a:off x="0" y="3558833"/>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Century Gothic" panose="020B0502020202020204" pitchFamily="34" charset="0"/>
            </a:rPr>
            <a:t>Recommendations for Future Research</a:t>
          </a:r>
        </a:p>
      </dsp:txBody>
      <dsp:txXfrm>
        <a:off x="0" y="3558833"/>
        <a:ext cx="10515600" cy="395189"/>
      </dsp:txXfrm>
    </dsp:sp>
    <dsp:sp modelId="{98EE844A-B3A4-514E-8D63-3814C9683E50}">
      <dsp:nvSpPr>
        <dsp:cNvPr id="0" name=""/>
        <dsp:cNvSpPr/>
      </dsp:nvSpPr>
      <dsp:spPr>
        <a:xfrm>
          <a:off x="0" y="3954023"/>
          <a:ext cx="10515600"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1032ECA6-9084-1D4D-85D2-FDB6058F2C6C}">
      <dsp:nvSpPr>
        <dsp:cNvPr id="0" name=""/>
        <dsp:cNvSpPr/>
      </dsp:nvSpPr>
      <dsp:spPr>
        <a:xfrm>
          <a:off x="0" y="3954023"/>
          <a:ext cx="10515600" cy="395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Century Gothic" panose="020B0502020202020204" pitchFamily="34" charset="0"/>
            </a:rPr>
            <a:t>Closing Remarks</a:t>
          </a:r>
        </a:p>
      </dsp:txBody>
      <dsp:txXfrm>
        <a:off x="0" y="3954023"/>
        <a:ext cx="10515600" cy="3951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909356-B7B4-8943-8328-F91032F8C191}">
      <dsp:nvSpPr>
        <dsp:cNvPr id="0" name=""/>
        <dsp:cNvSpPr/>
      </dsp:nvSpPr>
      <dsp:spPr>
        <a:xfrm>
          <a:off x="3286" y="30635"/>
          <a:ext cx="3203971" cy="11195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latin typeface="Century Gothic" panose="020B0502020202020204" pitchFamily="34" charset="0"/>
            </a:rPr>
            <a:t>SMEs: The Backbone of the Global Economy</a:t>
          </a:r>
          <a:endParaRPr lang="en-US" sz="2200" kern="1200" dirty="0">
            <a:latin typeface="Century Gothic" panose="020B0502020202020204" pitchFamily="34" charset="0"/>
          </a:endParaRPr>
        </a:p>
      </dsp:txBody>
      <dsp:txXfrm>
        <a:off x="3286" y="30635"/>
        <a:ext cx="3203971" cy="1119591"/>
      </dsp:txXfrm>
    </dsp:sp>
    <dsp:sp modelId="{2A0B8030-78B6-1549-A0BE-676FF6AE4891}">
      <dsp:nvSpPr>
        <dsp:cNvPr id="0" name=""/>
        <dsp:cNvSpPr/>
      </dsp:nvSpPr>
      <dsp:spPr>
        <a:xfrm>
          <a:off x="3286" y="1150227"/>
          <a:ext cx="3203971" cy="3170475"/>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b="0" kern="1200" dirty="0">
              <a:solidFill>
                <a:schemeClr val="tx1"/>
              </a:solidFill>
              <a:latin typeface="Century Gothic" panose="020B0502020202020204" pitchFamily="34" charset="0"/>
            </a:rPr>
            <a:t>Represent &gt;90% of businesses worldwide</a:t>
          </a:r>
        </a:p>
        <a:p>
          <a:pPr marL="228600" lvl="1" indent="-228600" algn="l" defTabSz="977900">
            <a:lnSpc>
              <a:spcPct val="90000"/>
            </a:lnSpc>
            <a:spcBef>
              <a:spcPct val="0"/>
            </a:spcBef>
            <a:spcAft>
              <a:spcPct val="15000"/>
            </a:spcAft>
            <a:buChar char="•"/>
          </a:pPr>
          <a:r>
            <a:rPr lang="en-US" sz="2200" b="0" kern="1200" dirty="0">
              <a:solidFill>
                <a:schemeClr val="tx1"/>
              </a:solidFill>
              <a:latin typeface="Century Gothic" panose="020B0502020202020204" pitchFamily="34" charset="0"/>
            </a:rPr>
            <a:t>Drive innovation, development, and job creation</a:t>
          </a:r>
        </a:p>
        <a:p>
          <a:pPr marL="228600" lvl="1" indent="-228600" algn="l" defTabSz="977900">
            <a:lnSpc>
              <a:spcPct val="90000"/>
            </a:lnSpc>
            <a:spcBef>
              <a:spcPct val="0"/>
            </a:spcBef>
            <a:spcAft>
              <a:spcPct val="15000"/>
            </a:spcAft>
            <a:buChar char="•"/>
          </a:pPr>
          <a:r>
            <a:rPr lang="en-US" sz="2200" b="0" kern="1200" dirty="0">
              <a:solidFill>
                <a:schemeClr val="tx1"/>
              </a:solidFill>
              <a:latin typeface="Century Gothic" panose="020B0502020202020204" pitchFamily="34" charset="0"/>
            </a:rPr>
            <a:t>Key players in supply chains</a:t>
          </a:r>
        </a:p>
      </dsp:txBody>
      <dsp:txXfrm>
        <a:off x="3286" y="1150227"/>
        <a:ext cx="3203971" cy="3170475"/>
      </dsp:txXfrm>
    </dsp:sp>
    <dsp:sp modelId="{DF4AF440-7943-7E40-9E8E-E3F44745BB9E}">
      <dsp:nvSpPr>
        <dsp:cNvPr id="0" name=""/>
        <dsp:cNvSpPr/>
      </dsp:nvSpPr>
      <dsp:spPr>
        <a:xfrm>
          <a:off x="3655814" y="30635"/>
          <a:ext cx="3203971" cy="11195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latin typeface="Century Gothic" panose="020B0502020202020204" pitchFamily="34" charset="0"/>
            </a:rPr>
            <a:t>Digital Transformation – Opportunity &amp; Risk</a:t>
          </a:r>
          <a:endParaRPr lang="en-US" sz="2200" kern="1200" dirty="0">
            <a:latin typeface="Century Gothic" panose="020B0502020202020204" pitchFamily="34" charset="0"/>
          </a:endParaRPr>
        </a:p>
      </dsp:txBody>
      <dsp:txXfrm>
        <a:off x="3655814" y="30635"/>
        <a:ext cx="3203971" cy="1119591"/>
      </dsp:txXfrm>
    </dsp:sp>
    <dsp:sp modelId="{5A0A3F22-C448-394F-A79C-B21B043F0D44}">
      <dsp:nvSpPr>
        <dsp:cNvPr id="0" name=""/>
        <dsp:cNvSpPr/>
      </dsp:nvSpPr>
      <dsp:spPr>
        <a:xfrm>
          <a:off x="3655814" y="1150227"/>
          <a:ext cx="3203971" cy="3170475"/>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latin typeface="Century Gothic" panose="020B0502020202020204" pitchFamily="34" charset="0"/>
            </a:rPr>
            <a:t>Cloud computing &amp; digital platforms boost efficiency &amp; competitiveness</a:t>
          </a:r>
        </a:p>
        <a:p>
          <a:pPr marL="228600" lvl="1" indent="-228600" algn="l" defTabSz="977900">
            <a:lnSpc>
              <a:spcPct val="90000"/>
            </a:lnSpc>
            <a:spcBef>
              <a:spcPct val="0"/>
            </a:spcBef>
            <a:spcAft>
              <a:spcPct val="15000"/>
            </a:spcAft>
            <a:buChar char="•"/>
          </a:pPr>
          <a:r>
            <a:rPr lang="en-US" sz="2200" kern="1200" dirty="0">
              <a:latin typeface="Century Gothic" panose="020B0502020202020204" pitchFamily="34" charset="0"/>
            </a:rPr>
            <a:t>Increased cyber vulnerability due to limited awareness of threats &amp; defenses</a:t>
          </a:r>
        </a:p>
      </dsp:txBody>
      <dsp:txXfrm>
        <a:off x="3655814" y="1150227"/>
        <a:ext cx="3203971" cy="3170475"/>
      </dsp:txXfrm>
    </dsp:sp>
    <dsp:sp modelId="{77418457-C11E-D147-BE4E-7DB6FFAAC747}">
      <dsp:nvSpPr>
        <dsp:cNvPr id="0" name=""/>
        <dsp:cNvSpPr/>
      </dsp:nvSpPr>
      <dsp:spPr>
        <a:xfrm>
          <a:off x="7308342" y="30635"/>
          <a:ext cx="3203971" cy="111959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latin typeface="Century Gothic" panose="020B0502020202020204" pitchFamily="34" charset="0"/>
            </a:rPr>
            <a:t>Cybersecurity Threat Landscape</a:t>
          </a:r>
          <a:endParaRPr lang="en-US" sz="2200" kern="1200" dirty="0">
            <a:latin typeface="Century Gothic" panose="020B0502020202020204" pitchFamily="34" charset="0"/>
          </a:endParaRPr>
        </a:p>
      </dsp:txBody>
      <dsp:txXfrm>
        <a:off x="7308342" y="30635"/>
        <a:ext cx="3203971" cy="1119591"/>
      </dsp:txXfrm>
    </dsp:sp>
    <dsp:sp modelId="{AA269079-1446-2C4A-8436-AC3328CFB8B0}">
      <dsp:nvSpPr>
        <dsp:cNvPr id="0" name=""/>
        <dsp:cNvSpPr/>
      </dsp:nvSpPr>
      <dsp:spPr>
        <a:xfrm>
          <a:off x="7308342" y="1150227"/>
          <a:ext cx="3203971" cy="3170475"/>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latin typeface="Century Gothic" panose="020B0502020202020204" pitchFamily="34" charset="0"/>
            </a:rPr>
            <a:t>Only 28% confident in risk management</a:t>
          </a:r>
        </a:p>
        <a:p>
          <a:pPr marL="228600" lvl="1" indent="-228600" algn="l" defTabSz="977900">
            <a:lnSpc>
              <a:spcPct val="90000"/>
            </a:lnSpc>
            <a:spcBef>
              <a:spcPct val="0"/>
            </a:spcBef>
            <a:spcAft>
              <a:spcPct val="15000"/>
            </a:spcAft>
            <a:buChar char="•"/>
          </a:pPr>
          <a:r>
            <a:rPr lang="en-US" sz="2200" kern="1200" dirty="0">
              <a:latin typeface="Century Gothic" panose="020B0502020202020204" pitchFamily="34" charset="0"/>
            </a:rPr>
            <a:t>67% targeted by cyberattacks; 58% breached</a:t>
          </a:r>
        </a:p>
        <a:p>
          <a:pPr marL="228600" lvl="1" indent="-228600" algn="l" defTabSz="977900">
            <a:lnSpc>
              <a:spcPct val="90000"/>
            </a:lnSpc>
            <a:spcBef>
              <a:spcPct val="0"/>
            </a:spcBef>
            <a:spcAft>
              <a:spcPct val="15000"/>
            </a:spcAft>
            <a:buChar char="•"/>
          </a:pPr>
          <a:r>
            <a:rPr lang="en-US" sz="2200" kern="1200" dirty="0">
              <a:latin typeface="Century Gothic" panose="020B0502020202020204" pitchFamily="34" charset="0"/>
            </a:rPr>
            <a:t>~50% lack clear protection strategies</a:t>
          </a:r>
        </a:p>
      </dsp:txBody>
      <dsp:txXfrm>
        <a:off x="7308342" y="1150227"/>
        <a:ext cx="3203971" cy="31704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909356-B7B4-8943-8328-F91032F8C191}">
      <dsp:nvSpPr>
        <dsp:cNvPr id="0" name=""/>
        <dsp:cNvSpPr/>
      </dsp:nvSpPr>
      <dsp:spPr>
        <a:xfrm>
          <a:off x="3286" y="631508"/>
          <a:ext cx="3203971" cy="105839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US" sz="2900" b="1" kern="1200" dirty="0">
              <a:latin typeface="Century Gothic" panose="020B0502020202020204" pitchFamily="34" charset="0"/>
            </a:rPr>
            <a:t>Implications for Supply Chains</a:t>
          </a:r>
          <a:endParaRPr lang="en-US" sz="2900" kern="1200" dirty="0">
            <a:latin typeface="Century Gothic" panose="020B0502020202020204" pitchFamily="34" charset="0"/>
          </a:endParaRPr>
        </a:p>
      </dsp:txBody>
      <dsp:txXfrm>
        <a:off x="3286" y="631508"/>
        <a:ext cx="3203971" cy="1058394"/>
      </dsp:txXfrm>
    </dsp:sp>
    <dsp:sp modelId="{2A0B8030-78B6-1549-A0BE-676FF6AE4891}">
      <dsp:nvSpPr>
        <dsp:cNvPr id="0" name=""/>
        <dsp:cNvSpPr/>
      </dsp:nvSpPr>
      <dsp:spPr>
        <a:xfrm>
          <a:off x="3286" y="1689902"/>
          <a:ext cx="3203971" cy="2029927"/>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latin typeface="Century Gothic" panose="020B0502020202020204" pitchFamily="34" charset="0"/>
            </a:rPr>
            <a:t>SMEs handle sensitive financial/personal data</a:t>
          </a:r>
        </a:p>
        <a:p>
          <a:pPr marL="228600" lvl="1" indent="-228600" algn="l" defTabSz="889000">
            <a:lnSpc>
              <a:spcPct val="90000"/>
            </a:lnSpc>
            <a:spcBef>
              <a:spcPct val="0"/>
            </a:spcBef>
            <a:spcAft>
              <a:spcPct val="15000"/>
            </a:spcAft>
            <a:buChar char="•"/>
          </a:pPr>
          <a:r>
            <a:rPr lang="en-US" sz="2000" kern="1200" dirty="0">
              <a:latin typeface="Century Gothic" panose="020B0502020202020204" pitchFamily="34" charset="0"/>
            </a:rPr>
            <a:t>Breaches can disrupt entire networks &amp; cause financial loss</a:t>
          </a:r>
        </a:p>
      </dsp:txBody>
      <dsp:txXfrm>
        <a:off x="3286" y="1689902"/>
        <a:ext cx="3203971" cy="2029927"/>
      </dsp:txXfrm>
    </dsp:sp>
    <dsp:sp modelId="{DF4AF440-7943-7E40-9E8E-E3F44745BB9E}">
      <dsp:nvSpPr>
        <dsp:cNvPr id="0" name=""/>
        <dsp:cNvSpPr/>
      </dsp:nvSpPr>
      <dsp:spPr>
        <a:xfrm>
          <a:off x="3655814" y="631508"/>
          <a:ext cx="3203971" cy="105839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US" sz="2900" b="1" kern="1200" dirty="0">
              <a:latin typeface="Century Gothic" panose="020B0502020202020204" pitchFamily="34" charset="0"/>
            </a:rPr>
            <a:t>Persistent Barriers</a:t>
          </a:r>
          <a:endParaRPr lang="en-US" sz="2900" kern="1200" dirty="0">
            <a:latin typeface="Century Gothic" panose="020B0502020202020204" pitchFamily="34" charset="0"/>
          </a:endParaRPr>
        </a:p>
      </dsp:txBody>
      <dsp:txXfrm>
        <a:off x="3655814" y="631508"/>
        <a:ext cx="3203971" cy="1058394"/>
      </dsp:txXfrm>
    </dsp:sp>
    <dsp:sp modelId="{5A0A3F22-C448-394F-A79C-B21B043F0D44}">
      <dsp:nvSpPr>
        <dsp:cNvPr id="0" name=""/>
        <dsp:cNvSpPr/>
      </dsp:nvSpPr>
      <dsp:spPr>
        <a:xfrm>
          <a:off x="3655814" y="1689902"/>
          <a:ext cx="3203971" cy="2029927"/>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latin typeface="Century Gothic" panose="020B0502020202020204" pitchFamily="34" charset="0"/>
            </a:rPr>
            <a:t>SME Cybersecurity often underestimated due to limited awareness, funds &amp; skilled personnel</a:t>
          </a:r>
        </a:p>
      </dsp:txBody>
      <dsp:txXfrm>
        <a:off x="3655814" y="1689902"/>
        <a:ext cx="3203971" cy="2029927"/>
      </dsp:txXfrm>
    </dsp:sp>
    <dsp:sp modelId="{77418457-C11E-D147-BE4E-7DB6FFAAC747}">
      <dsp:nvSpPr>
        <dsp:cNvPr id="0" name=""/>
        <dsp:cNvSpPr/>
      </dsp:nvSpPr>
      <dsp:spPr>
        <a:xfrm>
          <a:off x="7308342" y="631508"/>
          <a:ext cx="3203971" cy="105839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US" sz="2900" b="1" kern="1200" dirty="0">
              <a:latin typeface="Century Gothic" panose="020B0502020202020204" pitchFamily="34" charset="0"/>
            </a:rPr>
            <a:t>Call to Action</a:t>
          </a:r>
          <a:endParaRPr lang="en-US" sz="2900" kern="1200" dirty="0">
            <a:latin typeface="Century Gothic" panose="020B0502020202020204" pitchFamily="34" charset="0"/>
          </a:endParaRPr>
        </a:p>
      </dsp:txBody>
      <dsp:txXfrm>
        <a:off x="7308342" y="631508"/>
        <a:ext cx="3203971" cy="1058394"/>
      </dsp:txXfrm>
    </dsp:sp>
    <dsp:sp modelId="{AA269079-1446-2C4A-8436-AC3328CFB8B0}">
      <dsp:nvSpPr>
        <dsp:cNvPr id="0" name=""/>
        <dsp:cNvSpPr/>
      </dsp:nvSpPr>
      <dsp:spPr>
        <a:xfrm>
          <a:off x="7308342" y="1689902"/>
          <a:ext cx="3203971" cy="2029927"/>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latin typeface="Century Gothic" panose="020B0502020202020204" pitchFamily="34" charset="0"/>
            </a:rPr>
            <a:t>Educate employees, enforce proactive protocols</a:t>
          </a:r>
        </a:p>
        <a:p>
          <a:pPr marL="228600" lvl="1" indent="-228600" algn="l" defTabSz="889000">
            <a:lnSpc>
              <a:spcPct val="90000"/>
            </a:lnSpc>
            <a:spcBef>
              <a:spcPct val="0"/>
            </a:spcBef>
            <a:spcAft>
              <a:spcPct val="15000"/>
            </a:spcAft>
            <a:buChar char="•"/>
          </a:pPr>
          <a:r>
            <a:rPr lang="en-US" sz="2000" kern="1200" dirty="0">
              <a:latin typeface="Century Gothic" panose="020B0502020202020204" pitchFamily="34" charset="0"/>
            </a:rPr>
            <a:t>Strategic investment in resilience &amp; protection</a:t>
          </a:r>
        </a:p>
      </dsp:txBody>
      <dsp:txXfrm>
        <a:off x="7308342" y="1689902"/>
        <a:ext cx="3203971" cy="202992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558705-F47C-8649-8285-AA4A61801C79}">
      <dsp:nvSpPr>
        <dsp:cNvPr id="0" name=""/>
        <dsp:cNvSpPr/>
      </dsp:nvSpPr>
      <dsp:spPr>
        <a:xfrm>
          <a:off x="0" y="0"/>
          <a:ext cx="5181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41CFDA-89FB-A84B-BD2B-3E888B84DF7D}">
      <dsp:nvSpPr>
        <dsp:cNvPr id="0" name=""/>
        <dsp:cNvSpPr/>
      </dsp:nvSpPr>
      <dsp:spPr>
        <a:xfrm>
          <a:off x="0" y="0"/>
          <a:ext cx="5181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latin typeface="Century Gothic" panose="020B0502020202020204" pitchFamily="34" charset="0"/>
            </a:rPr>
            <a:t>General Problem</a:t>
          </a:r>
          <a:r>
            <a:rPr lang="en-US" sz="2000" kern="1200" dirty="0">
              <a:latin typeface="Century Gothic" panose="020B0502020202020204" pitchFamily="34" charset="0"/>
            </a:rPr>
            <a:t>: </a:t>
          </a:r>
        </a:p>
        <a:p>
          <a:pPr marL="0" lvl="0" indent="0" algn="l" defTabSz="889000">
            <a:lnSpc>
              <a:spcPct val="90000"/>
            </a:lnSpc>
            <a:spcBef>
              <a:spcPct val="0"/>
            </a:spcBef>
            <a:spcAft>
              <a:spcPct val="35000"/>
            </a:spcAft>
            <a:buNone/>
          </a:pPr>
          <a:r>
            <a:rPr lang="en-US" sz="2000" kern="1200" dirty="0">
              <a:latin typeface="Century Gothic" panose="020B0502020202020204" pitchFamily="34" charset="0"/>
            </a:rPr>
            <a:t>The lack of cybersecurity education and awareness in SMEs heightens vulnerability to cyberattacks capable of disrupting operations and compromising sensitive data.</a:t>
          </a:r>
        </a:p>
      </dsp:txBody>
      <dsp:txXfrm>
        <a:off x="0" y="0"/>
        <a:ext cx="5181600" cy="2175669"/>
      </dsp:txXfrm>
    </dsp:sp>
    <dsp:sp modelId="{CD0B4176-C060-3640-9131-A6BCCC8E9CD4}">
      <dsp:nvSpPr>
        <dsp:cNvPr id="0" name=""/>
        <dsp:cNvSpPr/>
      </dsp:nvSpPr>
      <dsp:spPr>
        <a:xfrm>
          <a:off x="0" y="2175669"/>
          <a:ext cx="5181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DA0EF5-0D80-624D-A9D6-21BDC23215AA}">
      <dsp:nvSpPr>
        <dsp:cNvPr id="0" name=""/>
        <dsp:cNvSpPr/>
      </dsp:nvSpPr>
      <dsp:spPr>
        <a:xfrm>
          <a:off x="0" y="2175669"/>
          <a:ext cx="5181600"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latin typeface="Century Gothic" panose="020B0502020202020204" pitchFamily="34" charset="0"/>
            </a:rPr>
            <a:t>Specific Problem</a:t>
          </a:r>
          <a:r>
            <a:rPr lang="en-US" sz="2000" kern="1200" dirty="0">
              <a:latin typeface="Century Gothic" panose="020B0502020202020204" pitchFamily="34" charset="0"/>
            </a:rPr>
            <a:t>:</a:t>
          </a:r>
        </a:p>
        <a:p>
          <a:pPr marL="0" lvl="0" indent="0" algn="l" defTabSz="889000">
            <a:lnSpc>
              <a:spcPct val="90000"/>
            </a:lnSpc>
            <a:spcBef>
              <a:spcPct val="0"/>
            </a:spcBef>
            <a:spcAft>
              <a:spcPct val="35000"/>
            </a:spcAft>
            <a:buNone/>
          </a:pPr>
          <a:r>
            <a:rPr lang="en-US" sz="2000" kern="1200" dirty="0">
              <a:latin typeface="Century Gothic" panose="020B0502020202020204" pitchFamily="34" charset="0"/>
            </a:rPr>
            <a:t>Lack of education and awareness on data security at </a:t>
          </a:r>
          <a:r>
            <a:rPr lang="en-US" sz="2000" b="1" i="1" kern="1200" dirty="0">
              <a:latin typeface="Century Gothic" panose="020B0502020202020204" pitchFamily="34" charset="0"/>
            </a:rPr>
            <a:t>K2 Partnering Solutions </a:t>
          </a:r>
          <a:r>
            <a:rPr lang="en-US" sz="2000" kern="1200" dirty="0">
              <a:latin typeface="Century Gothic" panose="020B0502020202020204" pitchFamily="34" charset="0"/>
            </a:rPr>
            <a:t>creating vulnerabilities to cyberattacks, risking sensitive information and potentially disrupting operations.</a:t>
          </a:r>
        </a:p>
      </dsp:txBody>
      <dsp:txXfrm>
        <a:off x="0" y="2175669"/>
        <a:ext cx="5181600" cy="21756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F36526-786F-4859-9DB9-39257A79AB27}">
      <dsp:nvSpPr>
        <dsp:cNvPr id="0" name=""/>
        <dsp:cNvSpPr/>
      </dsp:nvSpPr>
      <dsp:spPr>
        <a:xfrm>
          <a:off x="0" y="2075"/>
          <a:ext cx="9560689" cy="105181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4793AD-28D4-46AB-8B0F-9A478340E82C}">
      <dsp:nvSpPr>
        <dsp:cNvPr id="0" name=""/>
        <dsp:cNvSpPr/>
      </dsp:nvSpPr>
      <dsp:spPr>
        <a:xfrm>
          <a:off x="318173" y="238733"/>
          <a:ext cx="578497" cy="5784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C68273-339C-4762-ACC5-F30CCFF9DAE1}">
      <dsp:nvSpPr>
        <dsp:cNvPr id="0" name=""/>
        <dsp:cNvSpPr/>
      </dsp:nvSpPr>
      <dsp:spPr>
        <a:xfrm>
          <a:off x="1214844" y="2075"/>
          <a:ext cx="8345844" cy="1051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317" tIns="111317" rIns="111317" bIns="111317"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latin typeface="Century Gothic" panose="020B0502020202020204" pitchFamily="34" charset="0"/>
            </a:rPr>
            <a:t>• Explore how cybersecurity awareness and training impact sustainable business performance at K2.</a:t>
          </a:r>
          <a:endParaRPr lang="en-US" sz="2000" kern="1200" dirty="0">
            <a:latin typeface="Century Gothic" panose="020B0502020202020204" pitchFamily="34" charset="0"/>
          </a:endParaRPr>
        </a:p>
      </dsp:txBody>
      <dsp:txXfrm>
        <a:off x="1214844" y="2075"/>
        <a:ext cx="8345844" cy="1051813"/>
      </dsp:txXfrm>
    </dsp:sp>
    <dsp:sp modelId="{758A727C-1DBA-45D9-B890-6AA05A5A86B2}">
      <dsp:nvSpPr>
        <dsp:cNvPr id="0" name=""/>
        <dsp:cNvSpPr/>
      </dsp:nvSpPr>
      <dsp:spPr>
        <a:xfrm>
          <a:off x="0" y="1316841"/>
          <a:ext cx="9560689" cy="105181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1F07BC-0943-4E8D-9D0D-DCC5C469B1D5}">
      <dsp:nvSpPr>
        <dsp:cNvPr id="0" name=""/>
        <dsp:cNvSpPr/>
      </dsp:nvSpPr>
      <dsp:spPr>
        <a:xfrm>
          <a:off x="318173" y="1553499"/>
          <a:ext cx="578497" cy="5784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ABDE1A-59E7-406F-8946-D2B4BB44BA00}">
      <dsp:nvSpPr>
        <dsp:cNvPr id="0" name=""/>
        <dsp:cNvSpPr/>
      </dsp:nvSpPr>
      <dsp:spPr>
        <a:xfrm>
          <a:off x="1214844" y="1316841"/>
          <a:ext cx="8345844" cy="1051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317" tIns="111317" rIns="111317" bIns="111317"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1"/>
              </a:solidFill>
              <a:latin typeface="Century Gothic" panose="020B0502020202020204" pitchFamily="34" charset="0"/>
            </a:rPr>
            <a:t>• Examine the relationship between management and employee awareness of cybersecurity issues and the effectiveness of current training programs.</a:t>
          </a:r>
        </a:p>
      </dsp:txBody>
      <dsp:txXfrm>
        <a:off x="1214844" y="1316841"/>
        <a:ext cx="8345844" cy="1051813"/>
      </dsp:txXfrm>
    </dsp:sp>
    <dsp:sp modelId="{46C2960C-924C-43B2-A745-3A51ED917868}">
      <dsp:nvSpPr>
        <dsp:cNvPr id="0" name=""/>
        <dsp:cNvSpPr/>
      </dsp:nvSpPr>
      <dsp:spPr>
        <a:xfrm>
          <a:off x="0" y="2631608"/>
          <a:ext cx="9560689" cy="105181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06E335-4827-42C3-A0A7-FE9C9E0F8358}">
      <dsp:nvSpPr>
        <dsp:cNvPr id="0" name=""/>
        <dsp:cNvSpPr/>
      </dsp:nvSpPr>
      <dsp:spPr>
        <a:xfrm>
          <a:off x="318173" y="2868266"/>
          <a:ext cx="578497" cy="5784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79248F-427C-4169-9652-B76E097744EF}">
      <dsp:nvSpPr>
        <dsp:cNvPr id="0" name=""/>
        <dsp:cNvSpPr/>
      </dsp:nvSpPr>
      <dsp:spPr>
        <a:xfrm>
          <a:off x="1214844" y="2631608"/>
          <a:ext cx="8345844" cy="1051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317" tIns="111317" rIns="111317" bIns="111317"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1"/>
              </a:solidFill>
              <a:latin typeface="Century Gothic" panose="020B0502020202020204" pitchFamily="34" charset="0"/>
            </a:rPr>
            <a:t>• Identify how awareness and training initiatives contribute to the company's long-term success and resilience in a digital marketplace.</a:t>
          </a:r>
        </a:p>
      </dsp:txBody>
      <dsp:txXfrm>
        <a:off x="1214844" y="2631608"/>
        <a:ext cx="8345844" cy="1051813"/>
      </dsp:txXfrm>
    </dsp:sp>
    <dsp:sp modelId="{F5ECCD30-FD1A-40CF-8D3D-B501B07551EC}">
      <dsp:nvSpPr>
        <dsp:cNvPr id="0" name=""/>
        <dsp:cNvSpPr/>
      </dsp:nvSpPr>
      <dsp:spPr>
        <a:xfrm>
          <a:off x="0" y="4075668"/>
          <a:ext cx="9560689" cy="79322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94B5C3-261E-4421-A595-8655303EC857}">
      <dsp:nvSpPr>
        <dsp:cNvPr id="0" name=""/>
        <dsp:cNvSpPr/>
      </dsp:nvSpPr>
      <dsp:spPr>
        <a:xfrm>
          <a:off x="318173" y="4183032"/>
          <a:ext cx="578497" cy="5784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4DCD35-52DD-49CC-BE05-71C0D506D116}">
      <dsp:nvSpPr>
        <dsp:cNvPr id="0" name=""/>
        <dsp:cNvSpPr/>
      </dsp:nvSpPr>
      <dsp:spPr>
        <a:xfrm>
          <a:off x="1214844" y="3946374"/>
          <a:ext cx="8345844" cy="1051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317" tIns="111317" rIns="111317" bIns="111317"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1"/>
              </a:solidFill>
              <a:latin typeface="Century Gothic" panose="020B0502020202020204" pitchFamily="34" charset="0"/>
            </a:rPr>
            <a:t>• Provide insights for strengthening cybersecurity culture to support sustainable business operations.</a:t>
          </a:r>
        </a:p>
      </dsp:txBody>
      <dsp:txXfrm>
        <a:off x="1214844" y="3946374"/>
        <a:ext cx="8345844" cy="105181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33B031-4A58-0641-8960-2141DB2223FD}">
      <dsp:nvSpPr>
        <dsp:cNvPr id="0" name=""/>
        <dsp:cNvSpPr/>
      </dsp:nvSpPr>
      <dsp:spPr>
        <a:xfrm>
          <a:off x="0" y="0"/>
          <a:ext cx="8938260" cy="130540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latin typeface="Century Gothic" panose="020B0502020202020204" pitchFamily="34" charset="0"/>
            </a:rPr>
            <a:t>Addresses a critical gap in SME cybersecurity by advancing tailored, evidence-based awareness strategies.</a:t>
          </a:r>
        </a:p>
      </dsp:txBody>
      <dsp:txXfrm>
        <a:off x="38234" y="38234"/>
        <a:ext cx="7529629" cy="1228933"/>
      </dsp:txXfrm>
    </dsp:sp>
    <dsp:sp modelId="{9F1D7FDD-2B41-714F-A3E9-8F34D883A407}">
      <dsp:nvSpPr>
        <dsp:cNvPr id="0" name=""/>
        <dsp:cNvSpPr/>
      </dsp:nvSpPr>
      <dsp:spPr>
        <a:xfrm>
          <a:off x="788670" y="1522968"/>
          <a:ext cx="8938260" cy="1305401"/>
        </a:xfrm>
        <a:prstGeom prst="roundRect">
          <a:avLst>
            <a:gd name="adj" fmla="val 10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latin typeface="Century Gothic" panose="020B0502020202020204" pitchFamily="34" charset="0"/>
            </a:rPr>
            <a:t>Potential to reduce data breaches, enhance customer trust, and foster a robust security culture.</a:t>
          </a:r>
        </a:p>
      </dsp:txBody>
      <dsp:txXfrm>
        <a:off x="826904" y="1561202"/>
        <a:ext cx="7224611" cy="1228933"/>
      </dsp:txXfrm>
    </dsp:sp>
    <dsp:sp modelId="{EF6B2762-2F98-6149-90E5-63B5A5D7FEF5}">
      <dsp:nvSpPr>
        <dsp:cNvPr id="0" name=""/>
        <dsp:cNvSpPr/>
      </dsp:nvSpPr>
      <dsp:spPr>
        <a:xfrm>
          <a:off x="1577340" y="3045936"/>
          <a:ext cx="8938260" cy="1305401"/>
        </a:xfrm>
        <a:prstGeom prst="roundRect">
          <a:avLst>
            <a:gd name="adj" fmla="val 10000"/>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latin typeface="Century Gothic" panose="020B0502020202020204" pitchFamily="34" charset="0"/>
            </a:rPr>
            <a:t>Provides actionable insights for SMEs with limited resources facing heightened cyber threats.</a:t>
          </a:r>
        </a:p>
      </dsp:txBody>
      <dsp:txXfrm>
        <a:off x="1615574" y="3084170"/>
        <a:ext cx="7224611" cy="1228933"/>
      </dsp:txXfrm>
    </dsp:sp>
    <dsp:sp modelId="{17BE0A54-9C12-8045-AEF7-0E09AC438ECA}">
      <dsp:nvSpPr>
        <dsp:cNvPr id="0" name=""/>
        <dsp:cNvSpPr/>
      </dsp:nvSpPr>
      <dsp:spPr>
        <a:xfrm>
          <a:off x="8089749" y="989929"/>
          <a:ext cx="848510" cy="848510"/>
        </a:xfrm>
        <a:prstGeom prst="downArrow">
          <a:avLst>
            <a:gd name="adj1" fmla="val 55000"/>
            <a:gd name="adj2" fmla="val 45000"/>
          </a:avLst>
        </a:prstGeom>
        <a:solidFill>
          <a:srgbClr val="7030A0">
            <a:alpha val="90000"/>
          </a:srgbClr>
        </a:solidFill>
        <a:ln w="12700" cap="flat" cmpd="sng" algn="ctr">
          <a:solidFill>
            <a:srgbClr val="7030A0">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280664" y="989929"/>
        <a:ext cx="466680" cy="638504"/>
      </dsp:txXfrm>
    </dsp:sp>
    <dsp:sp modelId="{8907880D-B21B-784E-A05D-2FA82BC98827}">
      <dsp:nvSpPr>
        <dsp:cNvPr id="0" name=""/>
        <dsp:cNvSpPr/>
      </dsp:nvSpPr>
      <dsp:spPr>
        <a:xfrm>
          <a:off x="8878419" y="2504195"/>
          <a:ext cx="848510" cy="848510"/>
        </a:xfrm>
        <a:prstGeom prst="downArrow">
          <a:avLst>
            <a:gd name="adj1" fmla="val 55000"/>
            <a:gd name="adj2" fmla="val 45000"/>
          </a:avLst>
        </a:prstGeom>
        <a:solidFill>
          <a:srgbClr val="7030A0">
            <a:alpha val="90000"/>
          </a:srgbClr>
        </a:solidFill>
        <a:ln w="12700" cap="flat" cmpd="sng" algn="ctr">
          <a:solidFill>
            <a:srgbClr val="7030A0">
              <a:alpha val="9000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069334" y="2504195"/>
        <a:ext cx="466680" cy="63850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70AC46-98DD-794F-892B-A82250360A68}">
      <dsp:nvSpPr>
        <dsp:cNvPr id="0" name=""/>
        <dsp:cNvSpPr/>
      </dsp:nvSpPr>
      <dsp:spPr>
        <a:xfrm>
          <a:off x="3286" y="58492"/>
          <a:ext cx="3203971" cy="6336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defRPr b="1"/>
          </a:pPr>
          <a:r>
            <a:rPr lang="en-US" sz="2200" b="1" kern="1200">
              <a:latin typeface="Century Gothic" panose="020B0502020202020204" pitchFamily="34" charset="0"/>
            </a:rPr>
            <a:t>Assumptions</a:t>
          </a:r>
          <a:endParaRPr lang="en-US" sz="2200" kern="1200">
            <a:latin typeface="Century Gothic" panose="020B0502020202020204" pitchFamily="34" charset="0"/>
          </a:endParaRPr>
        </a:p>
      </dsp:txBody>
      <dsp:txXfrm>
        <a:off x="3286" y="58492"/>
        <a:ext cx="3203971" cy="633600"/>
      </dsp:txXfrm>
    </dsp:sp>
    <dsp:sp modelId="{1EFEF3FD-4662-6D42-8085-C495C4B3C0C0}">
      <dsp:nvSpPr>
        <dsp:cNvPr id="0" name=""/>
        <dsp:cNvSpPr/>
      </dsp:nvSpPr>
      <dsp:spPr>
        <a:xfrm>
          <a:off x="3286" y="692092"/>
          <a:ext cx="3203971" cy="3600753"/>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latin typeface="Century Gothic" panose="020B0502020202020204" pitchFamily="34" charset="0"/>
            </a:rPr>
            <a:t>K2 faces notable cyber challenges</a:t>
          </a:r>
        </a:p>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latin typeface="Century Gothic" panose="020B0502020202020204" pitchFamily="34" charset="0"/>
            </a:rPr>
            <a:t>Selected participants have relevant knowledge</a:t>
          </a:r>
        </a:p>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latin typeface="Century Gothic" panose="020B0502020202020204" pitchFamily="34" charset="0"/>
            </a:rPr>
            <a:t>Documents are accurate, up-to-date &amp; accessible</a:t>
          </a:r>
        </a:p>
      </dsp:txBody>
      <dsp:txXfrm>
        <a:off x="3286" y="692092"/>
        <a:ext cx="3203971" cy="3600753"/>
      </dsp:txXfrm>
    </dsp:sp>
    <dsp:sp modelId="{A9985DF3-8593-1340-9600-E510ECB35C15}">
      <dsp:nvSpPr>
        <dsp:cNvPr id="0" name=""/>
        <dsp:cNvSpPr/>
      </dsp:nvSpPr>
      <dsp:spPr>
        <a:xfrm>
          <a:off x="3655814" y="58492"/>
          <a:ext cx="3203971" cy="6336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defRPr b="1"/>
          </a:pPr>
          <a:r>
            <a:rPr lang="en-US" sz="2200" kern="1200">
              <a:latin typeface="Century Gothic" panose="020B0502020202020204" pitchFamily="34" charset="0"/>
            </a:rPr>
            <a:t>Limitations</a:t>
          </a:r>
        </a:p>
      </dsp:txBody>
      <dsp:txXfrm>
        <a:off x="3655814" y="58492"/>
        <a:ext cx="3203971" cy="633600"/>
      </dsp:txXfrm>
    </dsp:sp>
    <dsp:sp modelId="{C4C090CE-AE88-1B43-86A4-213065825D80}">
      <dsp:nvSpPr>
        <dsp:cNvPr id="0" name=""/>
        <dsp:cNvSpPr/>
      </dsp:nvSpPr>
      <dsp:spPr>
        <a:xfrm>
          <a:off x="3655814" y="692092"/>
          <a:ext cx="3203971" cy="3600753"/>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a:latin typeface="Century Gothic" panose="020B0502020202020204" pitchFamily="34" charset="0"/>
            </a:rPr>
            <a:t>Small sample size (10  stakeholders)</a:t>
          </a:r>
        </a:p>
        <a:p>
          <a:pPr marL="228600" lvl="1" indent="-228600" algn="l" defTabSz="977900">
            <a:lnSpc>
              <a:spcPct val="90000"/>
            </a:lnSpc>
            <a:spcBef>
              <a:spcPct val="0"/>
            </a:spcBef>
            <a:spcAft>
              <a:spcPct val="15000"/>
            </a:spcAft>
            <a:buChar char="•"/>
          </a:pPr>
          <a:r>
            <a:rPr lang="en-US" sz="2200" kern="1200" dirty="0">
              <a:latin typeface="Century Gothic" panose="020B0502020202020204" pitchFamily="34" charset="0"/>
            </a:rPr>
            <a:t>Limited access to proprietary data</a:t>
          </a:r>
        </a:p>
        <a:p>
          <a:pPr marL="228600" lvl="1" indent="-228600" algn="l" defTabSz="977900">
            <a:lnSpc>
              <a:spcPct val="90000"/>
            </a:lnSpc>
            <a:spcBef>
              <a:spcPct val="0"/>
            </a:spcBef>
            <a:spcAft>
              <a:spcPct val="15000"/>
            </a:spcAft>
            <a:buChar char="•"/>
          </a:pPr>
          <a:r>
            <a:rPr lang="en-US" sz="2200" b="0" kern="1200" dirty="0">
              <a:latin typeface="Century Gothic" panose="020B0502020202020204" pitchFamily="34" charset="0"/>
            </a:rPr>
            <a:t>Interpretive nature of qualitative research leading to interviewer bias </a:t>
          </a:r>
        </a:p>
      </dsp:txBody>
      <dsp:txXfrm>
        <a:off x="3655814" y="692092"/>
        <a:ext cx="3203971" cy="3600753"/>
      </dsp:txXfrm>
    </dsp:sp>
    <dsp:sp modelId="{60C94C97-0EDD-F54C-A2C1-DAAA74C194F3}">
      <dsp:nvSpPr>
        <dsp:cNvPr id="0" name=""/>
        <dsp:cNvSpPr/>
      </dsp:nvSpPr>
      <dsp:spPr>
        <a:xfrm>
          <a:off x="7308342" y="58492"/>
          <a:ext cx="3203971" cy="6336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defRPr b="1"/>
          </a:pPr>
          <a:r>
            <a:rPr lang="en-US" sz="2200" b="1" kern="1200" dirty="0">
              <a:latin typeface="Century Gothic" panose="020B0502020202020204" pitchFamily="34" charset="0"/>
            </a:rPr>
            <a:t>Delimitations</a:t>
          </a:r>
          <a:endParaRPr lang="en-US" sz="2200" kern="1200" dirty="0">
            <a:latin typeface="Century Gothic" panose="020B0502020202020204" pitchFamily="34" charset="0"/>
          </a:endParaRPr>
        </a:p>
      </dsp:txBody>
      <dsp:txXfrm>
        <a:off x="7308342" y="58492"/>
        <a:ext cx="3203971" cy="633600"/>
      </dsp:txXfrm>
    </dsp:sp>
    <dsp:sp modelId="{807EF23B-71F9-8747-8B0D-12E6F764F8FF}">
      <dsp:nvSpPr>
        <dsp:cNvPr id="0" name=""/>
        <dsp:cNvSpPr/>
      </dsp:nvSpPr>
      <dsp:spPr>
        <a:xfrm>
          <a:off x="7308342" y="692092"/>
          <a:ext cx="3203971" cy="3600753"/>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latin typeface="Century Gothic" panose="020B0502020202020204" pitchFamily="34" charset="0"/>
            </a:rPr>
            <a:t>Focused on K2 only</a:t>
          </a:r>
        </a:p>
        <a:p>
          <a:pPr marL="228600" lvl="1" indent="-228600" algn="l" defTabSz="977900">
            <a:lnSpc>
              <a:spcPct val="90000"/>
            </a:lnSpc>
            <a:spcBef>
              <a:spcPct val="0"/>
            </a:spcBef>
            <a:spcAft>
              <a:spcPct val="15000"/>
            </a:spcAft>
            <a:buChar char="•"/>
          </a:pPr>
          <a:r>
            <a:rPr lang="en-US" sz="2200" kern="1200" dirty="0">
              <a:latin typeface="Century Gothic" panose="020B0502020202020204" pitchFamily="34" charset="0"/>
            </a:rPr>
            <a:t>Internal practices &amp; awareness—no vendor risk analysis</a:t>
          </a:r>
        </a:p>
        <a:p>
          <a:pPr marL="228600" lvl="1" indent="-228600" algn="l" defTabSz="977900">
            <a:lnSpc>
              <a:spcPct val="90000"/>
            </a:lnSpc>
            <a:spcBef>
              <a:spcPct val="0"/>
            </a:spcBef>
            <a:spcAft>
              <a:spcPct val="15000"/>
            </a:spcAft>
            <a:buChar char="•"/>
          </a:pPr>
          <a:r>
            <a:rPr lang="en-US" sz="2200" kern="1200">
              <a:latin typeface="Century Gothic" panose="020B0502020202020204" pitchFamily="34" charset="0"/>
            </a:rPr>
            <a:t>Five-year timeframe for threat relevance</a:t>
          </a:r>
        </a:p>
        <a:p>
          <a:pPr marL="228600" lvl="1" indent="-228600" algn="l" defTabSz="977900">
            <a:lnSpc>
              <a:spcPct val="90000"/>
            </a:lnSpc>
            <a:spcBef>
              <a:spcPct val="0"/>
            </a:spcBef>
            <a:spcAft>
              <a:spcPct val="15000"/>
            </a:spcAft>
            <a:buChar char="•"/>
          </a:pPr>
          <a:r>
            <a:rPr lang="en-US" sz="2200" kern="1200">
              <a:latin typeface="Century Gothic" panose="020B0502020202020204" pitchFamily="34" charset="0"/>
            </a:rPr>
            <a:t>Qualitative scope over quantitative generalization</a:t>
          </a:r>
        </a:p>
      </dsp:txBody>
      <dsp:txXfrm>
        <a:off x="7308342" y="692092"/>
        <a:ext cx="3203971" cy="360075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8DA603-91B6-814A-93A0-18BF0DD83159}">
      <dsp:nvSpPr>
        <dsp:cNvPr id="0" name=""/>
        <dsp:cNvSpPr/>
      </dsp:nvSpPr>
      <dsp:spPr>
        <a:xfrm>
          <a:off x="7430493" y="1675599"/>
          <a:ext cx="1541911" cy="733809"/>
        </a:xfrm>
        <a:custGeom>
          <a:avLst/>
          <a:gdLst/>
          <a:ahLst/>
          <a:cxnLst/>
          <a:rect l="0" t="0" r="0" b="0"/>
          <a:pathLst>
            <a:path>
              <a:moveTo>
                <a:pt x="0" y="0"/>
              </a:moveTo>
              <a:lnTo>
                <a:pt x="0" y="500069"/>
              </a:lnTo>
              <a:lnTo>
                <a:pt x="1541911" y="500069"/>
              </a:lnTo>
              <a:lnTo>
                <a:pt x="1541911" y="73380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EC0AB5-2E87-1347-9EF4-E6CFA16A541F}">
      <dsp:nvSpPr>
        <dsp:cNvPr id="0" name=""/>
        <dsp:cNvSpPr/>
      </dsp:nvSpPr>
      <dsp:spPr>
        <a:xfrm>
          <a:off x="5888581" y="1675599"/>
          <a:ext cx="1541911" cy="733809"/>
        </a:xfrm>
        <a:custGeom>
          <a:avLst/>
          <a:gdLst/>
          <a:ahLst/>
          <a:cxnLst/>
          <a:rect l="0" t="0" r="0" b="0"/>
          <a:pathLst>
            <a:path>
              <a:moveTo>
                <a:pt x="1541911" y="0"/>
              </a:moveTo>
              <a:lnTo>
                <a:pt x="1541911" y="500069"/>
              </a:lnTo>
              <a:lnTo>
                <a:pt x="0" y="500069"/>
              </a:lnTo>
              <a:lnTo>
                <a:pt x="0" y="73380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4E4B85-A8B2-CB43-B0F9-5D0757A4AEB0}">
      <dsp:nvSpPr>
        <dsp:cNvPr id="0" name=""/>
        <dsp:cNvSpPr/>
      </dsp:nvSpPr>
      <dsp:spPr>
        <a:xfrm>
          <a:off x="1283" y="73412"/>
          <a:ext cx="2523127" cy="160218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5B6DDE2A-23F1-BA49-8B4E-1E5C6EA93355}">
      <dsp:nvSpPr>
        <dsp:cNvPr id="0" name=""/>
        <dsp:cNvSpPr/>
      </dsp:nvSpPr>
      <dsp:spPr>
        <a:xfrm>
          <a:off x="281631" y="339743"/>
          <a:ext cx="2523127" cy="160218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entury Gothic" panose="020B0502020202020204" pitchFamily="34" charset="0"/>
            </a:rPr>
            <a:t>Study Population:</a:t>
          </a:r>
          <a:r>
            <a:rPr lang="en-US" sz="1400" kern="1200" dirty="0">
              <a:latin typeface="Century Gothic" panose="020B0502020202020204" pitchFamily="34" charset="0"/>
            </a:rPr>
            <a:t> Broad group relevant to cybersecurity in SMEs</a:t>
          </a:r>
          <a:r>
            <a:rPr lang="en-US" sz="1400" kern="1200" dirty="0"/>
            <a:t>.</a:t>
          </a:r>
        </a:p>
      </dsp:txBody>
      <dsp:txXfrm>
        <a:off x="328557" y="386669"/>
        <a:ext cx="2429275" cy="1508334"/>
      </dsp:txXfrm>
    </dsp:sp>
    <dsp:sp modelId="{5FDDAB39-94D7-D543-96F7-B2A94369527E}">
      <dsp:nvSpPr>
        <dsp:cNvPr id="0" name=""/>
        <dsp:cNvSpPr/>
      </dsp:nvSpPr>
      <dsp:spPr>
        <a:xfrm>
          <a:off x="3085106" y="73412"/>
          <a:ext cx="2523127" cy="160218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0FFC8B20-B9AD-6541-B671-227072AFD20D}">
      <dsp:nvSpPr>
        <dsp:cNvPr id="0" name=""/>
        <dsp:cNvSpPr/>
      </dsp:nvSpPr>
      <dsp:spPr>
        <a:xfrm>
          <a:off x="3365454" y="339743"/>
          <a:ext cx="2523127" cy="160218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entury Gothic" panose="020B0502020202020204" pitchFamily="34" charset="0"/>
            </a:rPr>
            <a:t>Target Population:</a:t>
          </a:r>
          <a:r>
            <a:rPr lang="en-US" sz="1400" kern="1200" dirty="0">
              <a:latin typeface="Century Gothic" panose="020B0502020202020204" pitchFamily="34" charset="0"/>
            </a:rPr>
            <a:t> Employees at K2 Partnering Solutions, directly impacted by cybersecurity. </a:t>
          </a:r>
        </a:p>
      </dsp:txBody>
      <dsp:txXfrm>
        <a:off x="3412380" y="386669"/>
        <a:ext cx="2429275" cy="1508334"/>
      </dsp:txXfrm>
    </dsp:sp>
    <dsp:sp modelId="{BA530BF1-9015-C54E-BF6D-85550D5CAE31}">
      <dsp:nvSpPr>
        <dsp:cNvPr id="0" name=""/>
        <dsp:cNvSpPr/>
      </dsp:nvSpPr>
      <dsp:spPr>
        <a:xfrm>
          <a:off x="6168929" y="73412"/>
          <a:ext cx="2523127" cy="160218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7D13A6A6-CBDA-1349-9AB0-767A93035CA6}">
      <dsp:nvSpPr>
        <dsp:cNvPr id="0" name=""/>
        <dsp:cNvSpPr/>
      </dsp:nvSpPr>
      <dsp:spPr>
        <a:xfrm>
          <a:off x="6449277" y="339743"/>
          <a:ext cx="2523127" cy="160218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Century Gothic" panose="020B0502020202020204" pitchFamily="34" charset="0"/>
            </a:rPr>
            <a:t>Significance:</a:t>
          </a:r>
          <a:endParaRPr lang="en-US" sz="1400" kern="1200" dirty="0">
            <a:latin typeface="Century Gothic" panose="020B0502020202020204" pitchFamily="34" charset="0"/>
          </a:endParaRPr>
        </a:p>
      </dsp:txBody>
      <dsp:txXfrm>
        <a:off x="6496203" y="386669"/>
        <a:ext cx="2429275" cy="1508334"/>
      </dsp:txXfrm>
    </dsp:sp>
    <dsp:sp modelId="{B6E8763F-6E2C-F447-A880-644A6A5DFA5B}">
      <dsp:nvSpPr>
        <dsp:cNvPr id="0" name=""/>
        <dsp:cNvSpPr/>
      </dsp:nvSpPr>
      <dsp:spPr>
        <a:xfrm>
          <a:off x="4627018" y="2409408"/>
          <a:ext cx="2523127" cy="160218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62A4DE9D-8A7A-D54D-8CAE-0BE767CB1B07}">
      <dsp:nvSpPr>
        <dsp:cNvPr id="0" name=""/>
        <dsp:cNvSpPr/>
      </dsp:nvSpPr>
      <dsp:spPr>
        <a:xfrm>
          <a:off x="4907365" y="2675738"/>
          <a:ext cx="2523127" cy="160218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entury Gothic" panose="020B0502020202020204" pitchFamily="34" charset="0"/>
            </a:rPr>
            <a:t>Focused on accessible, relevant participants to ensure meaningful insights</a:t>
          </a:r>
          <a:r>
            <a:rPr lang="en-US" sz="1400" kern="1200" dirty="0"/>
            <a:t>.</a:t>
          </a:r>
        </a:p>
      </dsp:txBody>
      <dsp:txXfrm>
        <a:off x="4954291" y="2722664"/>
        <a:ext cx="2429275" cy="1508334"/>
      </dsp:txXfrm>
    </dsp:sp>
    <dsp:sp modelId="{7E2A9126-0E4C-CF46-9D4A-0A969AC5DF05}">
      <dsp:nvSpPr>
        <dsp:cNvPr id="0" name=""/>
        <dsp:cNvSpPr/>
      </dsp:nvSpPr>
      <dsp:spPr>
        <a:xfrm>
          <a:off x="7710840" y="2409408"/>
          <a:ext cx="2523127" cy="160218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B9AE8FA6-3BCD-BF40-A218-969F9BB6E5BE}">
      <dsp:nvSpPr>
        <dsp:cNvPr id="0" name=""/>
        <dsp:cNvSpPr/>
      </dsp:nvSpPr>
      <dsp:spPr>
        <a:xfrm>
          <a:off x="7991188" y="2675738"/>
          <a:ext cx="2523127" cy="160218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entury Gothic" panose="020B0502020202020204" pitchFamily="34" charset="0"/>
            </a:rPr>
            <a:t>Aims to inform K2 Partnering Solutions and offer guidance applicable to similar SMEs navigating cybersecurity challenges</a:t>
          </a:r>
          <a:r>
            <a:rPr lang="en-US" sz="1400" kern="1200" dirty="0"/>
            <a:t>.</a:t>
          </a:r>
        </a:p>
      </dsp:txBody>
      <dsp:txXfrm>
        <a:off x="8038114" y="2722664"/>
        <a:ext cx="2429275" cy="15083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ED9C48-B324-0544-BFC0-137C898166B9}">
      <dsp:nvSpPr>
        <dsp:cNvPr id="0" name=""/>
        <dsp:cNvSpPr/>
      </dsp:nvSpPr>
      <dsp:spPr>
        <a:xfrm>
          <a:off x="0" y="2907923"/>
          <a:ext cx="5997966" cy="1907912"/>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b="1" kern="1200" dirty="0">
              <a:solidFill>
                <a:schemeClr val="tx1"/>
              </a:solidFill>
              <a:latin typeface="Century Gothic" panose="020B0502020202020204" pitchFamily="34" charset="0"/>
            </a:rPr>
            <a:t>Four themes emerged</a:t>
          </a:r>
          <a:r>
            <a:rPr lang="en-US" sz="3400" b="1" kern="1200" dirty="0">
              <a:solidFill>
                <a:schemeClr val="tx1"/>
              </a:solidFill>
            </a:rPr>
            <a:t>:</a:t>
          </a:r>
        </a:p>
      </dsp:txBody>
      <dsp:txXfrm>
        <a:off x="0" y="2907923"/>
        <a:ext cx="5997966" cy="1030272"/>
      </dsp:txXfrm>
    </dsp:sp>
    <dsp:sp modelId="{66032258-E68F-244B-80F7-7065CAC132CE}">
      <dsp:nvSpPr>
        <dsp:cNvPr id="0" name=""/>
        <dsp:cNvSpPr/>
      </dsp:nvSpPr>
      <dsp:spPr>
        <a:xfrm>
          <a:off x="0" y="3900037"/>
          <a:ext cx="1499491" cy="877639"/>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entury Gothic" panose="020B0502020202020204" pitchFamily="34" charset="0"/>
            </a:rPr>
            <a:t>Organizational Cybersecurity Strategies and Infrastructure</a:t>
          </a:r>
        </a:p>
      </dsp:txBody>
      <dsp:txXfrm>
        <a:off x="0" y="3900037"/>
        <a:ext cx="1499491" cy="877639"/>
      </dsp:txXfrm>
    </dsp:sp>
    <dsp:sp modelId="{A377E583-1138-174F-B5BC-51A7C5117BE1}">
      <dsp:nvSpPr>
        <dsp:cNvPr id="0" name=""/>
        <dsp:cNvSpPr/>
      </dsp:nvSpPr>
      <dsp:spPr>
        <a:xfrm>
          <a:off x="1499491" y="3900037"/>
          <a:ext cx="1499491" cy="877639"/>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entury Gothic" panose="020B0502020202020204" pitchFamily="34" charset="0"/>
            </a:rPr>
            <a:t>Cybersecurity Awareness and Training Culture</a:t>
          </a:r>
        </a:p>
      </dsp:txBody>
      <dsp:txXfrm>
        <a:off x="1499491" y="3900037"/>
        <a:ext cx="1499491" cy="877639"/>
      </dsp:txXfrm>
    </dsp:sp>
    <dsp:sp modelId="{216A549B-59D7-1640-8B53-72A7619C07D8}">
      <dsp:nvSpPr>
        <dsp:cNvPr id="0" name=""/>
        <dsp:cNvSpPr/>
      </dsp:nvSpPr>
      <dsp:spPr>
        <a:xfrm>
          <a:off x="2998983" y="3900037"/>
          <a:ext cx="1499491" cy="877639"/>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entury Gothic" panose="020B0502020202020204" pitchFamily="34" charset="0"/>
            </a:rPr>
            <a:t>Cybersecurity Culture and Organizational Commitment</a:t>
          </a:r>
        </a:p>
      </dsp:txBody>
      <dsp:txXfrm>
        <a:off x="2998983" y="3900037"/>
        <a:ext cx="1499491" cy="877639"/>
      </dsp:txXfrm>
    </dsp:sp>
    <dsp:sp modelId="{89D29F27-C695-2746-915A-D99EE00DCBB1}">
      <dsp:nvSpPr>
        <dsp:cNvPr id="0" name=""/>
        <dsp:cNvSpPr/>
      </dsp:nvSpPr>
      <dsp:spPr>
        <a:xfrm>
          <a:off x="4498475" y="3900037"/>
          <a:ext cx="1499491" cy="877639"/>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entury Gothic" panose="020B0502020202020204" pitchFamily="34" charset="0"/>
            </a:rPr>
            <a:t>Sustainability and Strategic Impact</a:t>
          </a:r>
        </a:p>
      </dsp:txBody>
      <dsp:txXfrm>
        <a:off x="4498475" y="3900037"/>
        <a:ext cx="1499491" cy="877639"/>
      </dsp:txXfrm>
    </dsp:sp>
    <dsp:sp modelId="{A697FCCB-50B2-644E-9672-3EE86AF2BFEE}">
      <dsp:nvSpPr>
        <dsp:cNvPr id="0" name=""/>
        <dsp:cNvSpPr/>
      </dsp:nvSpPr>
      <dsp:spPr>
        <a:xfrm rot="10800000">
          <a:off x="0" y="1"/>
          <a:ext cx="5997966" cy="2934369"/>
        </a:xfrm>
        <a:prstGeom prst="upArrowCallout">
          <a:avLst/>
        </a:prstGeom>
        <a:solidFill>
          <a:schemeClr val="accent4">
            <a:lumMod val="40000"/>
            <a:lumOff val="60000"/>
            <a:alpha val="99000"/>
          </a:schemeClr>
        </a:solidFill>
        <a:ln w="19050" cap="flat" cmpd="sng" algn="ctr">
          <a:no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chemeClr val="tx1"/>
              </a:solidFill>
              <a:latin typeface="Century Gothic" panose="020B0502020202020204" pitchFamily="34" charset="0"/>
            </a:rPr>
            <a:t>Thematic Analysis</a:t>
          </a:r>
          <a:endParaRPr lang="en-US" sz="3600" kern="1200" dirty="0">
            <a:solidFill>
              <a:schemeClr val="tx1"/>
            </a:solidFill>
            <a:latin typeface="Century Gothic" panose="020B0502020202020204" pitchFamily="34" charset="0"/>
          </a:endParaRPr>
        </a:p>
      </dsp:txBody>
      <dsp:txXfrm rot="10800000">
        <a:off x="0" y="1"/>
        <a:ext cx="5997966" cy="190666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ED9C48-B324-0544-BFC0-137C898166B9}">
      <dsp:nvSpPr>
        <dsp:cNvPr id="0" name=""/>
        <dsp:cNvSpPr/>
      </dsp:nvSpPr>
      <dsp:spPr>
        <a:xfrm>
          <a:off x="0" y="2907923"/>
          <a:ext cx="5997966" cy="1907912"/>
        </a:xfrm>
        <a:prstGeom prst="rect">
          <a:avLst/>
        </a:prstGeom>
        <a:solidFill>
          <a:schemeClr val="accent6">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b="1" kern="1200" dirty="0">
              <a:solidFill>
                <a:schemeClr val="tx1"/>
              </a:solidFill>
              <a:latin typeface="Century Gothic" panose="020B0502020202020204" pitchFamily="34" charset="0"/>
            </a:rPr>
            <a:t>Four themes emerged</a:t>
          </a:r>
          <a:r>
            <a:rPr lang="en-US" sz="3400" b="1" kern="1200" dirty="0">
              <a:solidFill>
                <a:schemeClr val="tx1"/>
              </a:solidFill>
            </a:rPr>
            <a:t>:</a:t>
          </a:r>
        </a:p>
      </dsp:txBody>
      <dsp:txXfrm>
        <a:off x="0" y="2907923"/>
        <a:ext cx="5997966" cy="1030272"/>
      </dsp:txXfrm>
    </dsp:sp>
    <dsp:sp modelId="{66032258-E68F-244B-80F7-7065CAC132CE}">
      <dsp:nvSpPr>
        <dsp:cNvPr id="0" name=""/>
        <dsp:cNvSpPr/>
      </dsp:nvSpPr>
      <dsp:spPr>
        <a:xfrm>
          <a:off x="0" y="3900037"/>
          <a:ext cx="1499491" cy="877639"/>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entury Gothic" panose="020B0502020202020204" pitchFamily="34" charset="0"/>
            </a:rPr>
            <a:t>Organizational Cybersecurity Strategies and Infrastructure</a:t>
          </a:r>
        </a:p>
      </dsp:txBody>
      <dsp:txXfrm>
        <a:off x="0" y="3900037"/>
        <a:ext cx="1499491" cy="877639"/>
      </dsp:txXfrm>
    </dsp:sp>
    <dsp:sp modelId="{A377E583-1138-174F-B5BC-51A7C5117BE1}">
      <dsp:nvSpPr>
        <dsp:cNvPr id="0" name=""/>
        <dsp:cNvSpPr/>
      </dsp:nvSpPr>
      <dsp:spPr>
        <a:xfrm>
          <a:off x="1499491" y="3900037"/>
          <a:ext cx="1499491" cy="877639"/>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entury Gothic" panose="020B0502020202020204" pitchFamily="34" charset="0"/>
            </a:rPr>
            <a:t>Cybersecurity Awareness and Training Culture</a:t>
          </a:r>
        </a:p>
      </dsp:txBody>
      <dsp:txXfrm>
        <a:off x="1499491" y="3900037"/>
        <a:ext cx="1499491" cy="877639"/>
      </dsp:txXfrm>
    </dsp:sp>
    <dsp:sp modelId="{216A549B-59D7-1640-8B53-72A7619C07D8}">
      <dsp:nvSpPr>
        <dsp:cNvPr id="0" name=""/>
        <dsp:cNvSpPr/>
      </dsp:nvSpPr>
      <dsp:spPr>
        <a:xfrm>
          <a:off x="2998983" y="3900037"/>
          <a:ext cx="1499491" cy="877639"/>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entury Gothic" panose="020B0502020202020204" pitchFamily="34" charset="0"/>
            </a:rPr>
            <a:t>Cybersecurity Culture and Organizational Commitment</a:t>
          </a:r>
        </a:p>
      </dsp:txBody>
      <dsp:txXfrm>
        <a:off x="2998983" y="3900037"/>
        <a:ext cx="1499491" cy="877639"/>
      </dsp:txXfrm>
    </dsp:sp>
    <dsp:sp modelId="{89D29F27-C695-2746-915A-D99EE00DCBB1}">
      <dsp:nvSpPr>
        <dsp:cNvPr id="0" name=""/>
        <dsp:cNvSpPr/>
      </dsp:nvSpPr>
      <dsp:spPr>
        <a:xfrm>
          <a:off x="4498475" y="3900037"/>
          <a:ext cx="1499491" cy="877639"/>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17780" rIns="99568" bIns="1778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Century Gothic" panose="020B0502020202020204" pitchFamily="34" charset="0"/>
            </a:rPr>
            <a:t>Sustainability and Strategic Impact</a:t>
          </a:r>
        </a:p>
      </dsp:txBody>
      <dsp:txXfrm>
        <a:off x="4498475" y="3900037"/>
        <a:ext cx="1499491" cy="877639"/>
      </dsp:txXfrm>
    </dsp:sp>
    <dsp:sp modelId="{A697FCCB-50B2-644E-9672-3EE86AF2BFEE}">
      <dsp:nvSpPr>
        <dsp:cNvPr id="0" name=""/>
        <dsp:cNvSpPr/>
      </dsp:nvSpPr>
      <dsp:spPr>
        <a:xfrm rot="10800000">
          <a:off x="0" y="1"/>
          <a:ext cx="5997966" cy="2934369"/>
        </a:xfrm>
        <a:prstGeom prst="upArrowCallout">
          <a:avLst/>
        </a:prstGeom>
        <a:solidFill>
          <a:schemeClr val="accent4">
            <a:lumMod val="40000"/>
            <a:lumOff val="60000"/>
            <a:alpha val="99000"/>
          </a:schemeClr>
        </a:solidFill>
        <a:ln w="19050" cap="flat" cmpd="sng" algn="ctr">
          <a:no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b="1" kern="1200" dirty="0">
              <a:solidFill>
                <a:schemeClr val="tx1"/>
              </a:solidFill>
              <a:latin typeface="Century Gothic" panose="020B0502020202020204" pitchFamily="34" charset="0"/>
            </a:rPr>
            <a:t>Thematic Analysis</a:t>
          </a:r>
          <a:endParaRPr lang="en-US" sz="3600" kern="1200" dirty="0">
            <a:solidFill>
              <a:schemeClr val="tx1"/>
            </a:solidFill>
            <a:latin typeface="Century Gothic" panose="020B0502020202020204" pitchFamily="34" charset="0"/>
          </a:endParaRPr>
        </a:p>
      </dsp:txBody>
      <dsp:txXfrm rot="10800000">
        <a:off x="0" y="1"/>
        <a:ext cx="5997966" cy="190666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DC817-D12D-1D4B-81B0-1C981EC096AC}">
      <dsp:nvSpPr>
        <dsp:cNvPr id="0" name=""/>
        <dsp:cNvSpPr/>
      </dsp:nvSpPr>
      <dsp:spPr>
        <a:xfrm>
          <a:off x="205" y="687670"/>
          <a:ext cx="2479997" cy="297599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66750">
            <a:lnSpc>
              <a:spcPct val="90000"/>
            </a:lnSpc>
            <a:spcBef>
              <a:spcPct val="0"/>
            </a:spcBef>
            <a:spcAft>
              <a:spcPct val="35000"/>
            </a:spcAft>
            <a:buNone/>
          </a:pPr>
          <a:r>
            <a:rPr lang="en-US" sz="1500" kern="1200" dirty="0">
              <a:latin typeface="Century Gothic" panose="020B0502020202020204" pitchFamily="34" charset="0"/>
            </a:rPr>
            <a:t>Cybersecurity is integral to SME sustainability in the digital economy.</a:t>
          </a:r>
        </a:p>
      </dsp:txBody>
      <dsp:txXfrm>
        <a:off x="205" y="1878069"/>
        <a:ext cx="2479997" cy="1785598"/>
      </dsp:txXfrm>
    </dsp:sp>
    <dsp:sp modelId="{329CEA7E-4EEA-5B47-8D14-88CA28991E44}">
      <dsp:nvSpPr>
        <dsp:cNvPr id="0" name=""/>
        <dsp:cNvSpPr/>
      </dsp:nvSpPr>
      <dsp:spPr>
        <a:xfrm>
          <a:off x="205" y="687670"/>
          <a:ext cx="2479997" cy="1190398"/>
        </a:xfrm>
        <a:prstGeom prst="rect">
          <a:avLst/>
        </a:prstGeom>
        <a:noFill/>
        <a:ln w="635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p>
      </dsp:txBody>
      <dsp:txXfrm>
        <a:off x="205" y="687670"/>
        <a:ext cx="2479997" cy="1190398"/>
      </dsp:txXfrm>
    </dsp:sp>
    <dsp:sp modelId="{7CF7A997-3D5D-D849-9F62-BF544B16957D}">
      <dsp:nvSpPr>
        <dsp:cNvPr id="0" name=""/>
        <dsp:cNvSpPr/>
      </dsp:nvSpPr>
      <dsp:spPr>
        <a:xfrm>
          <a:off x="2678602" y="687670"/>
          <a:ext cx="2479997" cy="297599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66750">
            <a:lnSpc>
              <a:spcPct val="90000"/>
            </a:lnSpc>
            <a:spcBef>
              <a:spcPct val="0"/>
            </a:spcBef>
            <a:spcAft>
              <a:spcPct val="35000"/>
            </a:spcAft>
            <a:buNone/>
          </a:pPr>
          <a:r>
            <a:rPr lang="en-US" sz="1500" kern="1200" dirty="0">
              <a:latin typeface="Century Gothic" panose="020B0502020202020204" pitchFamily="34" charset="0"/>
            </a:rPr>
            <a:t>Education and awareness serve as the most cost-effective and impactful defenses</a:t>
          </a:r>
          <a:r>
            <a:rPr lang="en-US" sz="1500" kern="1200" dirty="0"/>
            <a:t>.</a:t>
          </a:r>
        </a:p>
      </dsp:txBody>
      <dsp:txXfrm>
        <a:off x="2678602" y="1878069"/>
        <a:ext cx="2479997" cy="1785598"/>
      </dsp:txXfrm>
    </dsp:sp>
    <dsp:sp modelId="{62BA6AF2-7334-7B4C-BEE7-C5D4B9017403}">
      <dsp:nvSpPr>
        <dsp:cNvPr id="0" name=""/>
        <dsp:cNvSpPr/>
      </dsp:nvSpPr>
      <dsp:spPr>
        <a:xfrm>
          <a:off x="2678602" y="687670"/>
          <a:ext cx="2479997" cy="1190398"/>
        </a:xfrm>
        <a:prstGeom prst="rect">
          <a:avLst/>
        </a:prstGeom>
        <a:noFill/>
        <a:ln w="635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p>
      </dsp:txBody>
      <dsp:txXfrm>
        <a:off x="2678602" y="687670"/>
        <a:ext cx="2479997" cy="1190398"/>
      </dsp:txXfrm>
    </dsp:sp>
    <dsp:sp modelId="{D4280403-00E4-CE43-801E-3F926DD9CEAA}">
      <dsp:nvSpPr>
        <dsp:cNvPr id="0" name=""/>
        <dsp:cNvSpPr/>
      </dsp:nvSpPr>
      <dsp:spPr>
        <a:xfrm>
          <a:off x="5356999" y="687670"/>
          <a:ext cx="2479997" cy="297599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66750">
            <a:lnSpc>
              <a:spcPct val="90000"/>
            </a:lnSpc>
            <a:spcBef>
              <a:spcPct val="0"/>
            </a:spcBef>
            <a:spcAft>
              <a:spcPct val="35000"/>
            </a:spcAft>
            <a:buNone/>
          </a:pPr>
          <a:r>
            <a:rPr lang="en-US" sz="1500" kern="1200" dirty="0">
              <a:latin typeface="Century Gothic" panose="020B0502020202020204" pitchFamily="34" charset="0"/>
            </a:rPr>
            <a:t>This study contributes actionable, context-specific strategies to strengthen SME resilience.</a:t>
          </a:r>
        </a:p>
      </dsp:txBody>
      <dsp:txXfrm>
        <a:off x="5356999" y="1878069"/>
        <a:ext cx="2479997" cy="1785598"/>
      </dsp:txXfrm>
    </dsp:sp>
    <dsp:sp modelId="{94E6B357-5B99-B747-B7CE-0F016E7E080A}">
      <dsp:nvSpPr>
        <dsp:cNvPr id="0" name=""/>
        <dsp:cNvSpPr/>
      </dsp:nvSpPr>
      <dsp:spPr>
        <a:xfrm>
          <a:off x="5356999" y="687670"/>
          <a:ext cx="2479997" cy="1190398"/>
        </a:xfrm>
        <a:prstGeom prst="rect">
          <a:avLst/>
        </a:prstGeom>
        <a:noFill/>
        <a:ln w="635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p>
      </dsp:txBody>
      <dsp:txXfrm>
        <a:off x="5356999" y="687670"/>
        <a:ext cx="2479997" cy="1190398"/>
      </dsp:txXfrm>
    </dsp:sp>
    <dsp:sp modelId="{B1DDA28B-5C81-EE47-B732-77CB6F25A0D7}">
      <dsp:nvSpPr>
        <dsp:cNvPr id="0" name=""/>
        <dsp:cNvSpPr/>
      </dsp:nvSpPr>
      <dsp:spPr>
        <a:xfrm>
          <a:off x="8035397" y="687670"/>
          <a:ext cx="2479997" cy="297599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66750">
            <a:lnSpc>
              <a:spcPct val="90000"/>
            </a:lnSpc>
            <a:spcBef>
              <a:spcPct val="0"/>
            </a:spcBef>
            <a:spcAft>
              <a:spcPct val="35000"/>
            </a:spcAft>
            <a:buNone/>
          </a:pPr>
          <a:r>
            <a:rPr lang="en-US" sz="1500" kern="1200" dirty="0">
              <a:latin typeface="Century Gothic" panose="020B0502020202020204" pitchFamily="34" charset="0"/>
            </a:rPr>
            <a:t>A proactive cybersecurity culture safeguards operational continuity and stakeholder trust.</a:t>
          </a:r>
        </a:p>
      </dsp:txBody>
      <dsp:txXfrm>
        <a:off x="8035397" y="1878069"/>
        <a:ext cx="2479997" cy="1785598"/>
      </dsp:txXfrm>
    </dsp:sp>
    <dsp:sp modelId="{92D0B96E-92EA-1047-93DF-2AF329E41882}">
      <dsp:nvSpPr>
        <dsp:cNvPr id="0" name=""/>
        <dsp:cNvSpPr/>
      </dsp:nvSpPr>
      <dsp:spPr>
        <a:xfrm>
          <a:off x="8035397" y="687670"/>
          <a:ext cx="2479997" cy="1190398"/>
        </a:xfrm>
        <a:prstGeom prst="rect">
          <a:avLst/>
        </a:prstGeom>
        <a:noFill/>
        <a:ln w="635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p>
      </dsp:txBody>
      <dsp:txXfrm>
        <a:off x="8035397" y="687670"/>
        <a:ext cx="2479997" cy="119039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B1956E-D3D5-44C7-9DDA-B7BDFEF3A8C1}">
      <dsp:nvSpPr>
        <dsp:cNvPr id="0" name=""/>
        <dsp:cNvSpPr/>
      </dsp:nvSpPr>
      <dsp:spPr>
        <a:xfrm>
          <a:off x="0" y="53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F66B1D-665B-453A-930B-C39AA9401FF5}">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AFCBBB-169E-4AAB-B21D-B27BA382D4C8}">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90000"/>
            </a:lnSpc>
            <a:spcBef>
              <a:spcPct val="0"/>
            </a:spcBef>
            <a:spcAft>
              <a:spcPct val="35000"/>
            </a:spcAft>
            <a:buNone/>
          </a:pPr>
          <a:r>
            <a:rPr lang="en-US" sz="2100" kern="1200" dirty="0">
              <a:latin typeface="Century Gothic" panose="020B0502020202020204" pitchFamily="34" charset="0"/>
            </a:rPr>
            <a:t>My deepest gratitude to my outstanding Dissertation Chair, Dr. Pedro Nunes, for his unwavering guidance, exceptional patience, and invaluable expertise that greatly contributed to this work.</a:t>
          </a:r>
        </a:p>
      </dsp:txBody>
      <dsp:txXfrm>
        <a:off x="1435590" y="531"/>
        <a:ext cx="9080009" cy="1242935"/>
      </dsp:txXfrm>
    </dsp:sp>
    <dsp:sp modelId="{A0B82E69-FDD1-4B59-81B5-4C20CF7442C1}">
      <dsp:nvSpPr>
        <dsp:cNvPr id="0" name=""/>
        <dsp:cNvSpPr/>
      </dsp:nvSpPr>
      <dsp:spPr>
        <a:xfrm>
          <a:off x="0" y="155420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7A48EF-7F05-44EC-A598-DD81FA110FA5}">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0D5769-0B3D-4446-B5C3-9021EF10EDAA}">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90000"/>
            </a:lnSpc>
            <a:spcBef>
              <a:spcPct val="0"/>
            </a:spcBef>
            <a:spcAft>
              <a:spcPct val="35000"/>
            </a:spcAft>
            <a:buNone/>
          </a:pPr>
          <a:r>
            <a:rPr lang="en-US" sz="2100" kern="1200" dirty="0">
              <a:latin typeface="Century Gothic" panose="020B0502020202020204" pitchFamily="34" charset="0"/>
            </a:rPr>
            <a:t>Sincere appreciation to my Committee Members for their thoughtful feedback and encouragement</a:t>
          </a:r>
        </a:p>
      </dsp:txBody>
      <dsp:txXfrm>
        <a:off x="1435590" y="1554201"/>
        <a:ext cx="9080009" cy="1242935"/>
      </dsp:txXfrm>
    </dsp:sp>
    <dsp:sp modelId="{47E02A8D-5940-4A10-9074-264E54BE4219}">
      <dsp:nvSpPr>
        <dsp:cNvPr id="0" name=""/>
        <dsp:cNvSpPr/>
      </dsp:nvSpPr>
      <dsp:spPr>
        <a:xfrm>
          <a:off x="0" y="3107870"/>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D1A587-CD97-4784-8E77-B97045398CEE}">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CCD082-3ACC-4546-A3D9-B1F47DF74A14}">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90000"/>
            </a:lnSpc>
            <a:spcBef>
              <a:spcPct val="0"/>
            </a:spcBef>
            <a:spcAft>
              <a:spcPct val="35000"/>
            </a:spcAft>
            <a:buNone/>
          </a:pPr>
          <a:r>
            <a:rPr lang="en-US" sz="2100" kern="1200" dirty="0">
              <a:latin typeface="Century Gothic" panose="020B0502020202020204" pitchFamily="34" charset="0"/>
            </a:rPr>
            <a:t>Heartfelt appreciation to Ivet Rodriguez, my Student Success Advisor, and to all Faculty and Staff for their steadfast support throughout this journey.</a:t>
          </a:r>
        </a:p>
      </dsp:txBody>
      <dsp:txXfrm>
        <a:off x="1435590" y="3107870"/>
        <a:ext cx="9080009" cy="12429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DB12EA4-31E4-8780-AF78-451C4F72578C}"/>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E4F58BE-AC2A-EDC1-B721-44A1CF4A62E0}"/>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04295E32-7D8F-614F-9338-2395E9DE7D3E}" type="datetimeFigureOut">
              <a:rPr lang="en-US" smtClean="0"/>
              <a:t>8/13/25</a:t>
            </a:fld>
            <a:endParaRPr lang="en-US"/>
          </a:p>
        </p:txBody>
      </p:sp>
      <p:sp>
        <p:nvSpPr>
          <p:cNvPr id="4" name="Footer Placeholder 3">
            <a:extLst>
              <a:ext uri="{FF2B5EF4-FFF2-40B4-BE49-F238E27FC236}">
                <a16:creationId xmlns:a16="http://schemas.microsoft.com/office/drawing/2014/main" id="{E41C3A7D-B21B-04E1-F3C8-FFB2559C6112}"/>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D058C56-6409-278D-C2CC-F4DBFADC527F}"/>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209C37F-9448-4243-B18B-113B26125151}" type="slidenum">
              <a:rPr lang="en-US" smtClean="0"/>
              <a:t>‹#›</a:t>
            </a:fld>
            <a:endParaRPr lang="en-US"/>
          </a:p>
        </p:txBody>
      </p:sp>
    </p:spTree>
    <p:extLst>
      <p:ext uri="{BB962C8B-B14F-4D97-AF65-F5344CB8AC3E}">
        <p14:creationId xmlns:p14="http://schemas.microsoft.com/office/powerpoint/2010/main" val="1672932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5D5886BD-2EA1-3B4D-A9C5-8DF8144EB1D1}" type="datetimeFigureOut">
              <a:rPr lang="en-US" smtClean="0"/>
              <a:t>8/13/25</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6B34B8F-395A-174A-8907-F55628CC17F1}" type="slidenum">
              <a:rPr lang="en-US" smtClean="0"/>
              <a:t>‹#›</a:t>
            </a:fld>
            <a:endParaRPr lang="en-US"/>
          </a:p>
        </p:txBody>
      </p:sp>
    </p:spTree>
    <p:extLst>
      <p:ext uri="{BB962C8B-B14F-4D97-AF65-F5344CB8AC3E}">
        <p14:creationId xmlns:p14="http://schemas.microsoft.com/office/powerpoint/2010/main" val="442572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1</a:t>
            </a:fld>
            <a:endParaRPr lang="en-US"/>
          </a:p>
        </p:txBody>
      </p:sp>
    </p:spTree>
    <p:extLst>
      <p:ext uri="{BB962C8B-B14F-4D97-AF65-F5344CB8AC3E}">
        <p14:creationId xmlns:p14="http://schemas.microsoft.com/office/powerpoint/2010/main" val="2853569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B34B8F-395A-174A-8907-F55628CC17F1}" type="slidenum">
              <a:rPr lang="en-US" smtClean="0"/>
              <a:t>2</a:t>
            </a:fld>
            <a:endParaRPr lang="en-US"/>
          </a:p>
        </p:txBody>
      </p:sp>
    </p:spTree>
    <p:extLst>
      <p:ext uri="{BB962C8B-B14F-4D97-AF65-F5344CB8AC3E}">
        <p14:creationId xmlns:p14="http://schemas.microsoft.com/office/powerpoint/2010/main" val="1846774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kern="1200" dirty="0">
                <a:solidFill>
                  <a:schemeClr val="tx1"/>
                </a:solidFill>
                <a:effectLst/>
                <a:latin typeface="+mn-lt"/>
                <a:ea typeface="+mn-ea"/>
                <a:cs typeface="+mn-cs"/>
              </a:rPr>
              <a:t>SMEs are fundamental to the world economy, contributing considerably to development, innovation, and job creation. Representing over 90% of all corporate operations worldwide, SMEs serve as the backbone of economic activity across sectors and regions (</a:t>
            </a:r>
            <a:r>
              <a:rPr lang="en-US" sz="1600" kern="1200" dirty="0" err="1">
                <a:solidFill>
                  <a:schemeClr val="tx1"/>
                </a:solidFill>
                <a:effectLst/>
                <a:latin typeface="+mn-lt"/>
                <a:ea typeface="+mn-ea"/>
                <a:cs typeface="+mn-cs"/>
              </a:rPr>
              <a:t>Chidukwani</a:t>
            </a:r>
            <a:r>
              <a:rPr lang="en-US" sz="1600" kern="1200" dirty="0">
                <a:solidFill>
                  <a:schemeClr val="tx1"/>
                </a:solidFill>
                <a:effectLst/>
                <a:latin typeface="+mn-lt"/>
                <a:ea typeface="+mn-ea"/>
                <a:cs typeface="+mn-cs"/>
              </a:rPr>
              <a:t> et al., 2022). </a:t>
            </a:r>
          </a:p>
          <a:p>
            <a:endParaRPr lang="en-US" sz="1600" kern="1200" dirty="0">
              <a:solidFill>
                <a:schemeClr val="tx1"/>
              </a:solidFill>
              <a:effectLst/>
              <a:latin typeface="+mn-lt"/>
              <a:ea typeface="+mn-ea"/>
              <a:cs typeface="+mn-cs"/>
            </a:endParaRPr>
          </a:p>
          <a:p>
            <a:r>
              <a:rPr lang="en-US" sz="1600" kern="1200" dirty="0">
                <a:solidFill>
                  <a:schemeClr val="tx1"/>
                </a:solidFill>
                <a:effectLst/>
                <a:latin typeface="+mn-lt"/>
                <a:ea typeface="+mn-ea"/>
                <a:cs typeface="+mn-cs"/>
              </a:rPr>
              <a:t>The swift progression of internet technologies, including cloud computing and digital platforms, has accelerated operational efficiencies for SMEs and enhanced their competitiveness in increasingly digital marketplaces. </a:t>
            </a:r>
          </a:p>
          <a:p>
            <a:r>
              <a:rPr lang="en-US" sz="1600" kern="1200" dirty="0">
                <a:solidFill>
                  <a:schemeClr val="tx1"/>
                </a:solidFill>
                <a:effectLst/>
                <a:latin typeface="+mn-lt"/>
                <a:ea typeface="+mn-ea"/>
                <a:cs typeface="+mn-cs"/>
              </a:rPr>
              <a:t>However, this digital transformation has introduced a complex array of cybersecurity challenges for SMEs. </a:t>
            </a:r>
          </a:p>
          <a:p>
            <a:endParaRPr lang="en-US" sz="1600" kern="1200" dirty="0">
              <a:solidFill>
                <a:schemeClr val="tx1"/>
              </a:solidFill>
              <a:effectLst/>
              <a:latin typeface="+mn-lt"/>
              <a:ea typeface="+mn-ea"/>
              <a:cs typeface="+mn-cs"/>
            </a:endParaRPr>
          </a:p>
          <a:p>
            <a:r>
              <a:rPr lang="en-US" sz="1600" kern="1200" dirty="0">
                <a:solidFill>
                  <a:schemeClr val="tx1"/>
                </a:solidFill>
                <a:effectLst/>
                <a:latin typeface="+mn-lt"/>
                <a:ea typeface="+mn-ea"/>
                <a:cs typeface="+mn-cs"/>
              </a:rPr>
              <a:t>A 2018 </a:t>
            </a:r>
            <a:r>
              <a:rPr lang="en-US" sz="1600" kern="1200" dirty="0" err="1">
                <a:solidFill>
                  <a:schemeClr val="tx1"/>
                </a:solidFill>
                <a:effectLst/>
                <a:latin typeface="+mn-lt"/>
                <a:ea typeface="+mn-ea"/>
                <a:cs typeface="+mn-cs"/>
              </a:rPr>
              <a:t>Ponemon</a:t>
            </a:r>
            <a:r>
              <a:rPr lang="en-US" sz="1600" kern="1200" dirty="0">
                <a:solidFill>
                  <a:schemeClr val="tx1"/>
                </a:solidFill>
                <a:effectLst/>
                <a:latin typeface="+mn-lt"/>
                <a:ea typeface="+mn-ea"/>
                <a:cs typeface="+mn-cs"/>
              </a:rPr>
              <a:t> Institute study found that only 28% of SMEs expressed confidence in managing cybersecurity risks, with 67% targeted and 58% experiencing data breaches within the previous year. </a:t>
            </a:r>
          </a:p>
          <a:p>
            <a:endParaRPr lang="en-US" sz="1600" kern="1200" dirty="0">
              <a:solidFill>
                <a:schemeClr val="tx1"/>
              </a:solidFill>
              <a:effectLst/>
              <a:latin typeface="+mn-lt"/>
              <a:ea typeface="+mn-ea"/>
              <a:cs typeface="+mn-cs"/>
            </a:endParaRPr>
          </a:p>
          <a:p>
            <a:r>
              <a:rPr lang="en-US" sz="1600" kern="1200" dirty="0">
                <a:solidFill>
                  <a:schemeClr val="tx1"/>
                </a:solidFill>
                <a:effectLst/>
                <a:latin typeface="+mn-lt"/>
                <a:ea typeface="+mn-ea"/>
                <a:cs typeface="+mn-cs"/>
              </a:rPr>
              <a:t>Alarmingly, 50% admitted to lacking a clear understanding of how to protect their systems.</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3</a:t>
            </a:fld>
            <a:endParaRPr lang="en-US"/>
          </a:p>
        </p:txBody>
      </p:sp>
    </p:spTree>
    <p:extLst>
      <p:ext uri="{BB962C8B-B14F-4D97-AF65-F5344CB8AC3E}">
        <p14:creationId xmlns:p14="http://schemas.microsoft.com/office/powerpoint/2010/main" val="2271248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strategic importance of SMEs within supply chains further magnifies the implications of cybersecurity breaches. Many SMEs handle sensitive financial data and personal information on behalf of larger partner organizations, making them attractive entry points for cybercriminals.</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breach at the SME level can compromise the integrity of SMEs and the larger networks that depend on them, resulting in widespread disruptions and financial losses.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Despite the growing threat landscape, SMEs face persistent hurdles in executing efficient cybersecurity measures. Many SMEs underestimate the importance of cybersecurity, often due to limited awareness and restricted financial resources. </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ensure long-term viability and protect sensitive data, SMEs must prioritize cybersecurity through organizational awareness and strategic implementation of robust protective measures.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Educating employees about digital risks and enforcing proactive security protocols are essential to building resilience in a digital environment. </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4</a:t>
            </a:fld>
            <a:endParaRPr lang="en-US"/>
          </a:p>
        </p:txBody>
      </p:sp>
    </p:spTree>
    <p:extLst>
      <p:ext uri="{BB962C8B-B14F-4D97-AF65-F5344CB8AC3E}">
        <p14:creationId xmlns:p14="http://schemas.microsoft.com/office/powerpoint/2010/main" val="3357213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EA1C-83FA-BD7F-433C-C15912D22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18A68-4CF8-C046-5311-3F2653772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44AE0E-30B1-C24E-28A8-39FC2CD66A24}"/>
              </a:ext>
            </a:extLst>
          </p:cNvPr>
          <p:cNvSpPr>
            <a:spLocks noGrp="1"/>
          </p:cNvSpPr>
          <p:nvPr>
            <p:ph type="body" idx="1"/>
          </p:nvPr>
        </p:nvSpPr>
        <p:spPr/>
        <p:txBody>
          <a:bodyPr/>
          <a:lstStyle/>
          <a:p>
            <a:r>
              <a:rPr lang="en-US" dirty="0"/>
              <a:t>The infographic on the right indicates the cyberthreat landscape that many SMEs are unfortunately unaware of.</a:t>
            </a:r>
          </a:p>
          <a:p>
            <a:endParaRPr lang="en-US" dirty="0"/>
          </a:p>
          <a:p>
            <a:r>
              <a:rPr lang="en-US" sz="1200" kern="1200" dirty="0">
                <a:solidFill>
                  <a:schemeClr val="tx1"/>
                </a:solidFill>
                <a:effectLst/>
                <a:latin typeface="+mn-lt"/>
                <a:ea typeface="+mn-ea"/>
                <a:cs typeface="+mn-cs"/>
              </a:rPr>
              <a:t>Many SMEs remain unaware of these threats and often lack sufficient security measures. </a:t>
            </a:r>
            <a:r>
              <a:rPr lang="en-US" dirty="0"/>
              <a:t> </a:t>
            </a:r>
          </a:p>
          <a:p>
            <a:endParaRPr lang="en-US" dirty="0"/>
          </a:p>
          <a:p>
            <a:r>
              <a:rPr lang="en-US" sz="1200" b="1" kern="1200" dirty="0">
                <a:solidFill>
                  <a:schemeClr val="tx1"/>
                </a:solidFill>
                <a:effectLst/>
                <a:latin typeface="+mn-lt"/>
                <a:ea typeface="+mn-ea"/>
                <a:cs typeface="+mn-cs"/>
              </a:rPr>
              <a:t>Phishing: </a:t>
            </a:r>
            <a:r>
              <a:rPr lang="en-US" sz="1200" kern="1200" dirty="0">
                <a:solidFill>
                  <a:schemeClr val="tx1"/>
                </a:solidFill>
                <a:effectLst/>
                <a:latin typeface="+mn-lt"/>
                <a:ea typeface="+mn-ea"/>
                <a:cs typeface="+mn-cs"/>
              </a:rPr>
              <a:t>Phishing attacks deceive individuals into disclosing confidential personal information, including passwords, credit card numbers, and account login details. Phishing attacks, often conducted via deceptive emails, texts, or websites that imitate authentic sources, exploit human trust, rendering them highly successful in compromising security.</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Man-in-the-Middle (MitM) Assaults: </a:t>
            </a:r>
            <a:r>
              <a:rPr lang="en-US" sz="1200" kern="1200" dirty="0">
                <a:solidFill>
                  <a:schemeClr val="tx1"/>
                </a:solidFill>
                <a:effectLst/>
                <a:latin typeface="+mn-lt"/>
                <a:ea typeface="+mn-ea"/>
                <a:cs typeface="+mn-cs"/>
              </a:rPr>
              <a:t>MitM assaults transpire when an assailant intercepts communication between two entities, frequently without the awareness of either party. This assault may entail intercepting unencrypted Wi-Fi communications or altering data between a user and a website, potentially leading to the theft or modification of sensitive information</a:t>
            </a:r>
            <a:r>
              <a:rPr lang="en-US" dirty="0">
                <a:effectLst/>
              </a:rPr>
              <a:t> </a:t>
            </a:r>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SQL Injection: </a:t>
            </a:r>
            <a:r>
              <a:rPr lang="en-US" sz="1200" kern="1200" dirty="0">
                <a:solidFill>
                  <a:schemeClr val="tx1"/>
                </a:solidFill>
                <a:effectLst/>
                <a:latin typeface="+mn-lt"/>
                <a:ea typeface="+mn-ea"/>
                <a:cs typeface="+mn-cs"/>
              </a:rPr>
              <a:t>SQL injection uses weaknesses in website databases, enabling attackers to insert harmful SQL commands. If successful, attackers can change, extract, or eliminate vital data, jeopardizing the website's integrity and related information.</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Zero-Day Exploits: </a:t>
            </a:r>
            <a:r>
              <a:rPr lang="en-US" sz="1200" kern="1200" dirty="0">
                <a:solidFill>
                  <a:schemeClr val="tx1"/>
                </a:solidFill>
                <a:effectLst/>
                <a:latin typeface="+mn-lt"/>
                <a:ea typeface="+mn-ea"/>
                <a:cs typeface="+mn-cs"/>
              </a:rPr>
              <a:t>Zero-day attacks take advantage of previously unidentified weaknesses in software or hardware, which remain unaddressed by the vendor until a corrective update is deployed. The inherent danger of these attacks lies in their ability to leverage unresolved security flaws before any defensive measures can be enacted </a:t>
            </a:r>
            <a:endParaRPr lang="en-US" dirty="0"/>
          </a:p>
        </p:txBody>
      </p:sp>
      <p:sp>
        <p:nvSpPr>
          <p:cNvPr id="4" name="Slide Number Placeholder 3">
            <a:extLst>
              <a:ext uri="{FF2B5EF4-FFF2-40B4-BE49-F238E27FC236}">
                <a16:creationId xmlns:a16="http://schemas.microsoft.com/office/drawing/2014/main" id="{9A4A5004-729C-832A-C290-A11256FB119F}"/>
              </a:ext>
            </a:extLst>
          </p:cNvPr>
          <p:cNvSpPr>
            <a:spLocks noGrp="1"/>
          </p:cNvSpPr>
          <p:nvPr>
            <p:ph type="sldNum" sz="quarter" idx="5"/>
          </p:nvPr>
        </p:nvSpPr>
        <p:spPr/>
        <p:txBody>
          <a:bodyPr/>
          <a:lstStyle/>
          <a:p>
            <a:fld id="{26B34B8F-395A-174A-8907-F55628CC17F1}" type="slidenum">
              <a:rPr lang="en-US" smtClean="0"/>
              <a:t>5</a:t>
            </a:fld>
            <a:endParaRPr lang="en-US"/>
          </a:p>
        </p:txBody>
      </p:sp>
    </p:spTree>
    <p:extLst>
      <p:ext uri="{BB962C8B-B14F-4D97-AF65-F5344CB8AC3E}">
        <p14:creationId xmlns:p14="http://schemas.microsoft.com/office/powerpoint/2010/main" val="2742143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purpose of this qualitative study is to explore how cybersecurity awareness and training contribute to the sustainable business performance of K2 Partnering Solutions.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research examines the relationship between management and employee awareness of cybersecurity issues and the effectiveness of training and awareness programs. It aims to uncover how these factors contribute to the company's long-term success and resilience in an increasingly digital landscape. </a:t>
            </a:r>
            <a:endParaRPr lang="en-US" dirty="0">
              <a:effectLst/>
            </a:endParaRPr>
          </a:p>
          <a:p>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6</a:t>
            </a:fld>
            <a:endParaRPr lang="en-US"/>
          </a:p>
        </p:txBody>
      </p:sp>
    </p:spTree>
    <p:extLst>
      <p:ext uri="{BB962C8B-B14F-4D97-AF65-F5344CB8AC3E}">
        <p14:creationId xmlns:p14="http://schemas.microsoft.com/office/powerpoint/2010/main" val="1773663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significance of this study is grounded in its exploration of the critical relationship between cybersecurity awareness and education and their direct impact on the sustainability of small and medium-sized enterprises (SMEs). Many SMEs remain unaware of online threats and often lack sufficient security measures. </a:t>
            </a:r>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7</a:t>
            </a:fld>
            <a:endParaRPr lang="en-US"/>
          </a:p>
        </p:txBody>
      </p:sp>
    </p:spTree>
    <p:extLst>
      <p:ext uri="{BB962C8B-B14F-4D97-AF65-F5344CB8AC3E}">
        <p14:creationId xmlns:p14="http://schemas.microsoft.com/office/powerpoint/2010/main" val="759871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8</a:t>
            </a:fld>
            <a:endParaRPr lang="en-US"/>
          </a:p>
        </p:txBody>
      </p:sp>
    </p:spTree>
    <p:extLst>
      <p:ext uri="{BB962C8B-B14F-4D97-AF65-F5344CB8AC3E}">
        <p14:creationId xmlns:p14="http://schemas.microsoft.com/office/powerpoint/2010/main" val="1407186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9</a:t>
            </a:fld>
            <a:endParaRPr lang="en-US"/>
          </a:p>
        </p:txBody>
      </p:sp>
    </p:spTree>
    <p:extLst>
      <p:ext uri="{BB962C8B-B14F-4D97-AF65-F5344CB8AC3E}">
        <p14:creationId xmlns:p14="http://schemas.microsoft.com/office/powerpoint/2010/main" val="21703442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dirty="0"/>
              <a:t>Developed by Fred Davis in the 1980s, the Technology Acceptance Model (TAM) </a:t>
            </a:r>
            <a:r>
              <a:rPr lang="en-US" b="1" dirty="0"/>
              <a:t>explains technology adoption </a:t>
            </a:r>
            <a:r>
              <a:rPr lang="en-US" dirty="0"/>
              <a:t>by </a:t>
            </a:r>
            <a:r>
              <a:rPr lang="en-US" b="1" dirty="0"/>
              <a:t>linking users’ behavioral intentions </a:t>
            </a:r>
            <a:r>
              <a:rPr lang="en-US" dirty="0"/>
              <a:t>to two key factors: </a:t>
            </a:r>
            <a:r>
              <a:rPr lang="en-US" b="1" dirty="0"/>
              <a:t>perceived usefulness (PU)</a:t>
            </a:r>
            <a:r>
              <a:rPr lang="en-US" dirty="0"/>
              <a:t>—how much they believe it improves performance—and </a:t>
            </a:r>
            <a:r>
              <a:rPr lang="en-US" b="1" dirty="0"/>
              <a:t>perceived ease of use (PEOU)</a:t>
            </a:r>
            <a:r>
              <a:rPr lang="en-US" dirty="0"/>
              <a:t>—how effortless it seems to operate. Together, these shape attitudes and drive adoption decisions.</a:t>
            </a:r>
          </a:p>
          <a:p>
            <a:endParaRPr lang="en-US" dirty="0"/>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TAM framework thoroughly explains how users interact with emerging technologies.</a:t>
            </a:r>
            <a:r>
              <a:rPr lang="en-US" dirty="0">
                <a:effectLst/>
              </a:rPr>
              <a:t> </a:t>
            </a:r>
          </a:p>
          <a:p>
            <a:pPr marL="171450" indent="-171450">
              <a:buFont typeface="Arial" panose="020B0604020202020204" pitchFamily="34" charset="0"/>
              <a:buChar char="•"/>
            </a:pPr>
            <a:r>
              <a:rPr lang="en-US" dirty="0"/>
              <a:t>TAM helps organizations design pre-implementation strategies that boost user acceptance and improve system performance.</a:t>
            </a:r>
          </a:p>
          <a:p>
            <a:endParaRPr lang="en-US" dirty="0"/>
          </a:p>
          <a:p>
            <a:pPr marL="171450" indent="-171450">
              <a:buFont typeface="Arial" panose="020B0604020202020204" pitchFamily="34" charset="0"/>
              <a:buChar char="•"/>
            </a:pPr>
            <a:r>
              <a:rPr lang="en-US" dirty="0"/>
              <a:t>TAM’s principles can be applied to </a:t>
            </a:r>
            <a:r>
              <a:rPr lang="en-US" b="1" dirty="0"/>
              <a:t>cybersecurity training</a:t>
            </a:r>
            <a:r>
              <a:rPr lang="en-US" dirty="0"/>
              <a:t>.</a:t>
            </a:r>
          </a:p>
          <a:p>
            <a:pPr marL="628650" lvl="1" indent="-171450">
              <a:buFont typeface="Arial" panose="020B0604020202020204" pitchFamily="34" charset="0"/>
              <a:buChar char="•"/>
            </a:pPr>
            <a:r>
              <a:rPr lang="en-US" dirty="0"/>
              <a:t>A strong </a:t>
            </a:r>
            <a:r>
              <a:rPr lang="en-US" b="1" dirty="0"/>
              <a:t>security culture</a:t>
            </a:r>
            <a:r>
              <a:rPr lang="en-US" dirty="0"/>
              <a:t> is vital for effective organizational defense.</a:t>
            </a:r>
          </a:p>
          <a:p>
            <a:pPr marL="628650" lvl="1" indent="-171450">
              <a:buFont typeface="Arial" panose="020B0604020202020204" pitchFamily="34" charset="0"/>
              <a:buChar char="•"/>
            </a:pPr>
            <a:r>
              <a:rPr lang="en-US" b="1" dirty="0"/>
              <a:t>Comprehensive training programs</a:t>
            </a:r>
            <a:r>
              <a:rPr lang="en-US" dirty="0"/>
              <a:t> prepare employees to detect and respond to threats.</a:t>
            </a:r>
          </a:p>
          <a:p>
            <a:pPr marL="628650" lvl="1" indent="-171450">
              <a:buFont typeface="Arial" panose="020B0604020202020204" pitchFamily="34" charset="0"/>
              <a:buChar char="•"/>
            </a:pPr>
            <a:r>
              <a:rPr lang="en-US" dirty="0"/>
              <a:t>Training equips staff to counter common cyber risks such as </a:t>
            </a:r>
            <a:r>
              <a:rPr lang="en-US" b="1" dirty="0"/>
              <a:t>phishing, ransomware, and social engineering</a:t>
            </a:r>
            <a:r>
              <a:rPr lang="en-US" dirty="0"/>
              <a:t>.</a:t>
            </a:r>
          </a:p>
          <a:p>
            <a:endParaRPr lang="en-US" dirty="0"/>
          </a:p>
          <a:p>
            <a:pPr marL="171450" indent="-171450">
              <a:buFont typeface="Arial" panose="020B0604020202020204" pitchFamily="34" charset="0"/>
              <a:buChar char="•"/>
            </a:pPr>
            <a:r>
              <a:rPr lang="en-US" dirty="0"/>
              <a:t>The Technology-Organization-Environment (TOE) framework explains how organizations adopt and integrate technological innovations by examining three interconnected contexts:</a:t>
            </a:r>
          </a:p>
          <a:p>
            <a:pPr marL="628650" lvl="1" indent="-171450">
              <a:buFont typeface="Arial" panose="020B0604020202020204" pitchFamily="34" charset="0"/>
              <a:buChar char="•"/>
            </a:pPr>
            <a:r>
              <a:rPr lang="en-US" b="1" dirty="0"/>
              <a:t>Technological context</a:t>
            </a:r>
            <a:r>
              <a:rPr lang="en-US" dirty="0"/>
              <a:t> – factors such as innovation attributes, integration, ease of use, trialability, complexity, and direct benefits.</a:t>
            </a:r>
          </a:p>
          <a:p>
            <a:pPr marL="628650" lvl="1" indent="-171450">
              <a:buFont typeface="Arial" panose="020B0604020202020204" pitchFamily="34" charset="0"/>
              <a:buChar char="•"/>
            </a:pPr>
            <a:r>
              <a:rPr lang="en-US" b="1" dirty="0"/>
              <a:t>Organizational context</a:t>
            </a:r>
            <a:r>
              <a:rPr lang="en-US" dirty="0"/>
              <a:t> – internal elements like financial resources, structure, leadership support, innovation capacity, human capital quality, infrastructure, and readiness.</a:t>
            </a:r>
          </a:p>
          <a:p>
            <a:pPr marL="628650" lvl="1" indent="-171450">
              <a:buFont typeface="Arial" panose="020B0604020202020204" pitchFamily="34" charset="0"/>
              <a:buChar char="•"/>
            </a:pPr>
            <a:r>
              <a:rPr lang="en-US" b="1" dirty="0"/>
              <a:t>Environmental context</a:t>
            </a:r>
            <a:r>
              <a:rPr lang="en-US" dirty="0"/>
              <a:t> – external influences including industry dynamics, government incentives, and market changes.</a:t>
            </a:r>
          </a:p>
          <a:p>
            <a:endParaRPr lang="en-US" dirty="0"/>
          </a:p>
          <a:p>
            <a:r>
              <a:rPr lang="en-US" dirty="0"/>
              <a:t>The combined TOE-TAM framework is useful as a research model because it offers a </a:t>
            </a:r>
            <a:r>
              <a:rPr lang="en-US" b="1" dirty="0"/>
              <a:t>holistic lens</a:t>
            </a:r>
            <a:r>
              <a:rPr lang="en-US" dirty="0"/>
              <a:t> that links technology adoption factors with organizational, environmental, and human acceptance elements. This integration enables researchers to examine both the </a:t>
            </a:r>
            <a:r>
              <a:rPr lang="en-US" b="1" dirty="0"/>
              <a:t>structural conditions</a:t>
            </a:r>
            <a:r>
              <a:rPr lang="en-US" dirty="0"/>
              <a:t> for technology implementation and the </a:t>
            </a:r>
            <a:r>
              <a:rPr lang="en-US" b="1" dirty="0"/>
              <a:t>behavioral drivers</a:t>
            </a:r>
            <a:r>
              <a:rPr lang="en-US" dirty="0"/>
              <a:t> influencing user uptake, making it well-suited for studying complex issues like cybersecurity in SMEs.</a:t>
            </a:r>
          </a:p>
          <a:p>
            <a:endParaRPr lang="en-US" dirty="0"/>
          </a:p>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10</a:t>
            </a:fld>
            <a:endParaRPr lang="en-US"/>
          </a:p>
        </p:txBody>
      </p:sp>
    </p:spTree>
    <p:extLst>
      <p:ext uri="{BB962C8B-B14F-4D97-AF65-F5344CB8AC3E}">
        <p14:creationId xmlns:p14="http://schemas.microsoft.com/office/powerpoint/2010/main" val="1671868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Assumptions</a:t>
            </a:r>
            <a:r>
              <a:rPr lang="en-US" sz="1200" kern="1200" dirty="0">
                <a:solidFill>
                  <a:schemeClr val="tx1"/>
                </a:solidFill>
                <a:effectLst/>
                <a:latin typeface="+mn-lt"/>
                <a:ea typeface="+mn-ea"/>
                <a:cs typeface="+mn-cs"/>
              </a:rPr>
              <a:t>: This study assumes that K2 Partnering Solutions has faced significant cybersecurity challenges that can be effectively analyzed through the perspectives of relevant stakeholders.</a:t>
            </a:r>
            <a:r>
              <a:rPr lang="en-US" dirty="0">
                <a:effectLst/>
              </a:rPr>
              <a:t> </a:t>
            </a:r>
          </a:p>
          <a:p>
            <a:endParaRPr lang="en-US" dirty="0">
              <a:effectLst/>
            </a:endParaRPr>
          </a:p>
          <a:p>
            <a:r>
              <a:rPr lang="en-US" sz="1200" kern="1200" dirty="0">
                <a:solidFill>
                  <a:schemeClr val="tx1"/>
                </a:solidFill>
                <a:effectLst/>
                <a:latin typeface="+mn-lt"/>
                <a:ea typeface="+mn-ea"/>
                <a:cs typeface="+mn-cs"/>
              </a:rPr>
              <a:t>Study assumes that participants, chosen through purposeful sampling, possess the requisite knowledge to offer precise, comprehensive insights into the organization’s cybersecurity strategies and awareness initiatives. </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Limitations:</a:t>
            </a:r>
          </a:p>
          <a:p>
            <a:r>
              <a:rPr lang="en-US" sz="1200" kern="1200" dirty="0">
                <a:solidFill>
                  <a:schemeClr val="tx1"/>
                </a:solidFill>
                <a:effectLst/>
                <a:latin typeface="+mn-lt"/>
                <a:ea typeface="+mn-ea"/>
                <a:cs typeface="+mn-cs"/>
              </a:rPr>
              <a:t>A significant constraint of this study is its small sample size, confined to 10 stakeholders within one organization.</a:t>
            </a:r>
          </a:p>
          <a:p>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may restrict the generalizability of the findings to other SMEs, though qualitative research prioritizes depth over breadth. </a:t>
            </a:r>
          </a:p>
          <a:p>
            <a:endParaRPr lang="en-US" sz="1200" b="1"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Another limitation is restricted access to proprietary cybersecurity data, which may limit the study's ability to explore internal incidents and response strategies fully. </a:t>
            </a:r>
          </a:p>
          <a:p>
            <a:endParaRPr lang="en-US" sz="1200" b="1" kern="1200" dirty="0">
              <a:solidFill>
                <a:schemeClr val="tx1"/>
              </a:solidFill>
              <a:effectLst/>
              <a:latin typeface="+mn-lt"/>
              <a:ea typeface="+mn-ea"/>
              <a:cs typeface="+mn-cs"/>
            </a:endParaRPr>
          </a:p>
          <a:p>
            <a:r>
              <a:rPr lang="en-US" b="0" dirty="0"/>
              <a:t>The interpretive nature of qualitative research can introduce interviewer bias, potentially impacting data analysis.</a:t>
            </a:r>
            <a:endParaRPr lang="en-US" sz="1200" b="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Delimitations</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This study is delimited to K2 Partnering Solutions, deliberately excluding comparisons with other organizations to enable a context-specific, in-depth analysis</a:t>
            </a:r>
            <a:r>
              <a:rPr lang="en-US" dirty="0">
                <a:effectLst/>
              </a:rPr>
              <a:t> - </a:t>
            </a:r>
            <a:r>
              <a:rPr lang="en-US" sz="1200" kern="1200" dirty="0">
                <a:solidFill>
                  <a:schemeClr val="tx1"/>
                </a:solidFill>
                <a:effectLst/>
                <a:latin typeface="+mn-lt"/>
                <a:ea typeface="+mn-ea"/>
                <a:cs typeface="+mn-cs"/>
              </a:rPr>
              <a:t>inherently restricts the applicability of findings to other SMEs.</a:t>
            </a:r>
          </a:p>
          <a:p>
            <a:endParaRPr lang="en-US" sz="1200" kern="1200" dirty="0">
              <a:solidFill>
                <a:schemeClr val="tx1"/>
              </a:solidFill>
              <a:effectLst/>
              <a:latin typeface="+mn-lt"/>
              <a:ea typeface="+mn-ea"/>
              <a:cs typeface="+mn-cs"/>
            </a:endParaRPr>
          </a:p>
          <a:p>
            <a:r>
              <a:rPr lang="en-US" dirty="0"/>
              <a:t>The study focuses on </a:t>
            </a:r>
            <a:r>
              <a:rPr lang="en-US" b="1" dirty="0"/>
              <a:t>internal cybersecurity practices and employee awareness</a:t>
            </a:r>
            <a:r>
              <a:rPr lang="en-US" dirty="0"/>
              <a:t>, excluding external factors like third-party vendor protocols and supply chain vulnerabilities.</a:t>
            </a:r>
          </a:p>
          <a:p>
            <a:endParaRPr lang="en-US" dirty="0"/>
          </a:p>
          <a:p>
            <a:r>
              <a:rPr lang="en-US" dirty="0"/>
              <a:t>The study focuses on </a:t>
            </a:r>
            <a:r>
              <a:rPr lang="en-US" b="1" dirty="0"/>
              <a:t>cybersecurity developments from the past five years</a:t>
            </a:r>
            <a:r>
              <a:rPr lang="en-US" dirty="0"/>
              <a:t> for relevance, but this may omit long-term trends or legacy issues.</a:t>
            </a:r>
          </a:p>
          <a:p>
            <a:endParaRPr lang="en-US" dirty="0"/>
          </a:p>
          <a:p>
            <a:r>
              <a:rPr lang="en-US" dirty="0"/>
              <a:t>The study uses a </a:t>
            </a:r>
            <a:r>
              <a:rPr lang="en-US" b="1" dirty="0"/>
              <a:t>qualitative approach</a:t>
            </a:r>
            <a:r>
              <a:rPr lang="en-US" dirty="0"/>
              <a:t>, emphasizing stakeholder perceptions and organizational culture, offering deep insights but limiting statistical generalizability.</a:t>
            </a:r>
          </a:p>
          <a:p>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11</a:t>
            </a:fld>
            <a:endParaRPr lang="en-US"/>
          </a:p>
        </p:txBody>
      </p:sp>
    </p:spTree>
    <p:extLst>
      <p:ext uri="{BB962C8B-B14F-4D97-AF65-F5344CB8AC3E}">
        <p14:creationId xmlns:p14="http://schemas.microsoft.com/office/powerpoint/2010/main" val="3469785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study applies a qualitative case analysis of an SME to identify vulnerabilities, assess risk perceptions, and explore mitigation strategies.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Qualitative research is essential in cybersecurity for understanding organizational behaviors and practices. Case studies provide rich, context-specific insights into technological, human, and organizational interactions.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study uses </a:t>
            </a:r>
            <a:r>
              <a:rPr lang="en-US" b="1" dirty="0"/>
              <a:t>purposive sampling</a:t>
            </a:r>
            <a:r>
              <a:rPr lang="en-US" dirty="0"/>
              <a:t> to select K2 Partnering Solutions employees with direct experience in cybersecurity training, ensuring insights into how cybersecurity awareness influences SME resilience and business performance.</a:t>
            </a:r>
          </a:p>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12</a:t>
            </a:fld>
            <a:endParaRPr lang="en-US"/>
          </a:p>
        </p:txBody>
      </p:sp>
    </p:spTree>
    <p:extLst>
      <p:ext uri="{BB962C8B-B14F-4D97-AF65-F5344CB8AC3E}">
        <p14:creationId xmlns:p14="http://schemas.microsoft.com/office/powerpoint/2010/main" val="202349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uses a </a:t>
            </a:r>
            <a:r>
              <a:rPr lang="en-US" b="1" dirty="0"/>
              <a:t>triangulated data collection approach</a:t>
            </a:r>
            <a:r>
              <a:rPr lang="en-US" dirty="0"/>
              <a:t>—semi-structured interviews, online surveys, and document analysis—to gain a comprehensive understanding of cybersecurity awareness in SMEs. This method allows for in-depth insights from directly involved employees, broader patterns from surveys, and contextual information from organizational documents. </a:t>
            </a:r>
          </a:p>
          <a:p>
            <a:endParaRPr lang="en-US" dirty="0"/>
          </a:p>
          <a:p>
            <a:r>
              <a:rPr lang="en-US" dirty="0"/>
              <a:t>Combining these methods enhances </a:t>
            </a:r>
            <a:r>
              <a:rPr lang="en-US" b="1" dirty="0"/>
              <a:t>analytical robustness, reduces bias</a:t>
            </a:r>
            <a:r>
              <a:rPr lang="en-US" dirty="0"/>
              <a:t>, and provides </a:t>
            </a:r>
            <a:r>
              <a:rPr lang="en-US" b="1" dirty="0"/>
              <a:t>practical, nuanced, and actionable insights</a:t>
            </a:r>
            <a:r>
              <a:rPr lang="en-US" dirty="0"/>
              <a:t> into how cybersecurity awareness affects SME resilience, employee behavior, and business performance.</a:t>
            </a:r>
          </a:p>
        </p:txBody>
      </p:sp>
      <p:sp>
        <p:nvSpPr>
          <p:cNvPr id="4" name="Slide Number Placeholder 3"/>
          <p:cNvSpPr>
            <a:spLocks noGrp="1"/>
          </p:cNvSpPr>
          <p:nvPr>
            <p:ph type="sldNum" sz="quarter" idx="5"/>
          </p:nvPr>
        </p:nvSpPr>
        <p:spPr/>
        <p:txBody>
          <a:bodyPr/>
          <a:lstStyle/>
          <a:p>
            <a:fld id="{26B34B8F-395A-174A-8907-F55628CC17F1}" type="slidenum">
              <a:rPr lang="en-US" smtClean="0"/>
              <a:t>13</a:t>
            </a:fld>
            <a:endParaRPr lang="en-US"/>
          </a:p>
        </p:txBody>
      </p:sp>
    </p:spTree>
    <p:extLst>
      <p:ext uri="{BB962C8B-B14F-4D97-AF65-F5344CB8AC3E}">
        <p14:creationId xmlns:p14="http://schemas.microsoft.com/office/powerpoint/2010/main" val="4191245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distinguishes between the </a:t>
            </a:r>
            <a:r>
              <a:rPr lang="en-US" b="1" dirty="0"/>
              <a:t>broader study population</a:t>
            </a:r>
            <a:r>
              <a:rPr lang="en-US" dirty="0"/>
              <a:t> (SMEs affected by cybersecurity challenges) and the </a:t>
            </a:r>
            <a:r>
              <a:rPr lang="en-US" b="1" dirty="0"/>
              <a:t>target population</a:t>
            </a:r>
            <a:r>
              <a:rPr lang="en-US" dirty="0"/>
              <a:t> (employees of K2 Partnering Solutions directly involved in cybersecurity training). </a:t>
            </a:r>
          </a:p>
          <a:p>
            <a:endParaRPr lang="en-US" dirty="0"/>
          </a:p>
          <a:p>
            <a:r>
              <a:rPr lang="en-US" dirty="0"/>
              <a:t>Focusing on this specific group ensures relevance, accessibility, and meaningful insights into how cybersecurity awareness and training contribute to SME resilience and business success, with implications applicable to similar organizations.</a:t>
            </a:r>
          </a:p>
        </p:txBody>
      </p:sp>
      <p:sp>
        <p:nvSpPr>
          <p:cNvPr id="4" name="Slide Number Placeholder 3"/>
          <p:cNvSpPr>
            <a:spLocks noGrp="1"/>
          </p:cNvSpPr>
          <p:nvPr>
            <p:ph type="sldNum" sz="quarter" idx="5"/>
          </p:nvPr>
        </p:nvSpPr>
        <p:spPr/>
        <p:txBody>
          <a:bodyPr/>
          <a:lstStyle/>
          <a:p>
            <a:fld id="{26B34B8F-395A-174A-8907-F55628CC17F1}" type="slidenum">
              <a:rPr lang="en-US" smtClean="0"/>
              <a:t>14</a:t>
            </a:fld>
            <a:endParaRPr lang="en-US"/>
          </a:p>
        </p:txBody>
      </p:sp>
    </p:spTree>
    <p:extLst>
      <p:ext uri="{BB962C8B-B14F-4D97-AF65-F5344CB8AC3E}">
        <p14:creationId xmlns:p14="http://schemas.microsoft.com/office/powerpoint/2010/main" val="2747819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employed a </a:t>
            </a:r>
            <a:r>
              <a:rPr lang="en-US" b="1" dirty="0"/>
              <a:t>triangulated data collection approach</a:t>
            </a:r>
            <a:r>
              <a:rPr lang="en-US" dirty="0"/>
              <a:t> using semi-structured interviews, an online survey, and a document review checklist to examine organizational cybersecurity practices comprehensively. </a:t>
            </a:r>
          </a:p>
          <a:p>
            <a:endParaRPr lang="en-US" dirty="0"/>
          </a:p>
          <a:p>
            <a:r>
              <a:rPr lang="en-US" dirty="0"/>
              <a:t>Interviews capture rich, experience-based narratives, the survey provides both qualitative and quantitative insights, and document review offers contextual information from policies and reports. </a:t>
            </a:r>
          </a:p>
          <a:p>
            <a:endParaRPr lang="en-US" dirty="0"/>
          </a:p>
          <a:p>
            <a:r>
              <a:rPr lang="en-US" dirty="0"/>
              <a:t>This multi-method strategy </a:t>
            </a:r>
            <a:r>
              <a:rPr lang="en-US" b="1" dirty="0"/>
              <a:t>enhances methodological rigor, credibility, and validity</a:t>
            </a:r>
            <a:r>
              <a:rPr lang="en-US" dirty="0"/>
              <a:t> by cross-verifying data from multiple sources.</a:t>
            </a:r>
          </a:p>
        </p:txBody>
      </p:sp>
      <p:sp>
        <p:nvSpPr>
          <p:cNvPr id="4" name="Slide Number Placeholder 3"/>
          <p:cNvSpPr>
            <a:spLocks noGrp="1"/>
          </p:cNvSpPr>
          <p:nvPr>
            <p:ph type="sldNum" sz="quarter" idx="5"/>
          </p:nvPr>
        </p:nvSpPr>
        <p:spPr/>
        <p:txBody>
          <a:bodyPr/>
          <a:lstStyle/>
          <a:p>
            <a:fld id="{26B34B8F-395A-174A-8907-F55628CC17F1}" type="slidenum">
              <a:rPr lang="en-US" smtClean="0"/>
              <a:t>15</a:t>
            </a:fld>
            <a:endParaRPr lang="en-US"/>
          </a:p>
        </p:txBody>
      </p:sp>
    </p:spTree>
    <p:extLst>
      <p:ext uri="{BB962C8B-B14F-4D97-AF65-F5344CB8AC3E}">
        <p14:creationId xmlns:p14="http://schemas.microsoft.com/office/powerpoint/2010/main" val="4038998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employed </a:t>
            </a:r>
            <a:r>
              <a:rPr lang="en-US" b="1" dirty="0"/>
              <a:t>thematic analysis</a:t>
            </a:r>
            <a:r>
              <a:rPr lang="en-US" dirty="0"/>
              <a:t> to examine qualitative data from interviews, surveys, and document reviews, identifying patterns and recurring themes. </a:t>
            </a:r>
          </a:p>
          <a:p>
            <a:endParaRPr lang="en-US" dirty="0"/>
          </a:p>
          <a:p>
            <a:r>
              <a:rPr lang="en-US" dirty="0"/>
              <a:t>The process includes </a:t>
            </a:r>
            <a:r>
              <a:rPr lang="en-US" b="1" dirty="0"/>
              <a:t>open coding</a:t>
            </a:r>
            <a:r>
              <a:rPr lang="en-US" dirty="0"/>
              <a:t> to capture initial concepts and </a:t>
            </a:r>
            <a:r>
              <a:rPr lang="en-US" b="1" dirty="0"/>
              <a:t>axial coding</a:t>
            </a:r>
            <a:r>
              <a:rPr lang="en-US" dirty="0"/>
              <a:t> to group them into broader themes such as cybersecurity awareness, training effectiveness, and policy enforcement. </a:t>
            </a:r>
          </a:p>
          <a:p>
            <a:endParaRPr lang="en-US" dirty="0"/>
          </a:p>
          <a:p>
            <a:r>
              <a:rPr lang="en-US" dirty="0"/>
              <a:t>Visual thematic maps will illustrate connections between categories, and findings will be interpreted in relation to the research questions and existing literature to provide a nuanced understanding of organizational cybersecurity practices.</a:t>
            </a:r>
          </a:p>
        </p:txBody>
      </p:sp>
      <p:sp>
        <p:nvSpPr>
          <p:cNvPr id="4" name="Slide Number Placeholder 3"/>
          <p:cNvSpPr>
            <a:spLocks noGrp="1"/>
          </p:cNvSpPr>
          <p:nvPr>
            <p:ph type="sldNum" sz="quarter" idx="5"/>
          </p:nvPr>
        </p:nvSpPr>
        <p:spPr/>
        <p:txBody>
          <a:bodyPr/>
          <a:lstStyle/>
          <a:p>
            <a:fld id="{26B34B8F-395A-174A-8907-F55628CC17F1}" type="slidenum">
              <a:rPr lang="en-US" smtClean="0"/>
              <a:t>16</a:t>
            </a:fld>
            <a:endParaRPr lang="en-US"/>
          </a:p>
        </p:txBody>
      </p:sp>
    </p:spTree>
    <p:extLst>
      <p:ext uri="{BB962C8B-B14F-4D97-AF65-F5344CB8AC3E}">
        <p14:creationId xmlns:p14="http://schemas.microsoft.com/office/powerpoint/2010/main" val="20980818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Research Questions and Themes</a:t>
            </a:r>
            <a:endParaRPr lang="en-US" dirty="0"/>
          </a:p>
          <a:p>
            <a:r>
              <a:rPr lang="en-US" dirty="0"/>
              <a:t>The research questions </a:t>
            </a:r>
            <a:r>
              <a:rPr lang="en-US" b="1" dirty="0"/>
              <a:t>guided the formulation of the key themes</a:t>
            </a:r>
            <a:r>
              <a:rPr lang="en-US" dirty="0"/>
              <a:t>, ensuring alignment with the study’s focus on cybersecurity strategies and employee awareness.</a:t>
            </a:r>
          </a:p>
          <a:p>
            <a:r>
              <a:rPr lang="en-US" b="1" dirty="0"/>
              <a:t>Key Themes Identified:</a:t>
            </a:r>
            <a:endParaRPr lang="en-US" dirty="0"/>
          </a:p>
          <a:p>
            <a:r>
              <a:rPr lang="en-US" b="1" dirty="0"/>
              <a:t>Organizational Cybersecurity Strategies and Infrastructure</a:t>
            </a:r>
            <a:r>
              <a:rPr lang="en-US" dirty="0"/>
              <a:t> – Policies, frameworks, and technologies to reduce cyber risk.</a:t>
            </a:r>
          </a:p>
          <a:p>
            <a:r>
              <a:rPr lang="en-US" b="1" dirty="0"/>
              <a:t>Cybersecurity Awareness and Training Culture</a:t>
            </a:r>
            <a:r>
              <a:rPr lang="en-US" dirty="0"/>
              <a:t> – Scope, frequency, and effectiveness of employee training initiatives.</a:t>
            </a:r>
          </a:p>
          <a:p>
            <a:r>
              <a:rPr lang="en-US" b="1" dirty="0"/>
              <a:t>Cybersecurity Culture and Organizational Commitment</a:t>
            </a:r>
            <a:r>
              <a:rPr lang="en-US" dirty="0"/>
              <a:t> – Leadership involvement and cross-functional engagement supporting both strategy and training.</a:t>
            </a:r>
          </a:p>
          <a:p>
            <a:r>
              <a:rPr lang="en-US" b="1" dirty="0"/>
              <a:t>Sustainability and Strategic Impact</a:t>
            </a:r>
            <a:r>
              <a:rPr lang="en-US" dirty="0"/>
              <a:t> – Alignment of cybersecurity efforts with long-term organizational goals and resilience.</a:t>
            </a:r>
          </a:p>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18</a:t>
            </a:fld>
            <a:endParaRPr lang="en-US"/>
          </a:p>
        </p:txBody>
      </p:sp>
    </p:spTree>
    <p:extLst>
      <p:ext uri="{BB962C8B-B14F-4D97-AF65-F5344CB8AC3E}">
        <p14:creationId xmlns:p14="http://schemas.microsoft.com/office/powerpoint/2010/main" val="3467440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Results:</a:t>
            </a:r>
            <a:endParaRPr lang="en-US" dirty="0"/>
          </a:p>
          <a:p>
            <a:r>
              <a:rPr lang="en-US" b="1" dirty="0"/>
              <a:t>Perceived Cyber Threats:</a:t>
            </a:r>
            <a:r>
              <a:rPr lang="en-US" dirty="0"/>
              <a:t> Employees consistently identified phishing and impersonation attacks as the most common threats, highlighting organizational susceptibility to social engineering despite no major breaches. Responses indicated a reactive approach, with alerts communicated informally through internal channels like Slack.</a:t>
            </a:r>
          </a:p>
          <a:p>
            <a:endParaRPr lang="en-US" b="1" dirty="0"/>
          </a:p>
          <a:p>
            <a:r>
              <a:rPr lang="en-US" b="1" dirty="0"/>
              <a:t>Cybersecurity Policies and Protocols:</a:t>
            </a:r>
            <a:r>
              <a:rPr lang="en-US" dirty="0"/>
              <a:t> While K2 aligns with ISO/IEC 27001 standards for external contractors, internal awareness and adherence to policies were inconsistent. Employees reported uncertainty about reporting procedures and limited exposure to structured training programs.</a:t>
            </a:r>
          </a:p>
          <a:p>
            <a:endParaRPr lang="en-US" b="1" dirty="0"/>
          </a:p>
          <a:p>
            <a:r>
              <a:rPr lang="en-US" b="1" dirty="0"/>
              <a:t>Technology Utilization:</a:t>
            </a:r>
            <a:r>
              <a:rPr lang="en-US" dirty="0"/>
              <a:t> The organization relies primarily on foundational security tools such as spam filters, two-factor authentication, and CRM security settings. Advanced proactive measures like SIEM, EDR, or AI-driven threat detection were largely absent.</a:t>
            </a:r>
          </a:p>
          <a:p>
            <a:endParaRPr lang="en-US" b="1" dirty="0"/>
          </a:p>
          <a:p>
            <a:r>
              <a:rPr lang="en-US" b="1" dirty="0"/>
              <a:t>Management Involvement:</a:t>
            </a:r>
            <a:r>
              <a:rPr lang="en-US" dirty="0"/>
              <a:t> Executive engagement was perceived as minimal. Survey and interview data indicated a disconnect between formal policy endorsement and visible leadership involvement, undermining organizational cybersecurity culture.</a:t>
            </a:r>
          </a:p>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19</a:t>
            </a:fld>
            <a:endParaRPr lang="en-US"/>
          </a:p>
        </p:txBody>
      </p:sp>
    </p:spTree>
    <p:extLst>
      <p:ext uri="{BB962C8B-B14F-4D97-AF65-F5344CB8AC3E}">
        <p14:creationId xmlns:p14="http://schemas.microsoft.com/office/powerpoint/2010/main" val="26903715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Theme 2 – Cybersecurity Awareness and Training Culture: Concise Summary</a:t>
            </a:r>
            <a:endParaRPr lang="en-US" dirty="0"/>
          </a:p>
          <a:p>
            <a:r>
              <a:rPr lang="en-US" b="1" dirty="0"/>
              <a:t>Results:</a:t>
            </a:r>
            <a:br>
              <a:rPr lang="en-US" dirty="0"/>
            </a:br>
            <a:r>
              <a:rPr lang="en-US" dirty="0"/>
              <a:t>Cybersecurity training at K2 is minimal, mostly limited to onboarding. Interactive methods like phishing simulations are more effective than passive communications, but overall engagement is reactive, with only 31% reporting threats. Structural barriers—time constraints, low prioritization, and sales-focused culture—further limit participation. No formal evaluation or feedback mechanisms exist to measure or improve training outcomes.</a:t>
            </a:r>
          </a:p>
          <a:p>
            <a:endParaRPr lang="en-US" b="1" dirty="0"/>
          </a:p>
          <a:p>
            <a:r>
              <a:rPr lang="en-US" b="1" dirty="0"/>
              <a:t>Discussions:</a:t>
            </a:r>
            <a:br>
              <a:rPr lang="en-US" dirty="0"/>
            </a:br>
            <a:r>
              <a:rPr lang="en-US" dirty="0"/>
              <a:t>The lack of ongoing, structured training weakens cybersecurity culture and employee readiness. Sporadic, passive communication fails to build confidence or retention, while reactive engagement highlights gaps between policy and practice. Organizational pace and competing priorities hinder consistent training integration.</a:t>
            </a:r>
          </a:p>
          <a:p>
            <a:endParaRPr lang="en-US" b="1" dirty="0"/>
          </a:p>
          <a:p>
            <a:r>
              <a:rPr lang="en-US" b="1" dirty="0"/>
              <a:t>Implications:</a:t>
            </a:r>
            <a:br>
              <a:rPr lang="en-US" dirty="0"/>
            </a:br>
            <a:r>
              <a:rPr lang="en-US" dirty="0"/>
              <a:t>K2 should implement continuous, interactive training reinforced by leadership, embedded into workflows, and supported by evaluation tools and feedback loops. Strengthening these areas is essential to build a proactive cybersecurity culture and reduce employee vulnerability to threats.</a:t>
            </a:r>
          </a:p>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20</a:t>
            </a:fld>
            <a:endParaRPr lang="en-US"/>
          </a:p>
        </p:txBody>
      </p:sp>
    </p:spTree>
    <p:extLst>
      <p:ext uri="{BB962C8B-B14F-4D97-AF65-F5344CB8AC3E}">
        <p14:creationId xmlns:p14="http://schemas.microsoft.com/office/powerpoint/2010/main" val="32603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Theme 3 – Cybersecurity Culture and Organizational Commitment: Summary</a:t>
            </a:r>
          </a:p>
          <a:p>
            <a:endParaRPr lang="en-US" b="1" dirty="0"/>
          </a:p>
          <a:p>
            <a:r>
              <a:rPr lang="en-US" b="1" dirty="0"/>
              <a:t>Results:</a:t>
            </a:r>
            <a:r>
              <a:rPr lang="en-US" dirty="0"/>
              <a:t> Leadership at K2 is largely disengaged from cybersecurity, which is perceived as reactive and compliance-driven. Only a minority of employees (22%) view cybersecurity culture as well-promoted, and resource access and support are limited.</a:t>
            </a:r>
          </a:p>
          <a:p>
            <a:endParaRPr lang="en-US" b="1" dirty="0"/>
          </a:p>
          <a:p>
            <a:r>
              <a:rPr lang="en-US" b="1" dirty="0"/>
              <a:t>Discussions:</a:t>
            </a:r>
            <a:r>
              <a:rPr lang="en-US" dirty="0"/>
              <a:t> The lack of visible leadership and structured cultural initiatives weakens proactive security behaviors. Employees are willing to engage but lack consistent guidance and reinforcement.</a:t>
            </a:r>
          </a:p>
          <a:p>
            <a:endParaRPr lang="en-US" dirty="0"/>
          </a:p>
          <a:p>
            <a:r>
              <a:rPr lang="en-US" b="1" dirty="0"/>
              <a:t>Implications:</a:t>
            </a:r>
            <a:r>
              <a:rPr lang="en-US" dirty="0"/>
              <a:t> Strengthening leadership involvement, providing accessible resources, and embedding cybersecurity into everyday culture are essential to building ownership, improving awareness, and reducing organizational risk.</a:t>
            </a:r>
          </a:p>
          <a:p>
            <a:endParaRPr lang="en-US" dirty="0"/>
          </a:p>
          <a:p>
            <a:br>
              <a:rPr lang="en-US" dirty="0"/>
            </a:br>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21</a:t>
            </a:fld>
            <a:endParaRPr lang="en-US"/>
          </a:p>
        </p:txBody>
      </p:sp>
    </p:spTree>
    <p:extLst>
      <p:ext uri="{BB962C8B-B14F-4D97-AF65-F5344CB8AC3E}">
        <p14:creationId xmlns:p14="http://schemas.microsoft.com/office/powerpoint/2010/main" val="8109651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Results:</a:t>
            </a:r>
            <a:r>
              <a:rPr lang="en-US" dirty="0"/>
              <a:t> Employees recognize cybersecurity as critical to K2’s long-term success, with 72% linking awareness to sustainable business outcomes. However, formal alignment of cybersecurity with business performance metrics or KPIs is lacking.</a:t>
            </a:r>
          </a:p>
          <a:p>
            <a:endParaRPr lang="en-US" b="1" dirty="0"/>
          </a:p>
          <a:p>
            <a:r>
              <a:rPr lang="en-US" b="1" dirty="0"/>
              <a:t>Discussions:</a:t>
            </a:r>
            <a:r>
              <a:rPr lang="en-US" dirty="0"/>
              <a:t> Despite intuitive understanding of its strategic value, cybersecurity remains siloed from enterprise-level planning. Employees advocate for innovative, role-specific, and experiential training—such as phishing simulations, real-world scenarios, and periodic refreshers—to reinforce skills and support continuous improvement.</a:t>
            </a:r>
          </a:p>
          <a:p>
            <a:endParaRPr lang="en-US" dirty="0"/>
          </a:p>
          <a:p>
            <a:r>
              <a:rPr lang="en-US" b="1" dirty="0"/>
              <a:t>Implications:</a:t>
            </a:r>
            <a:r>
              <a:rPr lang="en-US" dirty="0"/>
              <a:t> To leverage cybersecurity as a pillar of organizational sustainability, K2 should integrate it into strategic planning, establish performance metrics, and implement continuous, adaptive training. Embedding cybersecurity as a proactive enabler enhances resilience, trust, and competitive advantage while supporting long-term business continuity.</a:t>
            </a:r>
          </a:p>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22</a:t>
            </a:fld>
            <a:endParaRPr lang="en-US"/>
          </a:p>
        </p:txBody>
      </p:sp>
    </p:spTree>
    <p:extLst>
      <p:ext uri="{BB962C8B-B14F-4D97-AF65-F5344CB8AC3E}">
        <p14:creationId xmlns:p14="http://schemas.microsoft.com/office/powerpoint/2010/main" val="36316180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Recommendations for Future Research – Presentation Summary</a:t>
            </a:r>
            <a:endParaRPr lang="en-US" dirty="0"/>
          </a:p>
          <a:p>
            <a:endParaRPr lang="en-US" dirty="0"/>
          </a:p>
          <a:p>
            <a:r>
              <a:rPr lang="en-US" dirty="0"/>
              <a:t>Future research should use longitudinal and mixed-methods approaches to track cybersecurity culture, leadership engagement, and training effectiveness over time. Comparative studies across industries and regions can reveal contextual factors shaping SME cybersecurity maturity.</a:t>
            </a:r>
          </a:p>
          <a:p>
            <a:endParaRPr lang="en-US" dirty="0"/>
          </a:p>
          <a:p>
            <a:r>
              <a:rPr lang="en-US" dirty="0"/>
              <a:t>The role of informal communication platforms, leadership decision-making, and organizational barriers to adopting advanced security tools warrants deeper investigation. Experimental studies on gamified, scenario-based, and adaptive training can evaluate methods that improve threat recognition, knowledge retention, and secure behaviors.</a:t>
            </a:r>
          </a:p>
          <a:p>
            <a:endParaRPr lang="en-US" dirty="0"/>
          </a:p>
          <a:p>
            <a:r>
              <a:rPr lang="en-US" dirty="0"/>
              <a:t>Research should also explore integrative governance models that align cybersecurity with enterprise strategy, leadership accountability, and cultural norms. Multidisciplinary studies combining technological, behavioral, and organizational perspectives can guide SMEs from reactive to proactive cybersecurity practices, fostering a resilient, sustainable security culture.</a:t>
            </a:r>
          </a:p>
          <a:p>
            <a:endParaRPr lang="en-US" dirty="0"/>
          </a:p>
        </p:txBody>
      </p:sp>
      <p:sp>
        <p:nvSpPr>
          <p:cNvPr id="4" name="Slide Number Placeholder 3"/>
          <p:cNvSpPr>
            <a:spLocks noGrp="1"/>
          </p:cNvSpPr>
          <p:nvPr>
            <p:ph type="sldNum" sz="quarter" idx="5"/>
          </p:nvPr>
        </p:nvSpPr>
        <p:spPr/>
        <p:txBody>
          <a:bodyPr/>
          <a:lstStyle/>
          <a:p>
            <a:fld id="{26B34B8F-395A-174A-8907-F55628CC17F1}" type="slidenum">
              <a:rPr lang="en-US" smtClean="0"/>
              <a:t>23</a:t>
            </a:fld>
            <a:endParaRPr lang="en-US"/>
          </a:p>
        </p:txBody>
      </p:sp>
    </p:spTree>
    <p:extLst>
      <p:ext uri="{BB962C8B-B14F-4D97-AF65-F5344CB8AC3E}">
        <p14:creationId xmlns:p14="http://schemas.microsoft.com/office/powerpoint/2010/main" val="32887753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B34B8F-395A-174A-8907-F55628CC17F1}" type="slidenum">
              <a:rPr lang="en-US" smtClean="0"/>
              <a:t>24</a:t>
            </a:fld>
            <a:endParaRPr lang="en-US"/>
          </a:p>
        </p:txBody>
      </p:sp>
    </p:spTree>
    <p:extLst>
      <p:ext uri="{BB962C8B-B14F-4D97-AF65-F5344CB8AC3E}">
        <p14:creationId xmlns:p14="http://schemas.microsoft.com/office/powerpoint/2010/main" val="2863869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85F95-777E-1D45-8CC4-30A3EB5A63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E4D642-7DEE-0743-98E7-6C8F05500D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546E96-E5FC-DE48-8769-C358B38747DF}"/>
              </a:ext>
            </a:extLst>
          </p:cNvPr>
          <p:cNvSpPr>
            <a:spLocks noGrp="1"/>
          </p:cNvSpPr>
          <p:nvPr>
            <p:ph type="dt" sz="half" idx="10"/>
          </p:nvPr>
        </p:nvSpPr>
        <p:spPr/>
        <p:txBody>
          <a:bodyPr/>
          <a:lstStyle/>
          <a:p>
            <a:fld id="{FD5C9A5B-3B3C-1546-B98A-1F92DA904FBF}" type="datetime1">
              <a:rPr lang="en-US" smtClean="0"/>
              <a:t>8/13/25</a:t>
            </a:fld>
            <a:endParaRPr lang="en-US"/>
          </a:p>
        </p:txBody>
      </p:sp>
      <p:sp>
        <p:nvSpPr>
          <p:cNvPr id="5" name="Footer Placeholder 4">
            <a:extLst>
              <a:ext uri="{FF2B5EF4-FFF2-40B4-BE49-F238E27FC236}">
                <a16:creationId xmlns:a16="http://schemas.microsoft.com/office/drawing/2014/main" id="{30DBC7BD-12AA-F04B-9C57-1F562654B8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27D6BC-A71C-1448-9241-B92D0F589513}"/>
              </a:ext>
            </a:extLst>
          </p:cNvPr>
          <p:cNvSpPr>
            <a:spLocks noGrp="1"/>
          </p:cNvSpPr>
          <p:nvPr>
            <p:ph type="sldNum" sz="quarter" idx="12"/>
          </p:nvPr>
        </p:nvSpPr>
        <p:spPr>
          <a:xfrm>
            <a:off x="8610600" y="6356350"/>
            <a:ext cx="2743200" cy="365125"/>
          </a:xfrm>
          <a:prstGeom prst="rect">
            <a:avLst/>
          </a:prstGeom>
        </p:spPr>
        <p:txBody>
          <a:bodyPr/>
          <a:lstStyle/>
          <a:p>
            <a:fld id="{BA0420FF-E5B6-6E40-B042-B5CA0D8A2F91}" type="slidenum">
              <a:rPr lang="en-US" smtClean="0"/>
              <a:t>‹#›</a:t>
            </a:fld>
            <a:endParaRPr lang="en-US"/>
          </a:p>
        </p:txBody>
      </p:sp>
    </p:spTree>
    <p:extLst>
      <p:ext uri="{BB962C8B-B14F-4D97-AF65-F5344CB8AC3E}">
        <p14:creationId xmlns:p14="http://schemas.microsoft.com/office/powerpoint/2010/main" val="3156329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74795-CF99-BD49-AE39-6E59A47CEF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37BD04-64A8-ED44-BE9F-12498065B4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05874-AB76-4045-90C3-BDF4966CD8ED}"/>
              </a:ext>
            </a:extLst>
          </p:cNvPr>
          <p:cNvSpPr>
            <a:spLocks noGrp="1"/>
          </p:cNvSpPr>
          <p:nvPr>
            <p:ph type="dt" sz="half" idx="10"/>
          </p:nvPr>
        </p:nvSpPr>
        <p:spPr/>
        <p:txBody>
          <a:bodyPr/>
          <a:lstStyle/>
          <a:p>
            <a:fld id="{5796C216-97E2-8040-BAA0-67E50ED4F7AE}" type="datetime1">
              <a:rPr lang="en-US" smtClean="0"/>
              <a:t>8/13/25</a:t>
            </a:fld>
            <a:endParaRPr lang="en-US"/>
          </a:p>
        </p:txBody>
      </p:sp>
      <p:sp>
        <p:nvSpPr>
          <p:cNvPr id="5" name="Footer Placeholder 4">
            <a:extLst>
              <a:ext uri="{FF2B5EF4-FFF2-40B4-BE49-F238E27FC236}">
                <a16:creationId xmlns:a16="http://schemas.microsoft.com/office/drawing/2014/main" id="{FE652CD7-3030-FB46-90AC-90736EF994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584F02-F876-C949-AAB9-D15179E9B884}"/>
              </a:ext>
            </a:extLst>
          </p:cNvPr>
          <p:cNvSpPr>
            <a:spLocks noGrp="1"/>
          </p:cNvSpPr>
          <p:nvPr>
            <p:ph type="sldNum" sz="quarter" idx="12"/>
          </p:nvPr>
        </p:nvSpPr>
        <p:spPr>
          <a:xfrm>
            <a:off x="8610600" y="6356350"/>
            <a:ext cx="2743200" cy="365125"/>
          </a:xfrm>
          <a:prstGeom prst="rect">
            <a:avLst/>
          </a:prstGeom>
        </p:spPr>
        <p:txBody>
          <a:bodyPr/>
          <a:lstStyle/>
          <a:p>
            <a:fld id="{BA0420FF-E5B6-6E40-B042-B5CA0D8A2F91}" type="slidenum">
              <a:rPr lang="en-US" smtClean="0"/>
              <a:t>‹#›</a:t>
            </a:fld>
            <a:endParaRPr lang="en-US"/>
          </a:p>
        </p:txBody>
      </p:sp>
    </p:spTree>
    <p:extLst>
      <p:ext uri="{BB962C8B-B14F-4D97-AF65-F5344CB8AC3E}">
        <p14:creationId xmlns:p14="http://schemas.microsoft.com/office/powerpoint/2010/main" val="425268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E91FE-56EB-014E-8E6E-E6038F3A55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51DC6F-F356-2C4F-A62C-D21898F8D2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163239-C6A4-4744-A3EF-191C2F7576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379174-7AF7-DE4E-8C7C-2F68498820FC}"/>
              </a:ext>
            </a:extLst>
          </p:cNvPr>
          <p:cNvSpPr>
            <a:spLocks noGrp="1"/>
          </p:cNvSpPr>
          <p:nvPr>
            <p:ph type="dt" sz="half" idx="10"/>
          </p:nvPr>
        </p:nvSpPr>
        <p:spPr/>
        <p:txBody>
          <a:bodyPr/>
          <a:lstStyle/>
          <a:p>
            <a:fld id="{F7055418-CA19-5B4E-9613-04D1D8BD5E00}" type="datetime1">
              <a:rPr lang="en-US" smtClean="0"/>
              <a:t>8/13/25</a:t>
            </a:fld>
            <a:endParaRPr lang="en-US"/>
          </a:p>
        </p:txBody>
      </p:sp>
      <p:sp>
        <p:nvSpPr>
          <p:cNvPr id="6" name="Footer Placeholder 5">
            <a:extLst>
              <a:ext uri="{FF2B5EF4-FFF2-40B4-BE49-F238E27FC236}">
                <a16:creationId xmlns:a16="http://schemas.microsoft.com/office/drawing/2014/main" id="{C156A1F5-B526-C640-9FFA-D97063228B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5A2DFF-2650-2A43-A11C-101C3D5EBC0B}"/>
              </a:ext>
            </a:extLst>
          </p:cNvPr>
          <p:cNvSpPr>
            <a:spLocks noGrp="1"/>
          </p:cNvSpPr>
          <p:nvPr>
            <p:ph type="sldNum" sz="quarter" idx="12"/>
          </p:nvPr>
        </p:nvSpPr>
        <p:spPr>
          <a:xfrm>
            <a:off x="8610600" y="6356350"/>
            <a:ext cx="2743200" cy="365125"/>
          </a:xfrm>
          <a:prstGeom prst="rect">
            <a:avLst/>
          </a:prstGeom>
        </p:spPr>
        <p:txBody>
          <a:bodyPr/>
          <a:lstStyle/>
          <a:p>
            <a:fld id="{BA0420FF-E5B6-6E40-B042-B5CA0D8A2F91}" type="slidenum">
              <a:rPr lang="en-US" smtClean="0"/>
              <a:t>‹#›</a:t>
            </a:fld>
            <a:endParaRPr lang="en-US"/>
          </a:p>
        </p:txBody>
      </p:sp>
    </p:spTree>
    <p:extLst>
      <p:ext uri="{BB962C8B-B14F-4D97-AF65-F5344CB8AC3E}">
        <p14:creationId xmlns:p14="http://schemas.microsoft.com/office/powerpoint/2010/main" val="2129805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9B190-4CA0-0D4D-9F75-3A7F6258DD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D9F849-41F8-5046-8D35-EC29BC099A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BCD4FE-57CC-2249-94C9-47B5477E69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1CB908-8939-E444-B829-015DB80C03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D3AC3B-568E-3E4C-A6D7-9FBAB9754E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E98BD2-021A-4541-B4FF-3609D1858433}"/>
              </a:ext>
            </a:extLst>
          </p:cNvPr>
          <p:cNvSpPr>
            <a:spLocks noGrp="1"/>
          </p:cNvSpPr>
          <p:nvPr>
            <p:ph type="dt" sz="half" idx="10"/>
          </p:nvPr>
        </p:nvSpPr>
        <p:spPr/>
        <p:txBody>
          <a:bodyPr/>
          <a:lstStyle/>
          <a:p>
            <a:fld id="{D5378273-A054-9847-91C3-A4925CCC7502}" type="datetime1">
              <a:rPr lang="en-US" smtClean="0"/>
              <a:t>8/13/25</a:t>
            </a:fld>
            <a:endParaRPr lang="en-US"/>
          </a:p>
        </p:txBody>
      </p:sp>
      <p:sp>
        <p:nvSpPr>
          <p:cNvPr id="8" name="Footer Placeholder 7">
            <a:extLst>
              <a:ext uri="{FF2B5EF4-FFF2-40B4-BE49-F238E27FC236}">
                <a16:creationId xmlns:a16="http://schemas.microsoft.com/office/drawing/2014/main" id="{BC7FC67D-8E51-EC45-A01B-EC3623D4F3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2D10D6-CBC1-7746-9229-B294149DEE55}"/>
              </a:ext>
            </a:extLst>
          </p:cNvPr>
          <p:cNvSpPr>
            <a:spLocks noGrp="1"/>
          </p:cNvSpPr>
          <p:nvPr>
            <p:ph type="sldNum" sz="quarter" idx="12"/>
          </p:nvPr>
        </p:nvSpPr>
        <p:spPr>
          <a:xfrm>
            <a:off x="8610600" y="6356350"/>
            <a:ext cx="2743200" cy="365125"/>
          </a:xfrm>
          <a:prstGeom prst="rect">
            <a:avLst/>
          </a:prstGeom>
        </p:spPr>
        <p:txBody>
          <a:bodyPr/>
          <a:lstStyle/>
          <a:p>
            <a:fld id="{BA0420FF-E5B6-6E40-B042-B5CA0D8A2F91}" type="slidenum">
              <a:rPr lang="en-US" smtClean="0"/>
              <a:t>‹#›</a:t>
            </a:fld>
            <a:endParaRPr lang="en-US"/>
          </a:p>
        </p:txBody>
      </p:sp>
    </p:spTree>
    <p:extLst>
      <p:ext uri="{BB962C8B-B14F-4D97-AF65-F5344CB8AC3E}">
        <p14:creationId xmlns:p14="http://schemas.microsoft.com/office/powerpoint/2010/main" val="3739898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6F4B6-A9BA-0945-A8C6-599C20B03D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4ADD96-EC9C-334D-81CC-F7329191BAEB}"/>
              </a:ext>
            </a:extLst>
          </p:cNvPr>
          <p:cNvSpPr>
            <a:spLocks noGrp="1"/>
          </p:cNvSpPr>
          <p:nvPr>
            <p:ph type="dt" sz="half" idx="10"/>
          </p:nvPr>
        </p:nvSpPr>
        <p:spPr/>
        <p:txBody>
          <a:bodyPr/>
          <a:lstStyle/>
          <a:p>
            <a:fld id="{646350EA-FE15-8F47-945D-053DAA1E3BF6}" type="datetime1">
              <a:rPr lang="en-US" smtClean="0"/>
              <a:t>8/13/25</a:t>
            </a:fld>
            <a:endParaRPr lang="en-US"/>
          </a:p>
        </p:txBody>
      </p:sp>
      <p:sp>
        <p:nvSpPr>
          <p:cNvPr id="4" name="Footer Placeholder 3">
            <a:extLst>
              <a:ext uri="{FF2B5EF4-FFF2-40B4-BE49-F238E27FC236}">
                <a16:creationId xmlns:a16="http://schemas.microsoft.com/office/drawing/2014/main" id="{EA5D10C0-7C44-064D-90BA-88D20A1E7C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61581D-CD68-AA40-BCE8-DAD312F1C344}"/>
              </a:ext>
            </a:extLst>
          </p:cNvPr>
          <p:cNvSpPr>
            <a:spLocks noGrp="1"/>
          </p:cNvSpPr>
          <p:nvPr>
            <p:ph type="sldNum" sz="quarter" idx="12"/>
          </p:nvPr>
        </p:nvSpPr>
        <p:spPr>
          <a:xfrm>
            <a:off x="8610600" y="6356350"/>
            <a:ext cx="2743200" cy="365125"/>
          </a:xfrm>
          <a:prstGeom prst="rect">
            <a:avLst/>
          </a:prstGeom>
        </p:spPr>
        <p:txBody>
          <a:bodyPr/>
          <a:lstStyle/>
          <a:p>
            <a:fld id="{BA0420FF-E5B6-6E40-B042-B5CA0D8A2F91}" type="slidenum">
              <a:rPr lang="en-US" smtClean="0"/>
              <a:t>‹#›</a:t>
            </a:fld>
            <a:endParaRPr lang="en-US"/>
          </a:p>
        </p:txBody>
      </p:sp>
    </p:spTree>
    <p:extLst>
      <p:ext uri="{BB962C8B-B14F-4D97-AF65-F5344CB8AC3E}">
        <p14:creationId xmlns:p14="http://schemas.microsoft.com/office/powerpoint/2010/main" val="2771425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03CEE5-44C5-2348-BCC7-12E23BC8EC1A}"/>
              </a:ext>
            </a:extLst>
          </p:cNvPr>
          <p:cNvSpPr>
            <a:spLocks noGrp="1"/>
          </p:cNvSpPr>
          <p:nvPr>
            <p:ph type="dt" sz="half" idx="10"/>
          </p:nvPr>
        </p:nvSpPr>
        <p:spPr/>
        <p:txBody>
          <a:bodyPr/>
          <a:lstStyle/>
          <a:p>
            <a:fld id="{6353AA91-209F-624B-B5B7-8C32519AFD2C}" type="datetime1">
              <a:rPr lang="en-US" smtClean="0"/>
              <a:t>8/13/25</a:t>
            </a:fld>
            <a:endParaRPr lang="en-US"/>
          </a:p>
        </p:txBody>
      </p:sp>
      <p:sp>
        <p:nvSpPr>
          <p:cNvPr id="3" name="Footer Placeholder 2">
            <a:extLst>
              <a:ext uri="{FF2B5EF4-FFF2-40B4-BE49-F238E27FC236}">
                <a16:creationId xmlns:a16="http://schemas.microsoft.com/office/drawing/2014/main" id="{8FD45482-2ADD-F749-B84D-B128EA3E43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C18A4C-C2E9-5349-B688-FF56511AAD4E}"/>
              </a:ext>
            </a:extLst>
          </p:cNvPr>
          <p:cNvSpPr>
            <a:spLocks noGrp="1"/>
          </p:cNvSpPr>
          <p:nvPr>
            <p:ph type="sldNum" sz="quarter" idx="12"/>
          </p:nvPr>
        </p:nvSpPr>
        <p:spPr>
          <a:xfrm>
            <a:off x="8610600" y="6356350"/>
            <a:ext cx="2743200" cy="365125"/>
          </a:xfrm>
          <a:prstGeom prst="rect">
            <a:avLst/>
          </a:prstGeom>
        </p:spPr>
        <p:txBody>
          <a:bodyPr/>
          <a:lstStyle/>
          <a:p>
            <a:fld id="{BA0420FF-E5B6-6E40-B042-B5CA0D8A2F91}" type="slidenum">
              <a:rPr lang="en-US" smtClean="0"/>
              <a:t>‹#›</a:t>
            </a:fld>
            <a:endParaRPr lang="en-US"/>
          </a:p>
        </p:txBody>
      </p:sp>
    </p:spTree>
    <p:extLst>
      <p:ext uri="{BB962C8B-B14F-4D97-AF65-F5344CB8AC3E}">
        <p14:creationId xmlns:p14="http://schemas.microsoft.com/office/powerpoint/2010/main" val="1265184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AF45B-B636-2743-8C48-5D7ADC28FB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AEE0C7-939B-6F4A-B336-C1B70593E8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7A1E9E-35CE-8447-8F26-D82E341586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5C50BE-4719-3E4C-BCB1-04953A692271}"/>
              </a:ext>
            </a:extLst>
          </p:cNvPr>
          <p:cNvSpPr>
            <a:spLocks noGrp="1"/>
          </p:cNvSpPr>
          <p:nvPr>
            <p:ph type="dt" sz="half" idx="10"/>
          </p:nvPr>
        </p:nvSpPr>
        <p:spPr/>
        <p:txBody>
          <a:bodyPr/>
          <a:lstStyle/>
          <a:p>
            <a:fld id="{D6155BAC-C5A0-264F-AB03-2C95FF1EDD2C}" type="datetime1">
              <a:rPr lang="en-US" smtClean="0"/>
              <a:t>8/13/25</a:t>
            </a:fld>
            <a:endParaRPr lang="en-US"/>
          </a:p>
        </p:txBody>
      </p:sp>
      <p:sp>
        <p:nvSpPr>
          <p:cNvPr id="6" name="Footer Placeholder 5">
            <a:extLst>
              <a:ext uri="{FF2B5EF4-FFF2-40B4-BE49-F238E27FC236}">
                <a16:creationId xmlns:a16="http://schemas.microsoft.com/office/drawing/2014/main" id="{AF2E09B5-D3EB-FC4B-8840-563D2FF6C1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A12B8A-B48A-D044-8CD1-134A69458910}"/>
              </a:ext>
            </a:extLst>
          </p:cNvPr>
          <p:cNvSpPr>
            <a:spLocks noGrp="1"/>
          </p:cNvSpPr>
          <p:nvPr>
            <p:ph type="sldNum" sz="quarter" idx="12"/>
          </p:nvPr>
        </p:nvSpPr>
        <p:spPr>
          <a:xfrm>
            <a:off x="8610600" y="6356350"/>
            <a:ext cx="2743200" cy="365125"/>
          </a:xfrm>
          <a:prstGeom prst="rect">
            <a:avLst/>
          </a:prstGeom>
        </p:spPr>
        <p:txBody>
          <a:bodyPr/>
          <a:lstStyle/>
          <a:p>
            <a:fld id="{BA0420FF-E5B6-6E40-B042-B5CA0D8A2F91}" type="slidenum">
              <a:rPr lang="en-US" smtClean="0"/>
              <a:t>‹#›</a:t>
            </a:fld>
            <a:endParaRPr lang="en-US"/>
          </a:p>
        </p:txBody>
      </p:sp>
    </p:spTree>
    <p:extLst>
      <p:ext uri="{BB962C8B-B14F-4D97-AF65-F5344CB8AC3E}">
        <p14:creationId xmlns:p14="http://schemas.microsoft.com/office/powerpoint/2010/main" val="3514606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62EA3-F2F1-CD40-A222-E06725BAF9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D6C3B26-67E5-3A41-88CE-60737268E9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AD2CD4A-D18A-1C4B-B8B1-38CC363134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37C4C7-E896-694C-B2C1-9029DF4319C1}"/>
              </a:ext>
            </a:extLst>
          </p:cNvPr>
          <p:cNvSpPr>
            <a:spLocks noGrp="1"/>
          </p:cNvSpPr>
          <p:nvPr>
            <p:ph type="dt" sz="half" idx="10"/>
          </p:nvPr>
        </p:nvSpPr>
        <p:spPr/>
        <p:txBody>
          <a:bodyPr/>
          <a:lstStyle/>
          <a:p>
            <a:fld id="{56DDF0B8-795B-2A48-A5A3-6D4485D90456}" type="datetime1">
              <a:rPr lang="en-US" smtClean="0"/>
              <a:t>8/13/25</a:t>
            </a:fld>
            <a:endParaRPr lang="en-US"/>
          </a:p>
        </p:txBody>
      </p:sp>
      <p:sp>
        <p:nvSpPr>
          <p:cNvPr id="6" name="Footer Placeholder 5">
            <a:extLst>
              <a:ext uri="{FF2B5EF4-FFF2-40B4-BE49-F238E27FC236}">
                <a16:creationId xmlns:a16="http://schemas.microsoft.com/office/drawing/2014/main" id="{E824CDF9-97CB-2D44-A211-CA5DC24AA6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09FF5D-FF92-A44D-A8EE-D7B24D7434B1}"/>
              </a:ext>
            </a:extLst>
          </p:cNvPr>
          <p:cNvSpPr>
            <a:spLocks noGrp="1"/>
          </p:cNvSpPr>
          <p:nvPr>
            <p:ph type="sldNum" sz="quarter" idx="12"/>
          </p:nvPr>
        </p:nvSpPr>
        <p:spPr>
          <a:xfrm>
            <a:off x="8610600" y="6356350"/>
            <a:ext cx="2743200" cy="365125"/>
          </a:xfrm>
          <a:prstGeom prst="rect">
            <a:avLst/>
          </a:prstGeom>
        </p:spPr>
        <p:txBody>
          <a:bodyPr/>
          <a:lstStyle/>
          <a:p>
            <a:fld id="{BA0420FF-E5B6-6E40-B042-B5CA0D8A2F91}" type="slidenum">
              <a:rPr lang="en-US" smtClean="0"/>
              <a:t>‹#›</a:t>
            </a:fld>
            <a:endParaRPr lang="en-US"/>
          </a:p>
        </p:txBody>
      </p:sp>
    </p:spTree>
    <p:extLst>
      <p:ext uri="{BB962C8B-B14F-4D97-AF65-F5344CB8AC3E}">
        <p14:creationId xmlns:p14="http://schemas.microsoft.com/office/powerpoint/2010/main" val="1225452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44152-9981-C245-812B-3D53D48620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A66B99-D377-0645-8693-9B5C7E8B32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DB2907-C179-E844-94AF-2A8D5DD5B835}"/>
              </a:ext>
            </a:extLst>
          </p:cNvPr>
          <p:cNvSpPr>
            <a:spLocks noGrp="1"/>
          </p:cNvSpPr>
          <p:nvPr>
            <p:ph type="dt" sz="half" idx="10"/>
          </p:nvPr>
        </p:nvSpPr>
        <p:spPr/>
        <p:txBody>
          <a:bodyPr/>
          <a:lstStyle/>
          <a:p>
            <a:fld id="{2082B34E-C035-A94F-B99E-223578A6EA96}" type="datetime1">
              <a:rPr lang="en-US" smtClean="0"/>
              <a:t>8/13/25</a:t>
            </a:fld>
            <a:endParaRPr lang="en-US"/>
          </a:p>
        </p:txBody>
      </p:sp>
      <p:sp>
        <p:nvSpPr>
          <p:cNvPr id="5" name="Footer Placeholder 4">
            <a:extLst>
              <a:ext uri="{FF2B5EF4-FFF2-40B4-BE49-F238E27FC236}">
                <a16:creationId xmlns:a16="http://schemas.microsoft.com/office/drawing/2014/main" id="{3696DFBB-157F-5E42-81B9-01A4204584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07399-C12E-574F-B8B9-1556C2524F19}"/>
              </a:ext>
            </a:extLst>
          </p:cNvPr>
          <p:cNvSpPr>
            <a:spLocks noGrp="1"/>
          </p:cNvSpPr>
          <p:nvPr>
            <p:ph type="sldNum" sz="quarter" idx="12"/>
          </p:nvPr>
        </p:nvSpPr>
        <p:spPr>
          <a:xfrm>
            <a:off x="8610600" y="6356350"/>
            <a:ext cx="2743200" cy="365125"/>
          </a:xfrm>
          <a:prstGeom prst="rect">
            <a:avLst/>
          </a:prstGeom>
        </p:spPr>
        <p:txBody>
          <a:bodyPr/>
          <a:lstStyle/>
          <a:p>
            <a:fld id="{BA0420FF-E5B6-6E40-B042-B5CA0D8A2F91}" type="slidenum">
              <a:rPr lang="en-US" smtClean="0"/>
              <a:t>‹#›</a:t>
            </a:fld>
            <a:endParaRPr lang="en-US"/>
          </a:p>
        </p:txBody>
      </p:sp>
    </p:spTree>
    <p:extLst>
      <p:ext uri="{BB962C8B-B14F-4D97-AF65-F5344CB8AC3E}">
        <p14:creationId xmlns:p14="http://schemas.microsoft.com/office/powerpoint/2010/main" val="47073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5FCF6F-6BB5-C847-9C6D-F20DDF28AB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7A663B-9BFE-C242-B086-DBE87DD7C5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875692-5466-AE44-8D3A-8263029D129C}"/>
              </a:ext>
            </a:extLst>
          </p:cNvPr>
          <p:cNvSpPr>
            <a:spLocks noGrp="1"/>
          </p:cNvSpPr>
          <p:nvPr>
            <p:ph type="dt" sz="half" idx="10"/>
          </p:nvPr>
        </p:nvSpPr>
        <p:spPr/>
        <p:txBody>
          <a:bodyPr/>
          <a:lstStyle/>
          <a:p>
            <a:fld id="{F79799A5-C53C-5D45-B5E8-DEFE5F7AE46E}" type="datetime1">
              <a:rPr lang="en-US" smtClean="0"/>
              <a:t>8/13/25</a:t>
            </a:fld>
            <a:endParaRPr lang="en-US"/>
          </a:p>
        </p:txBody>
      </p:sp>
      <p:sp>
        <p:nvSpPr>
          <p:cNvPr id="5" name="Footer Placeholder 4">
            <a:extLst>
              <a:ext uri="{FF2B5EF4-FFF2-40B4-BE49-F238E27FC236}">
                <a16:creationId xmlns:a16="http://schemas.microsoft.com/office/drawing/2014/main" id="{5AB7E7A4-034E-044B-B245-4153EC0A12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A6552-0330-5541-AB9B-B577FBAE94E5}"/>
              </a:ext>
            </a:extLst>
          </p:cNvPr>
          <p:cNvSpPr>
            <a:spLocks noGrp="1"/>
          </p:cNvSpPr>
          <p:nvPr>
            <p:ph type="sldNum" sz="quarter" idx="12"/>
          </p:nvPr>
        </p:nvSpPr>
        <p:spPr>
          <a:xfrm>
            <a:off x="8610600" y="6356350"/>
            <a:ext cx="2743200" cy="365125"/>
          </a:xfrm>
          <a:prstGeom prst="rect">
            <a:avLst/>
          </a:prstGeom>
        </p:spPr>
        <p:txBody>
          <a:bodyPr/>
          <a:lstStyle/>
          <a:p>
            <a:fld id="{BA0420FF-E5B6-6E40-B042-B5CA0D8A2F91}" type="slidenum">
              <a:rPr lang="en-US" smtClean="0"/>
              <a:t>‹#›</a:t>
            </a:fld>
            <a:endParaRPr lang="en-US"/>
          </a:p>
        </p:txBody>
      </p:sp>
    </p:spTree>
    <p:extLst>
      <p:ext uri="{BB962C8B-B14F-4D97-AF65-F5344CB8AC3E}">
        <p14:creationId xmlns:p14="http://schemas.microsoft.com/office/powerpoint/2010/main" val="3570791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B23C74-4A07-D048-99FC-1651B5331A93}"/>
              </a:ext>
            </a:extLst>
          </p:cNvPr>
          <p:cNvSpPr>
            <a:spLocks noGrp="1"/>
          </p:cNvSpPr>
          <p:nvPr>
            <p:ph type="title"/>
          </p:nvPr>
        </p:nvSpPr>
        <p:spPr>
          <a:xfrm>
            <a:off x="838200" y="849674"/>
            <a:ext cx="10515600" cy="84101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556277C-8229-6849-A109-3648021680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DA5589-343B-1C4E-A8E8-A6734850D8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25DED7-75FA-6549-B7AF-F200A857CA5A}" type="datetime1">
              <a:rPr lang="en-US" smtClean="0"/>
              <a:t>8/13/25</a:t>
            </a:fld>
            <a:endParaRPr lang="en-US"/>
          </a:p>
        </p:txBody>
      </p:sp>
      <p:sp>
        <p:nvSpPr>
          <p:cNvPr id="5" name="Footer Placeholder 4">
            <a:extLst>
              <a:ext uri="{FF2B5EF4-FFF2-40B4-BE49-F238E27FC236}">
                <a16:creationId xmlns:a16="http://schemas.microsoft.com/office/drawing/2014/main" id="{667794C9-8EF9-6C45-AE56-5C6CC17668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7" name="Picture 6">
            <a:extLst>
              <a:ext uri="{FF2B5EF4-FFF2-40B4-BE49-F238E27FC236}">
                <a16:creationId xmlns:a16="http://schemas.microsoft.com/office/drawing/2014/main" id="{3385896E-D1A5-F845-8A69-49E948E6F53F}"/>
              </a:ext>
            </a:extLst>
          </p:cNvPr>
          <p:cNvPicPr/>
          <p:nvPr userDrawn="1"/>
        </p:nvPicPr>
        <p:blipFill>
          <a:blip r:embed="rId12">
            <a:duotone>
              <a:prstClr val="black"/>
              <a:srgbClr val="89BDFF">
                <a:tint val="45000"/>
                <a:satMod val="400000"/>
              </a:srgbClr>
            </a:duotone>
            <a:extLst>
              <a:ext uri="{28A0092B-C50C-407E-A947-70E740481C1C}">
                <a14:useLocalDpi xmlns:a14="http://schemas.microsoft.com/office/drawing/2010/main" val="0"/>
              </a:ext>
            </a:extLst>
          </a:blip>
          <a:srcRect/>
          <a:stretch>
            <a:fillRect/>
          </a:stretch>
        </p:blipFill>
        <p:spPr bwMode="auto">
          <a:xfrm>
            <a:off x="0" y="-15513"/>
            <a:ext cx="7959436" cy="685800"/>
          </a:xfrm>
          <a:prstGeom prst="rect">
            <a:avLst/>
          </a:prstGeom>
          <a:noFill/>
          <a:ln>
            <a:noFill/>
          </a:ln>
        </p:spPr>
      </p:pic>
      <p:pic>
        <p:nvPicPr>
          <p:cNvPr id="8" name="Picture 7" descr="A close up of a sign&#10;&#10;Description automatically generated">
            <a:extLst>
              <a:ext uri="{FF2B5EF4-FFF2-40B4-BE49-F238E27FC236}">
                <a16:creationId xmlns:a16="http://schemas.microsoft.com/office/drawing/2014/main" id="{B6ED05CD-7E72-F04A-99CC-EB165CF4E380}"/>
              </a:ext>
            </a:extLst>
          </p:cNvPr>
          <p:cNvPicPr/>
          <p:nvPr userDrawn="1"/>
        </p:nvPicPr>
        <p:blipFill>
          <a:blip r:embed="rId13">
            <a:extLst>
              <a:ext uri="{28A0092B-C50C-407E-A947-70E740481C1C}">
                <a14:useLocalDpi xmlns:a14="http://schemas.microsoft.com/office/drawing/2010/main" val="0"/>
              </a:ext>
            </a:extLst>
          </a:blip>
          <a:stretch>
            <a:fillRect/>
          </a:stretch>
        </p:blipFill>
        <p:spPr bwMode="auto">
          <a:xfrm>
            <a:off x="10463068" y="136525"/>
            <a:ext cx="1511300" cy="575310"/>
          </a:xfrm>
          <a:prstGeom prst="rect">
            <a:avLst/>
          </a:prstGeom>
          <a:noFill/>
          <a:ln>
            <a:noFill/>
          </a:ln>
        </p:spPr>
      </p:pic>
      <p:sp>
        <p:nvSpPr>
          <p:cNvPr id="10" name="Slide Number Placeholder 9">
            <a:extLst>
              <a:ext uri="{FF2B5EF4-FFF2-40B4-BE49-F238E27FC236}">
                <a16:creationId xmlns:a16="http://schemas.microsoft.com/office/drawing/2014/main" id="{4D1BDABA-1953-A29F-9A73-D363886C22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82000"/>
                  </a:schemeClr>
                </a:solidFill>
                <a:latin typeface="Century Gothic" panose="020B0502020202020204" pitchFamily="34" charset="0"/>
              </a:defRPr>
            </a:lvl1pPr>
          </a:lstStyle>
          <a:p>
            <a:fld id="{6DAA597E-C53E-E44A-939F-9342AE977BBF}" type="slidenum">
              <a:rPr lang="en-US" smtClean="0"/>
              <a:pPr/>
              <a:t>‹#›</a:t>
            </a:fld>
            <a:endParaRPr lang="en-US" dirty="0"/>
          </a:p>
        </p:txBody>
      </p:sp>
    </p:spTree>
    <p:extLst>
      <p:ext uri="{BB962C8B-B14F-4D97-AF65-F5344CB8AC3E}">
        <p14:creationId xmlns:p14="http://schemas.microsoft.com/office/powerpoint/2010/main" val="3328132194"/>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13.jpg"/><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8.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1.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CB587-0E3A-BA2C-FC9A-95ABECC10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8D4260-32CD-4A06-BD46-44230A909865}"/>
              </a:ext>
            </a:extLst>
          </p:cNvPr>
          <p:cNvSpPr>
            <a:spLocks noGrp="1"/>
          </p:cNvSpPr>
          <p:nvPr>
            <p:ph type="title"/>
          </p:nvPr>
        </p:nvSpPr>
        <p:spPr>
          <a:xfrm>
            <a:off x="831850" y="1709739"/>
            <a:ext cx="10515600" cy="1719262"/>
          </a:xfrm>
        </p:spPr>
        <p:txBody>
          <a:bodyPr anchor="b">
            <a:normAutofit fontScale="90000"/>
          </a:bodyPr>
          <a:lstStyle/>
          <a:p>
            <a:r>
              <a:rPr lang="en-US" b="1" dirty="0">
                <a:latin typeface="Century Gothic" panose="020B0502020202020204" pitchFamily="34" charset="0"/>
              </a:rPr>
              <a:t>Doctoral Research Project Oral Presentation</a:t>
            </a:r>
            <a:endParaRPr lang="en-US" dirty="0">
              <a:latin typeface="Century Gothic" panose="020B0502020202020204" pitchFamily="34" charset="0"/>
            </a:endParaRPr>
          </a:p>
        </p:txBody>
      </p:sp>
      <p:sp>
        <p:nvSpPr>
          <p:cNvPr id="3" name="Subtitle 2">
            <a:extLst>
              <a:ext uri="{FF2B5EF4-FFF2-40B4-BE49-F238E27FC236}">
                <a16:creationId xmlns:a16="http://schemas.microsoft.com/office/drawing/2014/main" id="{00B623EC-0EBB-9429-472E-C2E8AE06B709}"/>
              </a:ext>
            </a:extLst>
          </p:cNvPr>
          <p:cNvSpPr>
            <a:spLocks noGrp="1"/>
          </p:cNvSpPr>
          <p:nvPr>
            <p:ph type="body" idx="1"/>
          </p:nvPr>
        </p:nvSpPr>
        <p:spPr>
          <a:xfrm>
            <a:off x="831850" y="4589463"/>
            <a:ext cx="10515600" cy="1500187"/>
          </a:xfrm>
        </p:spPr>
        <p:txBody>
          <a:bodyPr>
            <a:normAutofit/>
          </a:bodyPr>
          <a:lstStyle/>
          <a:p>
            <a:r>
              <a:rPr lang="en-US" b="1" dirty="0">
                <a:latin typeface="Century Gothic" panose="020B0502020202020204" pitchFamily="34" charset="0"/>
              </a:rPr>
              <a:t>Exploring the Role of Cybersecurity Awareness and Training in Enhancing Sustainable Business Performance in Small and Medium-Sized Enterprises: A Qualitative Case Study</a:t>
            </a:r>
          </a:p>
        </p:txBody>
      </p:sp>
      <p:sp>
        <p:nvSpPr>
          <p:cNvPr id="4" name="Slide Number Placeholder 3">
            <a:extLst>
              <a:ext uri="{FF2B5EF4-FFF2-40B4-BE49-F238E27FC236}">
                <a16:creationId xmlns:a16="http://schemas.microsoft.com/office/drawing/2014/main" id="{98BB4CE5-D976-CF90-A45C-21662388FC5D}"/>
              </a:ext>
            </a:extLst>
          </p:cNvPr>
          <p:cNvSpPr>
            <a:spLocks noGrp="1"/>
          </p:cNvSpPr>
          <p:nvPr>
            <p:ph type="sldNum" sz="quarter" idx="12"/>
          </p:nvPr>
        </p:nvSpPr>
        <p:spPr/>
        <p:txBody>
          <a:bodyPr/>
          <a:lstStyle/>
          <a:p>
            <a:fld id="{BA0420FF-E5B6-6E40-B042-B5CA0D8A2F91}" type="slidenum">
              <a:rPr lang="en-US" smtClean="0">
                <a:latin typeface="Century Gothic" panose="020B0502020202020204" pitchFamily="34" charset="0"/>
              </a:rPr>
              <a:t>1</a:t>
            </a:fld>
            <a:endParaRPr lang="en-US" dirty="0">
              <a:latin typeface="Century Gothic" panose="020B0502020202020204" pitchFamily="34" charset="0"/>
            </a:endParaRPr>
          </a:p>
        </p:txBody>
      </p:sp>
    </p:spTree>
    <p:extLst>
      <p:ext uri="{BB962C8B-B14F-4D97-AF65-F5344CB8AC3E}">
        <p14:creationId xmlns:p14="http://schemas.microsoft.com/office/powerpoint/2010/main" val="820761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674"/>
            <a:ext cx="10515600" cy="841014"/>
          </a:xfrm>
        </p:spPr>
        <p:txBody>
          <a:bodyPr anchor="ctr">
            <a:normAutofit/>
          </a:bodyPr>
          <a:lstStyle/>
          <a:p>
            <a:r>
              <a:rPr lang="en-US" sz="4000" b="1" dirty="0">
                <a:latin typeface="Century Gothic" panose="020B0502020202020204" pitchFamily="34" charset="0"/>
              </a:rPr>
              <a:t>Contents</a:t>
            </a:r>
          </a:p>
        </p:txBody>
      </p:sp>
      <p:graphicFrame>
        <p:nvGraphicFramePr>
          <p:cNvPr id="5" name="Content Placeholder 2">
            <a:extLst>
              <a:ext uri="{FF2B5EF4-FFF2-40B4-BE49-F238E27FC236}">
                <a16:creationId xmlns:a16="http://schemas.microsoft.com/office/drawing/2014/main" id="{12B4BBCD-869B-1D27-8381-3A3EB2C01B4B}"/>
              </a:ext>
            </a:extLst>
          </p:cNvPr>
          <p:cNvGraphicFramePr>
            <a:graphicFrameLocks noGrp="1"/>
          </p:cNvGraphicFramePr>
          <p:nvPr>
            <p:ph idx="1"/>
            <p:extLst>
              <p:ext uri="{D42A27DB-BD31-4B8C-83A1-F6EECF244321}">
                <p14:modId xmlns:p14="http://schemas.microsoft.com/office/powerpoint/2010/main" val="209561497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B4882E1E-4058-99F8-9D8F-32DB523B23AE}"/>
              </a:ext>
            </a:extLst>
          </p:cNvPr>
          <p:cNvSpPr>
            <a:spLocks noGrp="1"/>
          </p:cNvSpPr>
          <p:nvPr>
            <p:ph type="sldNum" sz="quarter" idx="12"/>
          </p:nvPr>
        </p:nvSpPr>
        <p:spPr/>
        <p:txBody>
          <a:bodyPr/>
          <a:lstStyle/>
          <a:p>
            <a:fld id="{BA0420FF-E5B6-6E40-B042-B5CA0D8A2F91}" type="slidenum">
              <a:rPr lang="en-US" smtClean="0"/>
              <a:t>2</a:t>
            </a:fld>
            <a:endParaRPr lang="en-US" dirty="0"/>
          </a:p>
        </p:txBody>
      </p:sp>
    </p:spTree>
    <p:extLst>
      <p:ext uri="{BB962C8B-B14F-4D97-AF65-F5344CB8AC3E}">
        <p14:creationId xmlns:p14="http://schemas.microsoft.com/office/powerpoint/2010/main" val="2134393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45395-319B-AB6B-3778-DFA2A6E4D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5550F-BBF3-1434-40D4-525B3DA24F26}"/>
              </a:ext>
            </a:extLst>
          </p:cNvPr>
          <p:cNvSpPr>
            <a:spLocks noGrp="1"/>
          </p:cNvSpPr>
          <p:nvPr>
            <p:ph type="title"/>
          </p:nvPr>
        </p:nvSpPr>
        <p:spPr>
          <a:xfrm>
            <a:off x="838200" y="849674"/>
            <a:ext cx="10515600" cy="841014"/>
          </a:xfrm>
        </p:spPr>
        <p:txBody>
          <a:bodyPr anchor="ctr">
            <a:normAutofit/>
          </a:bodyPr>
          <a:lstStyle/>
          <a:p>
            <a:r>
              <a:rPr lang="en-US" sz="4000" b="1" dirty="0">
                <a:latin typeface="Century Gothic" panose="020B0502020202020204" pitchFamily="34" charset="0"/>
              </a:rPr>
              <a:t>Background to the Study (1)</a:t>
            </a:r>
          </a:p>
        </p:txBody>
      </p:sp>
      <p:graphicFrame>
        <p:nvGraphicFramePr>
          <p:cNvPr id="7" name="Content Placeholder 4">
            <a:extLst>
              <a:ext uri="{FF2B5EF4-FFF2-40B4-BE49-F238E27FC236}">
                <a16:creationId xmlns:a16="http://schemas.microsoft.com/office/drawing/2014/main" id="{3AB8DD18-5C5E-3ACB-4B71-99063CA59D53}"/>
              </a:ext>
            </a:extLst>
          </p:cNvPr>
          <p:cNvGraphicFramePr>
            <a:graphicFrameLocks noGrp="1"/>
          </p:cNvGraphicFramePr>
          <p:nvPr>
            <p:ph idx="1"/>
            <p:extLst>
              <p:ext uri="{D42A27DB-BD31-4B8C-83A1-F6EECF244321}">
                <p14:modId xmlns:p14="http://schemas.microsoft.com/office/powerpoint/2010/main" val="221017133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2614EDC0-EF9E-3C64-8789-78769E30FAD9}"/>
              </a:ext>
            </a:extLst>
          </p:cNvPr>
          <p:cNvSpPr>
            <a:spLocks noGrp="1"/>
          </p:cNvSpPr>
          <p:nvPr>
            <p:ph type="sldNum" sz="quarter" idx="12"/>
          </p:nvPr>
        </p:nvSpPr>
        <p:spPr/>
        <p:txBody>
          <a:bodyPr/>
          <a:lstStyle/>
          <a:p>
            <a:fld id="{BA0420FF-E5B6-6E40-B042-B5CA0D8A2F91}" type="slidenum">
              <a:rPr lang="en-US" smtClean="0"/>
              <a:t>3</a:t>
            </a:fld>
            <a:endParaRPr lang="en-US"/>
          </a:p>
        </p:txBody>
      </p:sp>
    </p:spTree>
    <p:extLst>
      <p:ext uri="{BB962C8B-B14F-4D97-AF65-F5344CB8AC3E}">
        <p14:creationId xmlns:p14="http://schemas.microsoft.com/office/powerpoint/2010/main" val="3405449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0F830-8F0E-76F7-7FDA-E87C2DA35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C5CCB-B1E6-42C8-1186-3E19E3278EA2}"/>
              </a:ext>
            </a:extLst>
          </p:cNvPr>
          <p:cNvSpPr>
            <a:spLocks noGrp="1"/>
          </p:cNvSpPr>
          <p:nvPr>
            <p:ph type="title"/>
          </p:nvPr>
        </p:nvSpPr>
        <p:spPr>
          <a:xfrm>
            <a:off x="838200" y="1173765"/>
            <a:ext cx="10515600" cy="841014"/>
          </a:xfrm>
        </p:spPr>
        <p:txBody>
          <a:bodyPr anchor="ctr">
            <a:normAutofit/>
          </a:bodyPr>
          <a:lstStyle/>
          <a:p>
            <a:r>
              <a:rPr lang="en-US" sz="4000" b="1" dirty="0">
                <a:latin typeface="Century Gothic" panose="020B0502020202020204" pitchFamily="34" charset="0"/>
              </a:rPr>
              <a:t>Background to the Study (2)</a:t>
            </a:r>
          </a:p>
        </p:txBody>
      </p:sp>
      <p:graphicFrame>
        <p:nvGraphicFramePr>
          <p:cNvPr id="7" name="Content Placeholder 4">
            <a:extLst>
              <a:ext uri="{FF2B5EF4-FFF2-40B4-BE49-F238E27FC236}">
                <a16:creationId xmlns:a16="http://schemas.microsoft.com/office/drawing/2014/main" id="{9CDBC7F5-336A-D2CF-E4C1-06DCEF2481A9}"/>
              </a:ext>
            </a:extLst>
          </p:cNvPr>
          <p:cNvGraphicFramePr>
            <a:graphicFrameLocks noGrp="1"/>
          </p:cNvGraphicFramePr>
          <p:nvPr>
            <p:ph idx="1"/>
            <p:extLst>
              <p:ext uri="{D42A27DB-BD31-4B8C-83A1-F6EECF244321}">
                <p14:modId xmlns:p14="http://schemas.microsoft.com/office/powerpoint/2010/main" val="286436006"/>
              </p:ext>
            </p:extLst>
          </p:nvPr>
        </p:nvGraphicFramePr>
        <p:xfrm>
          <a:off x="838200" y="1943959"/>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5821C9F7-3495-2AE1-C476-3EBE0B1D198E}"/>
              </a:ext>
            </a:extLst>
          </p:cNvPr>
          <p:cNvSpPr>
            <a:spLocks noGrp="1"/>
          </p:cNvSpPr>
          <p:nvPr>
            <p:ph type="sldNum" sz="quarter" idx="12"/>
          </p:nvPr>
        </p:nvSpPr>
        <p:spPr/>
        <p:txBody>
          <a:bodyPr/>
          <a:lstStyle/>
          <a:p>
            <a:fld id="{BA0420FF-E5B6-6E40-B042-B5CA0D8A2F91}" type="slidenum">
              <a:rPr lang="en-US" smtClean="0"/>
              <a:t>4</a:t>
            </a:fld>
            <a:endParaRPr lang="en-US"/>
          </a:p>
        </p:txBody>
      </p:sp>
    </p:spTree>
    <p:extLst>
      <p:ext uri="{BB962C8B-B14F-4D97-AF65-F5344CB8AC3E}">
        <p14:creationId xmlns:p14="http://schemas.microsoft.com/office/powerpoint/2010/main" val="1234382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91BCB-55AF-4A54-2906-166E1F781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47B32C-8FEF-9FB2-1080-3AF4F413B1F1}"/>
              </a:ext>
            </a:extLst>
          </p:cNvPr>
          <p:cNvSpPr>
            <a:spLocks noGrp="1"/>
          </p:cNvSpPr>
          <p:nvPr>
            <p:ph type="title"/>
          </p:nvPr>
        </p:nvSpPr>
        <p:spPr>
          <a:xfrm>
            <a:off x="671946" y="683986"/>
            <a:ext cx="10515600" cy="841014"/>
          </a:xfrm>
        </p:spPr>
        <p:txBody>
          <a:bodyPr anchor="ctr">
            <a:normAutofit fontScale="90000"/>
          </a:bodyPr>
          <a:lstStyle/>
          <a:p>
            <a:r>
              <a:rPr lang="en-US" b="1" dirty="0">
                <a:latin typeface="Century Gothic" panose="020B0502020202020204" pitchFamily="34" charset="0"/>
              </a:rPr>
              <a:t>General &amp; Specific Problem Statements</a:t>
            </a:r>
          </a:p>
        </p:txBody>
      </p:sp>
      <p:sp>
        <p:nvSpPr>
          <p:cNvPr id="3" name="Slide Number Placeholder 2">
            <a:extLst>
              <a:ext uri="{FF2B5EF4-FFF2-40B4-BE49-F238E27FC236}">
                <a16:creationId xmlns:a16="http://schemas.microsoft.com/office/drawing/2014/main" id="{6E7876CC-67E4-EC80-8B8C-D445C7C8DC4C}"/>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A0420FF-E5B6-6E40-B042-B5CA0D8A2F91}" type="slidenum">
              <a:rPr lang="en-US" smtClean="0"/>
              <a:pPr>
                <a:spcAft>
                  <a:spcPts val="600"/>
                </a:spcAft>
              </a:pPr>
              <a:t>5</a:t>
            </a:fld>
            <a:endParaRPr lang="en-US"/>
          </a:p>
        </p:txBody>
      </p:sp>
      <p:graphicFrame>
        <p:nvGraphicFramePr>
          <p:cNvPr id="5" name="Content Placeholder 2">
            <a:extLst>
              <a:ext uri="{FF2B5EF4-FFF2-40B4-BE49-F238E27FC236}">
                <a16:creationId xmlns:a16="http://schemas.microsoft.com/office/drawing/2014/main" id="{16F4DE11-3810-DDEB-568E-BED69AA15CCA}"/>
              </a:ext>
            </a:extLst>
          </p:cNvPr>
          <p:cNvGraphicFramePr>
            <a:graphicFrameLocks noGrp="1"/>
          </p:cNvGraphicFramePr>
          <p:nvPr>
            <p:ph sz="half" idx="2"/>
          </p:nvPr>
        </p:nvGraphicFramePr>
        <p:xfrm>
          <a:off x="748146" y="1525000"/>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2" name="Content Placeholder 11" descr="A diagram of a computer virus&#10;&#10;AI-generated content may be incorrect.">
            <a:extLst>
              <a:ext uri="{FF2B5EF4-FFF2-40B4-BE49-F238E27FC236}">
                <a16:creationId xmlns:a16="http://schemas.microsoft.com/office/drawing/2014/main" id="{ECDF9491-6DBE-45B4-6C42-7D190927E14B}"/>
              </a:ext>
            </a:extLst>
          </p:cNvPr>
          <p:cNvPicPr>
            <a:picLocks noGrp="1" noChangeAspect="1"/>
          </p:cNvPicPr>
          <p:nvPr>
            <p:ph sz="half" idx="1"/>
          </p:nvPr>
        </p:nvPicPr>
        <p:blipFill>
          <a:blip r:embed="rId8"/>
          <a:stretch>
            <a:fillRect/>
          </a:stretch>
        </p:blipFill>
        <p:spPr>
          <a:xfrm>
            <a:off x="6677819" y="1543050"/>
            <a:ext cx="4351338" cy="4351338"/>
          </a:xfrm>
        </p:spPr>
      </p:pic>
    </p:spTree>
    <p:extLst>
      <p:ext uri="{BB962C8B-B14F-4D97-AF65-F5344CB8AC3E}">
        <p14:creationId xmlns:p14="http://schemas.microsoft.com/office/powerpoint/2010/main" val="3043951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2029" y="325480"/>
            <a:ext cx="8403892" cy="1014984"/>
          </a:xfrm>
        </p:spPr>
        <p:txBody>
          <a:bodyPr anchor="b">
            <a:normAutofit/>
          </a:bodyPr>
          <a:lstStyle/>
          <a:p>
            <a:pPr>
              <a:defRPr sz="3200" b="1">
                <a:solidFill>
                  <a:srgbClr val="003366"/>
                </a:solidFill>
              </a:defRPr>
            </a:pPr>
            <a:r>
              <a:rPr lang="en-US" sz="4000" dirty="0">
                <a:latin typeface="Century Gothic" panose="020B0502020202020204" pitchFamily="34" charset="0"/>
              </a:rPr>
              <a:t>Purpose of the Study</a:t>
            </a:r>
          </a:p>
        </p:txBody>
      </p:sp>
      <p:graphicFrame>
        <p:nvGraphicFramePr>
          <p:cNvPr id="5" name="Content Placeholder 2">
            <a:extLst>
              <a:ext uri="{FF2B5EF4-FFF2-40B4-BE49-F238E27FC236}">
                <a16:creationId xmlns:a16="http://schemas.microsoft.com/office/drawing/2014/main" id="{7D653E5E-2578-729D-D064-AB60CAC4FC3B}"/>
              </a:ext>
            </a:extLst>
          </p:cNvPr>
          <p:cNvGraphicFramePr>
            <a:graphicFrameLocks noGrp="1"/>
          </p:cNvGraphicFramePr>
          <p:nvPr>
            <p:ph idx="1"/>
            <p:extLst>
              <p:ext uri="{D42A27DB-BD31-4B8C-83A1-F6EECF244321}">
                <p14:modId xmlns:p14="http://schemas.microsoft.com/office/powerpoint/2010/main" val="1369296572"/>
              </p:ext>
            </p:extLst>
          </p:nvPr>
        </p:nvGraphicFramePr>
        <p:xfrm>
          <a:off x="1632029" y="1435261"/>
          <a:ext cx="9560689" cy="50002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37E7A260-15C1-A6D4-2485-1A65AF9C7CA1}"/>
              </a:ext>
            </a:extLst>
          </p:cNvPr>
          <p:cNvSpPr>
            <a:spLocks noGrp="1"/>
          </p:cNvSpPr>
          <p:nvPr>
            <p:ph type="sldNum" sz="quarter" idx="12"/>
          </p:nvPr>
        </p:nvSpPr>
        <p:spPr/>
        <p:txBody>
          <a:bodyPr/>
          <a:lstStyle/>
          <a:p>
            <a:fld id="{BA0420FF-E5B6-6E40-B042-B5CA0D8A2F91}"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CF8CB-8BCE-7187-EA05-B6FAA1913B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5C4DF-D4CF-952D-CFE5-0BDEBEFF0591}"/>
              </a:ext>
            </a:extLst>
          </p:cNvPr>
          <p:cNvSpPr>
            <a:spLocks noGrp="1"/>
          </p:cNvSpPr>
          <p:nvPr>
            <p:ph type="title"/>
          </p:nvPr>
        </p:nvSpPr>
        <p:spPr>
          <a:xfrm>
            <a:off x="838200" y="681037"/>
            <a:ext cx="10515600" cy="841014"/>
          </a:xfrm>
        </p:spPr>
        <p:txBody>
          <a:bodyPr anchor="ctr">
            <a:normAutofit/>
          </a:bodyPr>
          <a:lstStyle/>
          <a:p>
            <a:r>
              <a:rPr lang="en-US" sz="4000" b="1" dirty="0">
                <a:latin typeface="Century Gothic" panose="020B0502020202020204" pitchFamily="34" charset="0"/>
              </a:rPr>
              <a:t>Significance of the study</a:t>
            </a:r>
          </a:p>
        </p:txBody>
      </p:sp>
      <p:graphicFrame>
        <p:nvGraphicFramePr>
          <p:cNvPr id="5" name="Content Placeholder 2">
            <a:extLst>
              <a:ext uri="{FF2B5EF4-FFF2-40B4-BE49-F238E27FC236}">
                <a16:creationId xmlns:a16="http://schemas.microsoft.com/office/drawing/2014/main" id="{2F61D8AE-6165-131A-C1E2-0A91EA136F09}"/>
              </a:ext>
            </a:extLst>
          </p:cNvPr>
          <p:cNvGraphicFramePr>
            <a:graphicFrameLocks noGrp="1"/>
          </p:cNvGraphicFramePr>
          <p:nvPr>
            <p:ph idx="1"/>
            <p:extLst>
              <p:ext uri="{D42A27DB-BD31-4B8C-83A1-F6EECF244321}">
                <p14:modId xmlns:p14="http://schemas.microsoft.com/office/powerpoint/2010/main" val="229273529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73BE3E8E-A40E-F116-E0D6-E82193B32940}"/>
              </a:ext>
            </a:extLst>
          </p:cNvPr>
          <p:cNvSpPr>
            <a:spLocks noGrp="1"/>
          </p:cNvSpPr>
          <p:nvPr>
            <p:ph type="sldNum" sz="quarter" idx="12"/>
          </p:nvPr>
        </p:nvSpPr>
        <p:spPr/>
        <p:txBody>
          <a:bodyPr/>
          <a:lstStyle/>
          <a:p>
            <a:fld id="{BA0420FF-E5B6-6E40-B042-B5CA0D8A2F91}" type="slidenum">
              <a:rPr lang="en-US" smtClean="0"/>
              <a:t>7</a:t>
            </a:fld>
            <a:endParaRPr lang="en-US"/>
          </a:p>
        </p:txBody>
      </p:sp>
    </p:spTree>
    <p:extLst>
      <p:ext uri="{BB962C8B-B14F-4D97-AF65-F5344CB8AC3E}">
        <p14:creationId xmlns:p14="http://schemas.microsoft.com/office/powerpoint/2010/main" val="4201824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3237F-569C-22E9-7B22-08A920A224EC}"/>
              </a:ext>
            </a:extLst>
          </p:cNvPr>
          <p:cNvSpPr>
            <a:spLocks noGrp="1"/>
          </p:cNvSpPr>
          <p:nvPr>
            <p:ph type="title"/>
          </p:nvPr>
        </p:nvSpPr>
        <p:spPr>
          <a:xfrm>
            <a:off x="838200" y="517165"/>
            <a:ext cx="10515600" cy="841014"/>
          </a:xfrm>
        </p:spPr>
        <p:txBody>
          <a:bodyPr>
            <a:normAutofit/>
          </a:bodyPr>
          <a:lstStyle/>
          <a:p>
            <a:r>
              <a:rPr lang="en-US" sz="4000" b="1" dirty="0">
                <a:latin typeface="Century Gothic" panose="020B0502020202020204" pitchFamily="34" charset="0"/>
              </a:rPr>
              <a:t>Literature Support (1) </a:t>
            </a:r>
          </a:p>
        </p:txBody>
      </p:sp>
      <p:sp>
        <p:nvSpPr>
          <p:cNvPr id="3" name="Content Placeholder 2">
            <a:extLst>
              <a:ext uri="{FF2B5EF4-FFF2-40B4-BE49-F238E27FC236}">
                <a16:creationId xmlns:a16="http://schemas.microsoft.com/office/drawing/2014/main" id="{D388E349-617D-0CC6-0BE2-0C293686ACA9}"/>
              </a:ext>
            </a:extLst>
          </p:cNvPr>
          <p:cNvSpPr>
            <a:spLocks noGrp="1"/>
          </p:cNvSpPr>
          <p:nvPr>
            <p:ph idx="1"/>
          </p:nvPr>
        </p:nvSpPr>
        <p:spPr>
          <a:xfrm>
            <a:off x="838200" y="1429789"/>
            <a:ext cx="10515600" cy="4747174"/>
          </a:xfrm>
        </p:spPr>
        <p:txBody>
          <a:bodyPr>
            <a:normAutofit lnSpcReduction="10000"/>
          </a:bodyPr>
          <a:lstStyle/>
          <a:p>
            <a:pPr marL="0" indent="0">
              <a:buNone/>
            </a:pPr>
            <a:r>
              <a:rPr lang="en-US" sz="2200" b="1" dirty="0">
                <a:latin typeface="Century Gothic" panose="020B0502020202020204" pitchFamily="34" charset="0"/>
              </a:rPr>
              <a:t>The Disproportionate Cyber Risk Facing SMEs</a:t>
            </a:r>
            <a:endParaRPr lang="en-US" sz="2200" dirty="0">
              <a:latin typeface="Century Gothic" panose="020B0502020202020204" pitchFamily="34" charset="0"/>
            </a:endParaRPr>
          </a:p>
          <a:p>
            <a:r>
              <a:rPr lang="en-US" sz="2200" b="1" dirty="0">
                <a:latin typeface="Century Gothic" panose="020B0502020202020204" pitchFamily="34" charset="0"/>
              </a:rPr>
              <a:t>Key Literature Themes:</a:t>
            </a:r>
            <a:endParaRPr lang="en-US" sz="2200" dirty="0">
              <a:latin typeface="Century Gothic" panose="020B0502020202020204" pitchFamily="34" charset="0"/>
            </a:endParaRPr>
          </a:p>
          <a:p>
            <a:pPr lvl="1"/>
            <a:r>
              <a:rPr lang="en-US" sz="1900" b="1" dirty="0">
                <a:latin typeface="Century Gothic" panose="020B0502020202020204" pitchFamily="34" charset="0"/>
              </a:rPr>
              <a:t>Targeted Threats:</a:t>
            </a:r>
            <a:r>
              <a:rPr lang="en-US" sz="1900" dirty="0">
                <a:latin typeface="Century Gothic" panose="020B0502020202020204" pitchFamily="34" charset="0"/>
              </a:rPr>
              <a:t> SMEs account for </a:t>
            </a:r>
            <a:r>
              <a:rPr lang="en-US" sz="1900" b="1" dirty="0">
                <a:latin typeface="Century Gothic" panose="020B0502020202020204" pitchFamily="34" charset="0"/>
              </a:rPr>
              <a:t>43% of cyberattacks</a:t>
            </a:r>
            <a:r>
              <a:rPr lang="en-US" sz="1900" dirty="0">
                <a:latin typeface="Century Gothic" panose="020B0502020202020204" pitchFamily="34" charset="0"/>
              </a:rPr>
              <a:t>, underscoring their growing exposure in the digital economy </a:t>
            </a:r>
            <a:r>
              <a:rPr lang="en-US" sz="1900" dirty="0">
                <a:solidFill>
                  <a:srgbClr val="C00000"/>
                </a:solidFill>
                <a:latin typeface="Century Gothic" panose="020B0502020202020204" pitchFamily="34" charset="0"/>
              </a:rPr>
              <a:t>(Verizon, 2023</a:t>
            </a:r>
            <a:r>
              <a:rPr lang="en-US" sz="1900" dirty="0">
                <a:latin typeface="Century Gothic" panose="020B0502020202020204" pitchFamily="34" charset="0"/>
              </a:rPr>
              <a:t>).</a:t>
            </a:r>
          </a:p>
          <a:p>
            <a:pPr lvl="1"/>
            <a:r>
              <a:rPr lang="en-US" sz="1900" b="1" dirty="0">
                <a:latin typeface="Century Gothic" panose="020B0502020202020204" pitchFamily="34" charset="0"/>
              </a:rPr>
              <a:t>Resource Constraints:</a:t>
            </a:r>
            <a:r>
              <a:rPr lang="en-US" sz="1900" dirty="0">
                <a:latin typeface="Century Gothic" panose="020B0502020202020204" pitchFamily="34" charset="0"/>
              </a:rPr>
              <a:t> Unlike large enterprises, SMEs lack </a:t>
            </a:r>
            <a:r>
              <a:rPr lang="en-US" sz="1900" b="1" dirty="0">
                <a:latin typeface="Century Gothic" panose="020B0502020202020204" pitchFamily="34" charset="0"/>
              </a:rPr>
              <a:t>dedicated IT teams</a:t>
            </a:r>
            <a:r>
              <a:rPr lang="en-US" sz="1900" dirty="0">
                <a:latin typeface="Century Gothic" panose="020B0502020202020204" pitchFamily="34" charset="0"/>
              </a:rPr>
              <a:t> and </a:t>
            </a:r>
            <a:r>
              <a:rPr lang="en-US" sz="1900" b="1" dirty="0">
                <a:latin typeface="Century Gothic" panose="020B0502020202020204" pitchFamily="34" charset="0"/>
              </a:rPr>
              <a:t>advanced security infrastructures</a:t>
            </a:r>
            <a:r>
              <a:rPr lang="en-US" sz="1900" dirty="0">
                <a:latin typeface="Century Gothic" panose="020B0502020202020204" pitchFamily="34" charset="0"/>
              </a:rPr>
              <a:t>, leaving them vulnerable </a:t>
            </a:r>
            <a:r>
              <a:rPr lang="en-US" sz="1900" dirty="0">
                <a:solidFill>
                  <a:srgbClr val="C00000"/>
                </a:solidFill>
                <a:latin typeface="Century Gothic" panose="020B0502020202020204" pitchFamily="34" charset="0"/>
              </a:rPr>
              <a:t>(</a:t>
            </a:r>
            <a:r>
              <a:rPr lang="en-US" sz="1900" dirty="0" err="1">
                <a:solidFill>
                  <a:srgbClr val="C00000"/>
                </a:solidFill>
                <a:latin typeface="Century Gothic" panose="020B0502020202020204" pitchFamily="34" charset="0"/>
              </a:rPr>
              <a:t>Rawindaran</a:t>
            </a:r>
            <a:r>
              <a:rPr lang="en-US" sz="1900" dirty="0">
                <a:solidFill>
                  <a:srgbClr val="C00000"/>
                </a:solidFill>
                <a:latin typeface="Century Gothic" panose="020B0502020202020204" pitchFamily="34" charset="0"/>
              </a:rPr>
              <a:t> et al., 2023; Faulhaber-Brad Moon, 2023)</a:t>
            </a:r>
            <a:r>
              <a:rPr lang="en-US" sz="1900" dirty="0">
                <a:latin typeface="Century Gothic" panose="020B0502020202020204" pitchFamily="34" charset="0"/>
              </a:rPr>
              <a:t>.</a:t>
            </a:r>
          </a:p>
          <a:p>
            <a:pPr lvl="1"/>
            <a:r>
              <a:rPr lang="en-US" sz="1900" b="1" dirty="0">
                <a:latin typeface="Century Gothic" panose="020B0502020202020204" pitchFamily="34" charset="0"/>
              </a:rPr>
              <a:t>Misconceptions &amp; Complacency:</a:t>
            </a:r>
            <a:r>
              <a:rPr lang="en-US" sz="1900" dirty="0">
                <a:latin typeface="Century Gothic" panose="020B0502020202020204" pitchFamily="34" charset="0"/>
              </a:rPr>
              <a:t> A </a:t>
            </a:r>
            <a:r>
              <a:rPr lang="en-US" sz="1900" b="1" dirty="0">
                <a:latin typeface="Century Gothic" panose="020B0502020202020204" pitchFamily="34" charset="0"/>
              </a:rPr>
              <a:t>false sense of security</a:t>
            </a:r>
            <a:r>
              <a:rPr lang="en-US" sz="1900" dirty="0">
                <a:latin typeface="Century Gothic" panose="020B0502020202020204" pitchFamily="34" charset="0"/>
              </a:rPr>
              <a:t> among SME owners contributes to underinvestment in cybersecurity </a:t>
            </a:r>
            <a:r>
              <a:rPr lang="en-US" sz="1900" dirty="0">
                <a:solidFill>
                  <a:srgbClr val="C00000"/>
                </a:solidFill>
                <a:latin typeface="Century Gothic" panose="020B0502020202020204" pitchFamily="34" charset="0"/>
              </a:rPr>
              <a:t>(</a:t>
            </a:r>
            <a:r>
              <a:rPr lang="en-US" sz="1900" dirty="0" err="1">
                <a:solidFill>
                  <a:srgbClr val="C00000"/>
                </a:solidFill>
                <a:latin typeface="Century Gothic" panose="020B0502020202020204" pitchFamily="34" charset="0"/>
              </a:rPr>
              <a:t>Arroyabe</a:t>
            </a:r>
            <a:r>
              <a:rPr lang="en-US" sz="1900" dirty="0">
                <a:solidFill>
                  <a:srgbClr val="C00000"/>
                </a:solidFill>
                <a:latin typeface="Century Gothic" panose="020B0502020202020204" pitchFamily="34" charset="0"/>
              </a:rPr>
              <a:t> et al., 2024; </a:t>
            </a:r>
            <a:r>
              <a:rPr lang="en-US" sz="1900" dirty="0" err="1">
                <a:solidFill>
                  <a:srgbClr val="C00000"/>
                </a:solidFill>
                <a:latin typeface="Century Gothic" panose="020B0502020202020204" pitchFamily="34" charset="0"/>
              </a:rPr>
              <a:t>Rüdell</a:t>
            </a:r>
            <a:r>
              <a:rPr lang="en-US" sz="1900" dirty="0">
                <a:solidFill>
                  <a:srgbClr val="C00000"/>
                </a:solidFill>
                <a:latin typeface="Century Gothic" panose="020B0502020202020204" pitchFamily="34" charset="0"/>
              </a:rPr>
              <a:t>, 2024)</a:t>
            </a:r>
            <a:r>
              <a:rPr lang="en-US" sz="1900" dirty="0">
                <a:latin typeface="Century Gothic" panose="020B0502020202020204" pitchFamily="34" charset="0"/>
              </a:rPr>
              <a:t>.</a:t>
            </a:r>
          </a:p>
          <a:p>
            <a:pPr lvl="1"/>
            <a:r>
              <a:rPr lang="en-US" sz="1900" b="1" dirty="0">
                <a:latin typeface="Century Gothic" panose="020B0502020202020204" pitchFamily="34" charset="0"/>
              </a:rPr>
              <a:t>Supply Chain Risk:</a:t>
            </a:r>
            <a:r>
              <a:rPr lang="en-US" sz="1900" dirty="0">
                <a:latin typeface="Century Gothic" panose="020B0502020202020204" pitchFamily="34" charset="0"/>
              </a:rPr>
              <a:t> SMEs often serve as </a:t>
            </a:r>
            <a:r>
              <a:rPr lang="en-US" sz="1900" b="1" dirty="0">
                <a:latin typeface="Century Gothic" panose="020B0502020202020204" pitchFamily="34" charset="0"/>
              </a:rPr>
              <a:t>entry points to larger organizations</a:t>
            </a:r>
            <a:r>
              <a:rPr lang="en-US" sz="1900" dirty="0">
                <a:latin typeface="Century Gothic" panose="020B0502020202020204" pitchFamily="34" charset="0"/>
              </a:rPr>
              <a:t>, amplifying systemic risk across industries </a:t>
            </a:r>
            <a:r>
              <a:rPr lang="en-US" sz="1900" dirty="0">
                <a:solidFill>
                  <a:srgbClr val="C00000"/>
                </a:solidFill>
                <a:latin typeface="Century Gothic" panose="020B0502020202020204" pitchFamily="34" charset="0"/>
              </a:rPr>
              <a:t>(Mugwagwa et al., 2024; Sharma, 2025).</a:t>
            </a:r>
          </a:p>
          <a:p>
            <a:r>
              <a:rPr lang="en-US" sz="2200" b="1" dirty="0">
                <a:latin typeface="Century Gothic" panose="020B0502020202020204" pitchFamily="34" charset="0"/>
              </a:rPr>
              <a:t>Scholarly Framing:</a:t>
            </a:r>
            <a:endParaRPr lang="en-US" sz="2200" dirty="0">
              <a:latin typeface="Century Gothic" panose="020B0502020202020204" pitchFamily="34" charset="0"/>
            </a:endParaRPr>
          </a:p>
          <a:p>
            <a:pPr marL="400050" lvl="1" indent="0">
              <a:buNone/>
            </a:pPr>
            <a:r>
              <a:rPr lang="en-US" sz="1900" dirty="0">
                <a:latin typeface="Century Gothic" panose="020B0502020202020204" pitchFamily="34" charset="0"/>
              </a:rPr>
              <a:t>“The literature consistently identifies SMEs as high-risk entities due to structural vulnerabilities, limited resources, and their strategic position within supply chains.” — </a:t>
            </a:r>
            <a:r>
              <a:rPr lang="en-US" sz="1900" dirty="0">
                <a:solidFill>
                  <a:srgbClr val="C00000"/>
                </a:solidFill>
                <a:latin typeface="Century Gothic" panose="020B0502020202020204" pitchFamily="34" charset="0"/>
              </a:rPr>
              <a:t>Tetteh (2024)</a:t>
            </a:r>
          </a:p>
          <a:p>
            <a:endParaRPr lang="en-US" dirty="0"/>
          </a:p>
        </p:txBody>
      </p:sp>
      <p:sp>
        <p:nvSpPr>
          <p:cNvPr id="4" name="Slide Number Placeholder 3">
            <a:extLst>
              <a:ext uri="{FF2B5EF4-FFF2-40B4-BE49-F238E27FC236}">
                <a16:creationId xmlns:a16="http://schemas.microsoft.com/office/drawing/2014/main" id="{B5A3AE83-31C7-EFC1-046C-14567914F451}"/>
              </a:ext>
            </a:extLst>
          </p:cNvPr>
          <p:cNvSpPr>
            <a:spLocks noGrp="1"/>
          </p:cNvSpPr>
          <p:nvPr>
            <p:ph type="sldNum" sz="quarter" idx="12"/>
          </p:nvPr>
        </p:nvSpPr>
        <p:spPr/>
        <p:txBody>
          <a:bodyPr/>
          <a:lstStyle/>
          <a:p>
            <a:fld id="{BA0420FF-E5B6-6E40-B042-B5CA0D8A2F91}" type="slidenum">
              <a:rPr lang="en-US" smtClean="0"/>
              <a:t>8</a:t>
            </a:fld>
            <a:endParaRPr lang="en-US"/>
          </a:p>
        </p:txBody>
      </p:sp>
    </p:spTree>
    <p:extLst>
      <p:ext uri="{BB962C8B-B14F-4D97-AF65-F5344CB8AC3E}">
        <p14:creationId xmlns:p14="http://schemas.microsoft.com/office/powerpoint/2010/main" val="2750242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2E8B4-541D-3246-FD04-E2427A5FC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6D870-502C-BB09-C839-646B1106927C}"/>
              </a:ext>
            </a:extLst>
          </p:cNvPr>
          <p:cNvSpPr>
            <a:spLocks noGrp="1"/>
          </p:cNvSpPr>
          <p:nvPr>
            <p:ph type="title"/>
          </p:nvPr>
        </p:nvSpPr>
        <p:spPr>
          <a:xfrm>
            <a:off x="838200" y="759981"/>
            <a:ext cx="10515600" cy="841014"/>
          </a:xfrm>
        </p:spPr>
        <p:txBody>
          <a:bodyPr>
            <a:normAutofit/>
          </a:bodyPr>
          <a:lstStyle/>
          <a:p>
            <a:r>
              <a:rPr lang="en-US" sz="4000" b="1" dirty="0">
                <a:latin typeface="Century Gothic" panose="020B0502020202020204" pitchFamily="34" charset="0"/>
              </a:rPr>
              <a:t>Literature Support (2)</a:t>
            </a:r>
          </a:p>
        </p:txBody>
      </p:sp>
      <p:sp>
        <p:nvSpPr>
          <p:cNvPr id="3" name="Content Placeholder 2">
            <a:extLst>
              <a:ext uri="{FF2B5EF4-FFF2-40B4-BE49-F238E27FC236}">
                <a16:creationId xmlns:a16="http://schemas.microsoft.com/office/drawing/2014/main" id="{0098D955-30B5-D0D9-696B-D1467BDB9EF4}"/>
              </a:ext>
            </a:extLst>
          </p:cNvPr>
          <p:cNvSpPr>
            <a:spLocks noGrp="1"/>
          </p:cNvSpPr>
          <p:nvPr>
            <p:ph idx="1"/>
          </p:nvPr>
        </p:nvSpPr>
        <p:spPr>
          <a:xfrm>
            <a:off x="838200" y="1690688"/>
            <a:ext cx="10515600" cy="4486275"/>
          </a:xfrm>
        </p:spPr>
        <p:txBody>
          <a:bodyPr>
            <a:normAutofit/>
          </a:bodyPr>
          <a:lstStyle/>
          <a:p>
            <a:r>
              <a:rPr lang="en-US" sz="2200" b="1" dirty="0">
                <a:latin typeface="Century Gothic" panose="020B0502020202020204" pitchFamily="34" charset="0"/>
              </a:rPr>
              <a:t>Key Literature Themes:</a:t>
            </a:r>
            <a:endParaRPr lang="en-US" sz="2200" dirty="0">
              <a:latin typeface="Century Gothic" panose="020B0502020202020204" pitchFamily="34" charset="0"/>
            </a:endParaRPr>
          </a:p>
          <a:p>
            <a:pPr lvl="1"/>
            <a:r>
              <a:rPr lang="en-US" sz="1900" b="1" dirty="0">
                <a:latin typeface="Century Gothic" panose="020B0502020202020204" pitchFamily="34" charset="0"/>
              </a:rPr>
              <a:t>Human Error as a Core Risk:</a:t>
            </a:r>
            <a:r>
              <a:rPr lang="en-US" sz="1900" dirty="0">
                <a:latin typeface="Century Gothic" panose="020B0502020202020204" pitchFamily="34" charset="0"/>
              </a:rPr>
              <a:t> Poor password hygiene and phishing susceptibility are major breach factors </a:t>
            </a:r>
            <a:r>
              <a:rPr lang="en-US" sz="1900" dirty="0">
                <a:solidFill>
                  <a:srgbClr val="C00000"/>
                </a:solidFill>
                <a:latin typeface="Century Gothic" panose="020B0502020202020204" pitchFamily="34" charset="0"/>
              </a:rPr>
              <a:t>(Javaid et al., 2023; </a:t>
            </a:r>
            <a:r>
              <a:rPr lang="en-US" sz="1900" dirty="0" err="1">
                <a:solidFill>
                  <a:srgbClr val="C00000"/>
                </a:solidFill>
                <a:latin typeface="Century Gothic" panose="020B0502020202020204" pitchFamily="34" charset="0"/>
              </a:rPr>
              <a:t>Taherdoost</a:t>
            </a:r>
            <a:r>
              <a:rPr lang="en-US" sz="1900" dirty="0">
                <a:solidFill>
                  <a:srgbClr val="C00000"/>
                </a:solidFill>
                <a:latin typeface="Century Gothic" panose="020B0502020202020204" pitchFamily="34" charset="0"/>
              </a:rPr>
              <a:t>, 2024).</a:t>
            </a:r>
          </a:p>
          <a:p>
            <a:pPr lvl="1"/>
            <a:r>
              <a:rPr lang="en-US" sz="1900" b="1" dirty="0">
                <a:latin typeface="Century Gothic" panose="020B0502020202020204" pitchFamily="34" charset="0"/>
              </a:rPr>
              <a:t>Ineffective Training Models:</a:t>
            </a:r>
            <a:r>
              <a:rPr lang="en-US" sz="1900" dirty="0">
                <a:latin typeface="Century Gothic" panose="020B0502020202020204" pitchFamily="34" charset="0"/>
              </a:rPr>
              <a:t> Static, one-size-fits-all training fails to drive behavioral change </a:t>
            </a:r>
            <a:r>
              <a:rPr lang="en-US" sz="1900" dirty="0">
                <a:solidFill>
                  <a:srgbClr val="C00000"/>
                </a:solidFill>
                <a:latin typeface="Century Gothic" panose="020B0502020202020204" pitchFamily="34" charset="0"/>
              </a:rPr>
              <a:t>(Nurse, 2021; Abrahams et al., 2024).</a:t>
            </a:r>
          </a:p>
          <a:p>
            <a:pPr lvl="1"/>
            <a:r>
              <a:rPr lang="en-US" sz="1900" b="1" dirty="0">
                <a:latin typeface="Century Gothic" panose="020B0502020202020204" pitchFamily="34" charset="0"/>
              </a:rPr>
              <a:t>Need for Adaptive Learning:</a:t>
            </a:r>
            <a:r>
              <a:rPr lang="en-US" sz="1900" dirty="0">
                <a:latin typeface="Century Gothic" panose="020B0502020202020204" pitchFamily="34" charset="0"/>
              </a:rPr>
              <a:t> Gamification, simulations, and personalized feedback are underutilized but promising </a:t>
            </a:r>
            <a:r>
              <a:rPr lang="en-US" sz="1900" dirty="0">
                <a:solidFill>
                  <a:srgbClr val="C00000"/>
                </a:solidFill>
                <a:latin typeface="Century Gothic" panose="020B0502020202020204" pitchFamily="34" charset="0"/>
              </a:rPr>
              <a:t>(</a:t>
            </a:r>
            <a:r>
              <a:rPr lang="en-US" sz="1900" dirty="0" err="1">
                <a:solidFill>
                  <a:srgbClr val="C00000"/>
                </a:solidFill>
                <a:latin typeface="Century Gothic" panose="020B0502020202020204" pitchFamily="34" charset="0"/>
              </a:rPr>
              <a:t>Taherdoost</a:t>
            </a:r>
            <a:r>
              <a:rPr lang="en-US" sz="1900" dirty="0">
                <a:solidFill>
                  <a:srgbClr val="C00000"/>
                </a:solidFill>
                <a:latin typeface="Century Gothic" panose="020B0502020202020204" pitchFamily="34" charset="0"/>
              </a:rPr>
              <a:t>, 2024; </a:t>
            </a:r>
            <a:r>
              <a:rPr lang="en-US" sz="1900" dirty="0" err="1">
                <a:solidFill>
                  <a:srgbClr val="C00000"/>
                </a:solidFill>
                <a:latin typeface="Century Gothic" panose="020B0502020202020204" pitchFamily="34" charset="0"/>
              </a:rPr>
              <a:t>Prümmer</a:t>
            </a:r>
            <a:r>
              <a:rPr lang="en-US" sz="1900" dirty="0">
                <a:solidFill>
                  <a:srgbClr val="C00000"/>
                </a:solidFill>
                <a:latin typeface="Century Gothic" panose="020B0502020202020204" pitchFamily="34" charset="0"/>
              </a:rPr>
              <a:t> et al., 2024).</a:t>
            </a:r>
          </a:p>
          <a:p>
            <a:pPr lvl="1"/>
            <a:r>
              <a:rPr lang="en-US" sz="1900" b="1" dirty="0">
                <a:latin typeface="Century Gothic" panose="020B0502020202020204" pitchFamily="34" charset="0"/>
              </a:rPr>
              <a:t>Leadership Integration Gap:</a:t>
            </a:r>
            <a:r>
              <a:rPr lang="en-US" sz="1900" dirty="0">
                <a:latin typeface="Century Gothic" panose="020B0502020202020204" pitchFamily="34" charset="0"/>
              </a:rPr>
              <a:t> Despite its importance, leadership involvement in cybersecurity education remains underexplored </a:t>
            </a:r>
            <a:r>
              <a:rPr lang="en-US" sz="1900" dirty="0">
                <a:solidFill>
                  <a:srgbClr val="C00000"/>
                </a:solidFill>
                <a:latin typeface="Century Gothic" panose="020B0502020202020204" pitchFamily="34" charset="0"/>
              </a:rPr>
              <a:t>(Shaw, 2024; Simmons &amp; Sundaresan, 2024)</a:t>
            </a:r>
            <a:r>
              <a:rPr lang="en-US" sz="1900" dirty="0">
                <a:latin typeface="Century Gothic" panose="020B0502020202020204" pitchFamily="34" charset="0"/>
              </a:rPr>
              <a:t>.</a:t>
            </a:r>
          </a:p>
          <a:p>
            <a:r>
              <a:rPr lang="en-US" sz="2200" b="1" dirty="0">
                <a:latin typeface="Century Gothic" panose="020B0502020202020204" pitchFamily="34" charset="0"/>
              </a:rPr>
              <a:t>Scholarly Framing:</a:t>
            </a:r>
            <a:endParaRPr lang="en-US" sz="2200" dirty="0">
              <a:latin typeface="Century Gothic" panose="020B0502020202020204" pitchFamily="34" charset="0"/>
            </a:endParaRPr>
          </a:p>
          <a:p>
            <a:pPr marL="400050" lvl="1" indent="0">
              <a:buNone/>
            </a:pPr>
            <a:r>
              <a:rPr lang="en-US" sz="1900" dirty="0">
                <a:latin typeface="Century Gothic" panose="020B0502020202020204" pitchFamily="34" charset="0"/>
              </a:rPr>
              <a:t>“The literature reveals a critical gap in adaptive, leadership-driven cybersecurity education frameworks tailored to SMEs’ unique constraints.” — </a:t>
            </a:r>
            <a:r>
              <a:rPr lang="en-US" sz="1900" dirty="0">
                <a:solidFill>
                  <a:srgbClr val="C00000"/>
                </a:solidFill>
                <a:latin typeface="Century Gothic" panose="020B0502020202020204" pitchFamily="34" charset="0"/>
              </a:rPr>
              <a:t>Abrahams et al. (2024).</a:t>
            </a:r>
          </a:p>
          <a:p>
            <a:endParaRPr lang="en-US" dirty="0"/>
          </a:p>
        </p:txBody>
      </p:sp>
      <p:sp>
        <p:nvSpPr>
          <p:cNvPr id="4" name="Slide Number Placeholder 3">
            <a:extLst>
              <a:ext uri="{FF2B5EF4-FFF2-40B4-BE49-F238E27FC236}">
                <a16:creationId xmlns:a16="http://schemas.microsoft.com/office/drawing/2014/main" id="{4DFA544A-C673-25C1-7DA0-8F5CD2F6A6A3}"/>
              </a:ext>
            </a:extLst>
          </p:cNvPr>
          <p:cNvSpPr>
            <a:spLocks noGrp="1"/>
          </p:cNvSpPr>
          <p:nvPr>
            <p:ph type="sldNum" sz="quarter" idx="12"/>
          </p:nvPr>
        </p:nvSpPr>
        <p:spPr/>
        <p:txBody>
          <a:bodyPr/>
          <a:lstStyle/>
          <a:p>
            <a:fld id="{BA0420FF-E5B6-6E40-B042-B5CA0D8A2F91}" type="slidenum">
              <a:rPr lang="en-US" smtClean="0"/>
              <a:t>9</a:t>
            </a:fld>
            <a:endParaRPr lang="en-US"/>
          </a:p>
        </p:txBody>
      </p:sp>
    </p:spTree>
    <p:extLst>
      <p:ext uri="{BB962C8B-B14F-4D97-AF65-F5344CB8AC3E}">
        <p14:creationId xmlns:p14="http://schemas.microsoft.com/office/powerpoint/2010/main" val="2047680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5A6D2-4003-91D2-CBA2-B6A279452D4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6406679-538D-6174-9448-35338BC45353}"/>
              </a:ext>
            </a:extLst>
          </p:cNvPr>
          <p:cNvSpPr>
            <a:spLocks noGrp="1"/>
          </p:cNvSpPr>
          <p:nvPr>
            <p:ph type="title"/>
          </p:nvPr>
        </p:nvSpPr>
        <p:spPr>
          <a:xfrm>
            <a:off x="576071" y="457200"/>
            <a:ext cx="4603941" cy="722376"/>
          </a:xfrm>
        </p:spPr>
        <p:txBody>
          <a:bodyPr anchor="b">
            <a:normAutofit fontScale="90000"/>
          </a:bodyPr>
          <a:lstStyle/>
          <a:p>
            <a:r>
              <a:rPr lang="en-US" sz="3600" b="1" dirty="0">
                <a:latin typeface="Century Gothic" panose="020B0502020202020204" pitchFamily="34" charset="0"/>
              </a:rPr>
              <a:t>Research Framework</a:t>
            </a:r>
          </a:p>
        </p:txBody>
      </p:sp>
      <p:pic>
        <p:nvPicPr>
          <p:cNvPr id="3" name="Content Placeholder 2" descr="A diagram of a basic step&#10;&#10;AI-generated content may be incorrect.">
            <a:extLst>
              <a:ext uri="{FF2B5EF4-FFF2-40B4-BE49-F238E27FC236}">
                <a16:creationId xmlns:a16="http://schemas.microsoft.com/office/drawing/2014/main" id="{6B7FEDC8-6DCE-1BC8-4532-403B7016AD7D}"/>
              </a:ext>
            </a:extLst>
          </p:cNvPr>
          <p:cNvPicPr>
            <a:picLocks noGrp="1" noChangeAspect="1"/>
          </p:cNvPicPr>
          <p:nvPr>
            <p:ph idx="1"/>
          </p:nvPr>
        </p:nvPicPr>
        <p:blipFill>
          <a:blip r:embed="rId3"/>
          <a:stretch>
            <a:fillRect/>
          </a:stretch>
        </p:blipFill>
        <p:spPr>
          <a:xfrm>
            <a:off x="5180012" y="1405420"/>
            <a:ext cx="6172200" cy="3398520"/>
          </a:xfrm>
          <a:noFill/>
          <a:ln w="38100">
            <a:solidFill>
              <a:srgbClr val="7030A0"/>
            </a:solidFill>
          </a:ln>
        </p:spPr>
      </p:pic>
      <p:sp>
        <p:nvSpPr>
          <p:cNvPr id="8" name="Content Placeholder 7">
            <a:extLst>
              <a:ext uri="{FF2B5EF4-FFF2-40B4-BE49-F238E27FC236}">
                <a16:creationId xmlns:a16="http://schemas.microsoft.com/office/drawing/2014/main" id="{2E3E7E6F-58AA-E34C-CB50-8E5FEBDB3CE0}"/>
              </a:ext>
            </a:extLst>
          </p:cNvPr>
          <p:cNvSpPr>
            <a:spLocks noGrp="1"/>
          </p:cNvSpPr>
          <p:nvPr>
            <p:ph type="body" sz="half" idx="2"/>
          </p:nvPr>
        </p:nvSpPr>
        <p:spPr>
          <a:xfrm>
            <a:off x="576072" y="1298448"/>
            <a:ext cx="4434840" cy="5199334"/>
          </a:xfrm>
        </p:spPr>
        <p:txBody>
          <a:bodyPr>
            <a:normAutofit fontScale="92500" lnSpcReduction="20000"/>
          </a:bodyPr>
          <a:lstStyle/>
          <a:p>
            <a:pPr marL="0" indent="0">
              <a:buNone/>
            </a:pPr>
            <a:r>
              <a:rPr lang="en-US" sz="2200" b="1" i="1" dirty="0">
                <a:solidFill>
                  <a:srgbClr val="C00000"/>
                </a:solidFill>
                <a:latin typeface="Century Gothic" panose="020B0502020202020204" pitchFamily="34" charset="0"/>
              </a:rPr>
              <a:t>Integrated TOE and TAM Framework</a:t>
            </a:r>
          </a:p>
          <a:p>
            <a:pPr marL="285750" indent="-285750">
              <a:buFont typeface="Arial" panose="020B0604020202020204" pitchFamily="34" charset="0"/>
              <a:buChar char="•"/>
            </a:pPr>
            <a:r>
              <a:rPr lang="en-US" sz="1700" dirty="0">
                <a:latin typeface="Century Gothic" panose="020B0502020202020204" pitchFamily="34" charset="0"/>
              </a:rPr>
              <a:t>Combines the Technology Acceptance Model (TAM) and the Technology-Organization-Environment (TOE)</a:t>
            </a:r>
          </a:p>
          <a:p>
            <a:pPr marL="285750" indent="-285750">
              <a:buFont typeface="Arial" panose="020B0604020202020204" pitchFamily="34" charset="0"/>
              <a:buChar char="•"/>
            </a:pPr>
            <a:r>
              <a:rPr lang="en-US" sz="1700" dirty="0">
                <a:latin typeface="Century Gothic" panose="020B0502020202020204" pitchFamily="34" charset="0"/>
              </a:rPr>
              <a:t>Addresses </a:t>
            </a:r>
            <a:r>
              <a:rPr lang="en-US" sz="1700" i="1" dirty="0">
                <a:latin typeface="Century Gothic" panose="020B0502020202020204" pitchFamily="34" charset="0"/>
              </a:rPr>
              <a:t>two core SME challenges</a:t>
            </a:r>
            <a:r>
              <a:rPr lang="en-US" sz="1700" dirty="0">
                <a:latin typeface="Century Gothic" panose="020B0502020202020204" pitchFamily="34" charset="0"/>
              </a:rPr>
              <a:t>:</a:t>
            </a:r>
          </a:p>
          <a:p>
            <a:pPr marL="742950" lvl="1" indent="-285750">
              <a:buFont typeface="Wingdings" pitchFamily="2" charset="2"/>
              <a:buChar char="ü"/>
            </a:pPr>
            <a:r>
              <a:rPr lang="en-US" sz="1700" dirty="0">
                <a:latin typeface="Century Gothic" panose="020B0502020202020204" pitchFamily="34" charset="0"/>
              </a:rPr>
              <a:t>Lack of cybersecurity awareness</a:t>
            </a:r>
          </a:p>
          <a:p>
            <a:pPr marL="742950" lvl="1" indent="-285750">
              <a:buFont typeface="Wingdings" pitchFamily="2" charset="2"/>
              <a:buChar char="ü"/>
            </a:pPr>
            <a:r>
              <a:rPr lang="en-US" sz="1700" dirty="0">
                <a:latin typeface="Century Gothic" panose="020B0502020202020204" pitchFamily="34" charset="0"/>
              </a:rPr>
              <a:t>Limited resources</a:t>
            </a:r>
          </a:p>
          <a:p>
            <a:pPr marL="285750" indent="-285750">
              <a:buFont typeface="Arial" panose="020B0604020202020204" pitchFamily="34" charset="0"/>
              <a:buChar char="•"/>
            </a:pPr>
            <a:r>
              <a:rPr lang="en-US" sz="1700" b="1" dirty="0">
                <a:latin typeface="Century Gothic" panose="020B0502020202020204" pitchFamily="34" charset="0"/>
              </a:rPr>
              <a:t>Rationale</a:t>
            </a:r>
          </a:p>
          <a:p>
            <a:pPr marL="742950" lvl="1" indent="-285750">
              <a:buFont typeface="Wingdings" pitchFamily="2" charset="2"/>
              <a:buChar char="ü"/>
            </a:pPr>
            <a:r>
              <a:rPr lang="en-US" sz="1700" dirty="0">
                <a:latin typeface="Century Gothic" panose="020B0502020202020204" pitchFamily="34" charset="0"/>
              </a:rPr>
              <a:t>TAM explains </a:t>
            </a:r>
            <a:r>
              <a:rPr lang="en-US" sz="1700" b="1" dirty="0">
                <a:latin typeface="Century Gothic" panose="020B0502020202020204" pitchFamily="34" charset="0"/>
              </a:rPr>
              <a:t>individual adoption behavior</a:t>
            </a:r>
            <a:endParaRPr lang="en-US" sz="1700" dirty="0">
              <a:latin typeface="Century Gothic" panose="020B0502020202020204" pitchFamily="34" charset="0"/>
            </a:endParaRPr>
          </a:p>
          <a:p>
            <a:pPr marL="742950" lvl="1" indent="-285750">
              <a:buFont typeface="Wingdings" pitchFamily="2" charset="2"/>
              <a:buChar char="ü"/>
            </a:pPr>
            <a:r>
              <a:rPr lang="en-US" sz="1700" dirty="0">
                <a:latin typeface="Century Gothic" panose="020B0502020202020204" pitchFamily="34" charset="0"/>
              </a:rPr>
              <a:t>TOE examines </a:t>
            </a:r>
            <a:r>
              <a:rPr lang="en-US" sz="1700" b="1" dirty="0">
                <a:latin typeface="Century Gothic" panose="020B0502020202020204" pitchFamily="34" charset="0"/>
              </a:rPr>
              <a:t>organizational and environmental influences</a:t>
            </a:r>
            <a:endParaRPr lang="en-US" sz="1700" dirty="0">
              <a:latin typeface="Century Gothic" panose="020B0502020202020204" pitchFamily="34" charset="0"/>
            </a:endParaRPr>
          </a:p>
          <a:p>
            <a:pPr marL="742950" lvl="1" indent="-285750">
              <a:buFont typeface="Wingdings" pitchFamily="2" charset="2"/>
              <a:buChar char="ü"/>
            </a:pPr>
            <a:r>
              <a:rPr lang="en-US" sz="1700" dirty="0">
                <a:latin typeface="Century Gothic" panose="020B0502020202020204" pitchFamily="34" charset="0"/>
              </a:rPr>
              <a:t>Together → holistic view of cybersecurity adoption in SMEs</a:t>
            </a:r>
          </a:p>
          <a:p>
            <a:pPr marL="285750" indent="-285750">
              <a:buFont typeface="Arial" panose="020B0604020202020204" pitchFamily="34" charset="0"/>
              <a:buChar char="•"/>
            </a:pPr>
            <a:r>
              <a:rPr lang="en-US" sz="1700" b="1" dirty="0">
                <a:latin typeface="Century Gothic" panose="020B0502020202020204" pitchFamily="34" charset="0"/>
              </a:rPr>
              <a:t>Expected Outcomes</a:t>
            </a:r>
            <a:endParaRPr lang="en-US" sz="1700" dirty="0">
              <a:latin typeface="Century Gothic" panose="020B0502020202020204" pitchFamily="34" charset="0"/>
            </a:endParaRPr>
          </a:p>
          <a:p>
            <a:pPr marL="742950" lvl="1" indent="-285750">
              <a:buFont typeface="Wingdings" pitchFamily="2" charset="2"/>
              <a:buChar char="ü"/>
            </a:pPr>
            <a:r>
              <a:rPr lang="en-US" sz="1700" dirty="0">
                <a:latin typeface="Century Gothic" panose="020B0502020202020204" pitchFamily="34" charset="0"/>
              </a:rPr>
              <a:t>Clearer understanding of cybersecurity phenomena in SMEs</a:t>
            </a:r>
          </a:p>
          <a:p>
            <a:pPr marL="742950" lvl="1" indent="-285750">
              <a:buFont typeface="Wingdings" pitchFamily="2" charset="2"/>
              <a:buChar char="ü"/>
            </a:pPr>
            <a:r>
              <a:rPr lang="en-US" sz="1700" dirty="0">
                <a:latin typeface="Century Gothic" panose="020B0502020202020204" pitchFamily="34" charset="0"/>
              </a:rPr>
              <a:t>Predictive insights for strategic decision-making</a:t>
            </a:r>
          </a:p>
          <a:p>
            <a:pPr marL="742950" lvl="1" indent="-285750">
              <a:buFont typeface="Wingdings" pitchFamily="2" charset="2"/>
              <a:buChar char="ü"/>
            </a:pPr>
            <a:r>
              <a:rPr lang="en-US" sz="1700" dirty="0">
                <a:latin typeface="Century Gothic" panose="020B0502020202020204" pitchFamily="34" charset="0"/>
              </a:rPr>
              <a:t>Actionable strategies to reduce cyber risks effectively</a:t>
            </a:r>
          </a:p>
          <a:p>
            <a:endParaRPr lang="en-US" sz="1200" dirty="0"/>
          </a:p>
        </p:txBody>
      </p:sp>
      <p:sp>
        <p:nvSpPr>
          <p:cNvPr id="4" name="TextBox 3">
            <a:extLst>
              <a:ext uri="{FF2B5EF4-FFF2-40B4-BE49-F238E27FC236}">
                <a16:creationId xmlns:a16="http://schemas.microsoft.com/office/drawing/2014/main" id="{F2930820-E8D7-D58C-61D0-4B0190F271D5}"/>
              </a:ext>
            </a:extLst>
          </p:cNvPr>
          <p:cNvSpPr txBox="1"/>
          <p:nvPr/>
        </p:nvSpPr>
        <p:spPr>
          <a:xfrm>
            <a:off x="5180012" y="4852416"/>
            <a:ext cx="6240844" cy="830997"/>
          </a:xfrm>
          <a:prstGeom prst="rect">
            <a:avLst/>
          </a:prstGeom>
          <a:noFill/>
        </p:spPr>
        <p:txBody>
          <a:bodyPr wrap="square" rtlCol="0">
            <a:spAutoFit/>
          </a:bodyPr>
          <a:lstStyle/>
          <a:p>
            <a:pPr algn="ctr"/>
            <a:r>
              <a:rPr lang="en-US" sz="1200" i="1" dirty="0">
                <a:latin typeface="Century Gothic" panose="020B0502020202020204" pitchFamily="34" charset="0"/>
              </a:rPr>
              <a:t>Figure 1. Integrated TAM-TOE Framework</a:t>
            </a:r>
          </a:p>
          <a:p>
            <a:pPr algn="ctr"/>
            <a:r>
              <a:rPr lang="en-US" sz="1200" i="1" dirty="0">
                <a:latin typeface="Century Gothic" panose="020B0502020202020204" pitchFamily="34" charset="0"/>
              </a:rPr>
              <a:t>Source: </a:t>
            </a:r>
            <a:r>
              <a:rPr lang="en-US" sz="1200" i="1" dirty="0" err="1">
                <a:latin typeface="Century Gothic" panose="020B0502020202020204" pitchFamily="34" charset="0"/>
              </a:rPr>
              <a:t>Gangwar</a:t>
            </a:r>
            <a:r>
              <a:rPr lang="en-US" sz="1200" i="1" dirty="0">
                <a:latin typeface="Century Gothic" panose="020B0502020202020204" pitchFamily="34" charset="0"/>
              </a:rPr>
              <a:t>, H., Date, H., &amp; Ramaswamy, R. (2015). Understanding determinants of cloud computing adoption using an integrated TAM-TOE model. J. Enterp. Inf. Manag., 28, 107-130.</a:t>
            </a:r>
          </a:p>
        </p:txBody>
      </p:sp>
      <p:sp>
        <p:nvSpPr>
          <p:cNvPr id="2" name="Slide Number Placeholder 1">
            <a:extLst>
              <a:ext uri="{FF2B5EF4-FFF2-40B4-BE49-F238E27FC236}">
                <a16:creationId xmlns:a16="http://schemas.microsoft.com/office/drawing/2014/main" id="{35371E7D-F8AF-D1D5-C66D-D96B4822F2B5}"/>
              </a:ext>
            </a:extLst>
          </p:cNvPr>
          <p:cNvSpPr>
            <a:spLocks noGrp="1"/>
          </p:cNvSpPr>
          <p:nvPr>
            <p:ph type="sldNum" sz="quarter" idx="12"/>
          </p:nvPr>
        </p:nvSpPr>
        <p:spPr/>
        <p:txBody>
          <a:bodyPr/>
          <a:lstStyle/>
          <a:p>
            <a:fld id="{BA0420FF-E5B6-6E40-B042-B5CA0D8A2F91}" type="slidenum">
              <a:rPr lang="en-US" smtClean="0"/>
              <a:t>10</a:t>
            </a:fld>
            <a:endParaRPr lang="en-US"/>
          </a:p>
        </p:txBody>
      </p:sp>
    </p:spTree>
    <p:extLst>
      <p:ext uri="{BB962C8B-B14F-4D97-AF65-F5344CB8AC3E}">
        <p14:creationId xmlns:p14="http://schemas.microsoft.com/office/powerpoint/2010/main" val="496840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48F5-434D-8EFC-23EB-F41487E26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1CB3A-48D3-0381-99EF-4171F5AA893B}"/>
              </a:ext>
            </a:extLst>
          </p:cNvPr>
          <p:cNvSpPr>
            <a:spLocks noGrp="1"/>
          </p:cNvSpPr>
          <p:nvPr>
            <p:ph type="title"/>
          </p:nvPr>
        </p:nvSpPr>
        <p:spPr>
          <a:xfrm>
            <a:off x="838200" y="849674"/>
            <a:ext cx="10515600" cy="841014"/>
          </a:xfrm>
        </p:spPr>
        <p:txBody>
          <a:bodyPr anchor="ctr">
            <a:normAutofit fontScale="90000"/>
          </a:bodyPr>
          <a:lstStyle/>
          <a:p>
            <a:r>
              <a:rPr lang="en-US" b="1" dirty="0">
                <a:latin typeface="Century Gothic" panose="020B0502020202020204" pitchFamily="34" charset="0"/>
              </a:rPr>
              <a:t>Assumptions, Limitations and Delimitations</a:t>
            </a:r>
          </a:p>
        </p:txBody>
      </p:sp>
      <p:graphicFrame>
        <p:nvGraphicFramePr>
          <p:cNvPr id="7" name="Content Placeholder 4">
            <a:extLst>
              <a:ext uri="{FF2B5EF4-FFF2-40B4-BE49-F238E27FC236}">
                <a16:creationId xmlns:a16="http://schemas.microsoft.com/office/drawing/2014/main" id="{4E484DAA-E9C6-3F36-9524-3AADF50A859D}"/>
              </a:ext>
            </a:extLst>
          </p:cNvPr>
          <p:cNvGraphicFramePr>
            <a:graphicFrameLocks noGrp="1"/>
          </p:cNvGraphicFramePr>
          <p:nvPr>
            <p:ph idx="1"/>
            <p:extLst>
              <p:ext uri="{D42A27DB-BD31-4B8C-83A1-F6EECF244321}">
                <p14:modId xmlns:p14="http://schemas.microsoft.com/office/powerpoint/2010/main" val="331325837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4A635C49-DB69-7AC4-31D6-0F9A262A91D8}"/>
              </a:ext>
            </a:extLst>
          </p:cNvPr>
          <p:cNvSpPr>
            <a:spLocks noGrp="1"/>
          </p:cNvSpPr>
          <p:nvPr>
            <p:ph type="sldNum" sz="quarter" idx="12"/>
          </p:nvPr>
        </p:nvSpPr>
        <p:spPr/>
        <p:txBody>
          <a:bodyPr/>
          <a:lstStyle/>
          <a:p>
            <a:fld id="{BA0420FF-E5B6-6E40-B042-B5CA0D8A2F91}" type="slidenum">
              <a:rPr lang="en-US" smtClean="0"/>
              <a:t>11</a:t>
            </a:fld>
            <a:endParaRPr lang="en-US"/>
          </a:p>
        </p:txBody>
      </p:sp>
    </p:spTree>
    <p:extLst>
      <p:ext uri="{BB962C8B-B14F-4D97-AF65-F5344CB8AC3E}">
        <p14:creationId xmlns:p14="http://schemas.microsoft.com/office/powerpoint/2010/main" val="4274290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EC113-179A-4EA4-9B9E-0EA9B7306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75655-8F21-181E-0792-062290661D72}"/>
              </a:ext>
            </a:extLst>
          </p:cNvPr>
          <p:cNvSpPr>
            <a:spLocks noGrp="1"/>
          </p:cNvSpPr>
          <p:nvPr>
            <p:ph type="title"/>
          </p:nvPr>
        </p:nvSpPr>
        <p:spPr>
          <a:xfrm>
            <a:off x="838200" y="697274"/>
            <a:ext cx="10515600" cy="841014"/>
          </a:xfrm>
        </p:spPr>
        <p:txBody>
          <a:bodyPr>
            <a:normAutofit/>
          </a:bodyPr>
          <a:lstStyle/>
          <a:p>
            <a:pPr>
              <a:lnSpc>
                <a:spcPct val="100000"/>
              </a:lnSpc>
            </a:pPr>
            <a:r>
              <a:rPr lang="en-US" sz="4000" b="1" dirty="0">
                <a:latin typeface="Century Gothic" panose="020B0502020202020204" pitchFamily="34" charset="0"/>
                <a:ea typeface="Segoe UI" panose="020B0502040204020203" pitchFamily="34" charset="0"/>
                <a:cs typeface="Segoe UI" panose="020B0502040204020203" pitchFamily="34" charset="0"/>
              </a:rPr>
              <a:t>Research Methodology (1)</a:t>
            </a:r>
          </a:p>
        </p:txBody>
      </p:sp>
      <p:sp>
        <p:nvSpPr>
          <p:cNvPr id="6" name="Content Placeholder 5">
            <a:extLst>
              <a:ext uri="{FF2B5EF4-FFF2-40B4-BE49-F238E27FC236}">
                <a16:creationId xmlns:a16="http://schemas.microsoft.com/office/drawing/2014/main" id="{B35D228F-7ABA-53DA-4144-1C3BA2D0A5A3}"/>
              </a:ext>
            </a:extLst>
          </p:cNvPr>
          <p:cNvSpPr>
            <a:spLocks noGrp="1"/>
          </p:cNvSpPr>
          <p:nvPr>
            <p:ph idx="1"/>
          </p:nvPr>
        </p:nvSpPr>
        <p:spPr>
          <a:xfrm>
            <a:off x="838200" y="1538288"/>
            <a:ext cx="10515600" cy="4837111"/>
          </a:xfrm>
        </p:spPr>
        <p:txBody>
          <a:bodyPr>
            <a:normAutofit lnSpcReduction="10000"/>
          </a:bodyPr>
          <a:lstStyle/>
          <a:p>
            <a:pPr marL="0" indent="0">
              <a:buNone/>
            </a:pPr>
            <a:r>
              <a:rPr lang="en-US" b="1" dirty="0">
                <a:latin typeface="Century Gothic" panose="020B0502020202020204" pitchFamily="34" charset="0"/>
              </a:rPr>
              <a:t>Qualitative Approach</a:t>
            </a:r>
            <a:endParaRPr lang="en-US" dirty="0">
              <a:latin typeface="Century Gothic" panose="020B0502020202020204" pitchFamily="34" charset="0"/>
            </a:endParaRPr>
          </a:p>
          <a:p>
            <a:pPr lvl="1">
              <a:buFont typeface="Wingdings" pitchFamily="2" charset="2"/>
              <a:buChar char="ü"/>
            </a:pPr>
            <a:r>
              <a:rPr lang="en-US" dirty="0">
                <a:latin typeface="Century Gothic" panose="020B0502020202020204" pitchFamily="34" charset="0"/>
              </a:rPr>
              <a:t>Qualitative methods provide deep insights into organizational behaviors and security practices (Goldberg &amp; Allen, 2015).</a:t>
            </a:r>
          </a:p>
          <a:p>
            <a:pPr lvl="1">
              <a:buFont typeface="Wingdings" pitchFamily="2" charset="2"/>
              <a:buChar char="ü"/>
            </a:pPr>
            <a:r>
              <a:rPr lang="en-US" dirty="0">
                <a:latin typeface="Century Gothic" panose="020B0502020202020204" pitchFamily="34" charset="0"/>
              </a:rPr>
              <a:t>Case study of an SME’s cybersecurity posture to uncover vulnerabilities, risk perceptions, and mitigation strategies.</a:t>
            </a:r>
          </a:p>
          <a:p>
            <a:pPr lvl="1">
              <a:buFont typeface="Wingdings" pitchFamily="2" charset="2"/>
              <a:buChar char="ü"/>
            </a:pPr>
            <a:r>
              <a:rPr lang="en-US" dirty="0">
                <a:latin typeface="Century Gothic" panose="020B0502020202020204" pitchFamily="34" charset="0"/>
              </a:rPr>
              <a:t>Focus on the complex interaction of technology, human, and organizational factors.</a:t>
            </a:r>
          </a:p>
          <a:p>
            <a:pPr marL="0" indent="0">
              <a:buNone/>
            </a:pPr>
            <a:r>
              <a:rPr lang="en-US" b="1" dirty="0">
                <a:latin typeface="Century Gothic" panose="020B0502020202020204" pitchFamily="34" charset="0"/>
              </a:rPr>
              <a:t>Purposive Sampling</a:t>
            </a:r>
            <a:endParaRPr lang="en-US" dirty="0">
              <a:latin typeface="Century Gothic" panose="020B0502020202020204" pitchFamily="34" charset="0"/>
            </a:endParaRPr>
          </a:p>
          <a:p>
            <a:pPr lvl="1">
              <a:buFont typeface="Wingdings" pitchFamily="2" charset="2"/>
              <a:buChar char="ü"/>
            </a:pPr>
            <a:r>
              <a:rPr lang="en-US" dirty="0">
                <a:latin typeface="Century Gothic" panose="020B0502020202020204" pitchFamily="34" charset="0"/>
              </a:rPr>
              <a:t>Targets key stakeholders: IT personnel, executives, frontline employees.</a:t>
            </a:r>
          </a:p>
          <a:p>
            <a:pPr lvl="1">
              <a:buFont typeface="Wingdings" pitchFamily="2" charset="2"/>
              <a:buChar char="ü"/>
            </a:pPr>
            <a:r>
              <a:rPr lang="en-US" dirty="0">
                <a:latin typeface="Century Gothic" panose="020B0502020202020204" pitchFamily="34" charset="0"/>
              </a:rPr>
              <a:t>Ensures perspectives from those directly involved in cybersecurity decision-making.</a:t>
            </a:r>
          </a:p>
          <a:p>
            <a:pPr lvl="1">
              <a:buFont typeface="Wingdings" pitchFamily="2" charset="2"/>
              <a:buChar char="ü"/>
            </a:pPr>
            <a:r>
              <a:rPr lang="en-US" dirty="0">
                <a:latin typeface="Century Gothic" panose="020B0502020202020204" pitchFamily="34" charset="0"/>
              </a:rPr>
              <a:t>Facilitates rich, multi-dimensional understanding of cybersecurity strategies.</a:t>
            </a:r>
          </a:p>
          <a:p>
            <a:pPr marL="0" indent="0">
              <a:buNone/>
            </a:pPr>
            <a:endParaRPr lang="en-US" dirty="0"/>
          </a:p>
          <a:p>
            <a:pPr marL="0" indent="0">
              <a:buNone/>
            </a:pPr>
            <a:endParaRPr lang="en-US" dirty="0"/>
          </a:p>
        </p:txBody>
      </p:sp>
      <p:sp>
        <p:nvSpPr>
          <p:cNvPr id="3" name="Slide Number Placeholder 2">
            <a:extLst>
              <a:ext uri="{FF2B5EF4-FFF2-40B4-BE49-F238E27FC236}">
                <a16:creationId xmlns:a16="http://schemas.microsoft.com/office/drawing/2014/main" id="{E5238504-AE15-A2B7-B8AF-19C774AB3DA0}"/>
              </a:ext>
            </a:extLst>
          </p:cNvPr>
          <p:cNvSpPr>
            <a:spLocks noGrp="1"/>
          </p:cNvSpPr>
          <p:nvPr>
            <p:ph type="sldNum" sz="quarter" idx="12"/>
          </p:nvPr>
        </p:nvSpPr>
        <p:spPr/>
        <p:txBody>
          <a:bodyPr/>
          <a:lstStyle/>
          <a:p>
            <a:fld id="{BA0420FF-E5B6-6E40-B042-B5CA0D8A2F91}" type="slidenum">
              <a:rPr lang="en-US" smtClean="0"/>
              <a:t>12</a:t>
            </a:fld>
            <a:endParaRPr lang="en-US"/>
          </a:p>
        </p:txBody>
      </p:sp>
    </p:spTree>
    <p:extLst>
      <p:ext uri="{BB962C8B-B14F-4D97-AF65-F5344CB8AC3E}">
        <p14:creationId xmlns:p14="http://schemas.microsoft.com/office/powerpoint/2010/main" val="3958165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9B73-9F0E-F1DA-762C-BE3CB3FA4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C8E774-CD4F-CF62-3D6F-5F8940793B3D}"/>
              </a:ext>
            </a:extLst>
          </p:cNvPr>
          <p:cNvSpPr>
            <a:spLocks noGrp="1"/>
          </p:cNvSpPr>
          <p:nvPr>
            <p:ph type="title"/>
          </p:nvPr>
        </p:nvSpPr>
        <p:spPr>
          <a:xfrm>
            <a:off x="838200" y="681037"/>
            <a:ext cx="10515600" cy="841014"/>
          </a:xfrm>
        </p:spPr>
        <p:txBody>
          <a:bodyPr>
            <a:normAutofit/>
          </a:bodyPr>
          <a:lstStyle/>
          <a:p>
            <a:pPr>
              <a:lnSpc>
                <a:spcPct val="100000"/>
              </a:lnSpc>
            </a:pPr>
            <a:r>
              <a:rPr lang="en-US" sz="4000" b="1" dirty="0">
                <a:latin typeface="Century Gothic" panose="020B0502020202020204" pitchFamily="34" charset="0"/>
                <a:ea typeface="Segoe UI" panose="020B0502040204020203" pitchFamily="34" charset="0"/>
                <a:cs typeface="Segoe UI" panose="020B0502040204020203" pitchFamily="34" charset="0"/>
              </a:rPr>
              <a:t>Research Methodology (2)</a:t>
            </a:r>
          </a:p>
        </p:txBody>
      </p:sp>
      <p:sp>
        <p:nvSpPr>
          <p:cNvPr id="6" name="Content Placeholder 5">
            <a:extLst>
              <a:ext uri="{FF2B5EF4-FFF2-40B4-BE49-F238E27FC236}">
                <a16:creationId xmlns:a16="http://schemas.microsoft.com/office/drawing/2014/main" id="{EE630096-CFEF-FCB7-D287-F3B42CCDDFB8}"/>
              </a:ext>
            </a:extLst>
          </p:cNvPr>
          <p:cNvSpPr>
            <a:spLocks noGrp="1"/>
          </p:cNvSpPr>
          <p:nvPr>
            <p:ph idx="1"/>
          </p:nvPr>
        </p:nvSpPr>
        <p:spPr>
          <a:xfrm>
            <a:off x="838200" y="1422400"/>
            <a:ext cx="10515600" cy="4754563"/>
          </a:xfrm>
        </p:spPr>
        <p:txBody>
          <a:bodyPr>
            <a:normAutofit fontScale="92500"/>
          </a:bodyPr>
          <a:lstStyle/>
          <a:p>
            <a:pPr marL="0" indent="0">
              <a:buNone/>
            </a:pPr>
            <a:r>
              <a:rPr lang="en-US" b="1" dirty="0">
                <a:latin typeface="Century Gothic" panose="020B0502020202020204" pitchFamily="34" charset="0"/>
              </a:rPr>
              <a:t>Mixed-Methods Data Collection</a:t>
            </a:r>
            <a:endParaRPr lang="en-US" dirty="0">
              <a:latin typeface="Century Gothic" panose="020B0502020202020204" pitchFamily="34" charset="0"/>
            </a:endParaRPr>
          </a:p>
          <a:p>
            <a:pPr lvl="1">
              <a:buFont typeface="Wingdings" pitchFamily="2" charset="2"/>
              <a:buChar char="ü"/>
            </a:pPr>
            <a:r>
              <a:rPr lang="en-US" dirty="0">
                <a:latin typeface="Century Gothic" panose="020B0502020202020204" pitchFamily="34" charset="0"/>
              </a:rPr>
              <a:t>Combines semi-structured interviews, online surveys, and document analysis.</a:t>
            </a:r>
          </a:p>
          <a:p>
            <a:pPr lvl="1">
              <a:buFont typeface="Wingdings" pitchFamily="2" charset="2"/>
              <a:buChar char="ü"/>
            </a:pPr>
            <a:r>
              <a:rPr lang="en-US" dirty="0">
                <a:latin typeface="Century Gothic" panose="020B0502020202020204" pitchFamily="34" charset="0"/>
              </a:rPr>
              <a:t>Aligns with best practices in cybersecurity research (Yin, 2018).</a:t>
            </a:r>
          </a:p>
          <a:p>
            <a:pPr lvl="1">
              <a:buFont typeface="Wingdings" pitchFamily="2" charset="2"/>
              <a:buChar char="ü"/>
            </a:pPr>
            <a:r>
              <a:rPr lang="en-US" dirty="0">
                <a:latin typeface="Century Gothic" panose="020B0502020202020204" pitchFamily="34" charset="0"/>
              </a:rPr>
              <a:t>Enables a holistic view of cybersecurity dynamics within the SME.</a:t>
            </a:r>
          </a:p>
          <a:p>
            <a:pPr marL="0" indent="0">
              <a:buNone/>
            </a:pPr>
            <a:r>
              <a:rPr lang="en-US" b="1" dirty="0">
                <a:latin typeface="Century Gothic" panose="020B0502020202020204" pitchFamily="34" charset="0"/>
              </a:rPr>
              <a:t>Triangulation for Trustworthiness</a:t>
            </a:r>
            <a:endParaRPr lang="en-US" dirty="0">
              <a:latin typeface="Century Gothic" panose="020B0502020202020204" pitchFamily="34" charset="0"/>
            </a:endParaRPr>
          </a:p>
          <a:p>
            <a:pPr lvl="1">
              <a:buFont typeface="Wingdings" pitchFamily="2" charset="2"/>
              <a:buChar char="ü"/>
            </a:pPr>
            <a:r>
              <a:rPr lang="en-US" dirty="0">
                <a:latin typeface="Century Gothic" panose="020B0502020202020204" pitchFamily="34" charset="0"/>
              </a:rPr>
              <a:t>Cross-verifies data from multiple sources to enhance reliability and validity.</a:t>
            </a:r>
          </a:p>
          <a:p>
            <a:pPr lvl="1">
              <a:buFont typeface="Wingdings" pitchFamily="2" charset="2"/>
              <a:buChar char="ü"/>
            </a:pPr>
            <a:r>
              <a:rPr lang="en-US" dirty="0">
                <a:latin typeface="Century Gothic" panose="020B0502020202020204" pitchFamily="34" charset="0"/>
              </a:rPr>
              <a:t>Strengthens confidence in findings through diverse evidence.</a:t>
            </a:r>
          </a:p>
          <a:p>
            <a:pPr marL="0" indent="0">
              <a:buNone/>
            </a:pPr>
            <a:r>
              <a:rPr lang="en-US" b="1" dirty="0">
                <a:latin typeface="Century Gothic" panose="020B0502020202020204" pitchFamily="34" charset="0"/>
              </a:rPr>
              <a:t>Contribution</a:t>
            </a:r>
            <a:endParaRPr lang="en-US" dirty="0">
              <a:latin typeface="Century Gothic" panose="020B0502020202020204" pitchFamily="34" charset="0"/>
            </a:endParaRPr>
          </a:p>
          <a:p>
            <a:pPr lvl="1">
              <a:buFont typeface="Wingdings" pitchFamily="2" charset="2"/>
              <a:buChar char="ü"/>
            </a:pPr>
            <a:r>
              <a:rPr lang="en-US" dirty="0">
                <a:latin typeface="Century Gothic" panose="020B0502020202020204" pitchFamily="34" charset="0"/>
              </a:rPr>
              <a:t>Offers actionable insights to improve SME cybersecurity frameworks.</a:t>
            </a:r>
          </a:p>
          <a:p>
            <a:pPr lvl="1">
              <a:buFont typeface="Wingdings" pitchFamily="2" charset="2"/>
              <a:buChar char="ü"/>
            </a:pPr>
            <a:r>
              <a:rPr lang="en-US" dirty="0">
                <a:latin typeface="Century Gothic" panose="020B0502020202020204" pitchFamily="34" charset="0"/>
              </a:rPr>
              <a:t>Bridges academic knowledge with practical security improvements.</a:t>
            </a:r>
          </a:p>
          <a:p>
            <a:pPr marL="0" indent="0">
              <a:buNone/>
            </a:pPr>
            <a:endParaRPr lang="en-US" dirty="0"/>
          </a:p>
          <a:p>
            <a:pPr marL="0" indent="0">
              <a:buNone/>
            </a:pPr>
            <a:endParaRPr lang="en-US" dirty="0"/>
          </a:p>
        </p:txBody>
      </p:sp>
      <p:sp>
        <p:nvSpPr>
          <p:cNvPr id="3" name="Slide Number Placeholder 2">
            <a:extLst>
              <a:ext uri="{FF2B5EF4-FFF2-40B4-BE49-F238E27FC236}">
                <a16:creationId xmlns:a16="http://schemas.microsoft.com/office/drawing/2014/main" id="{3DF196FD-36AB-55B6-25B8-B6DF86EA1A34}"/>
              </a:ext>
            </a:extLst>
          </p:cNvPr>
          <p:cNvSpPr>
            <a:spLocks noGrp="1"/>
          </p:cNvSpPr>
          <p:nvPr>
            <p:ph type="sldNum" sz="quarter" idx="12"/>
          </p:nvPr>
        </p:nvSpPr>
        <p:spPr/>
        <p:txBody>
          <a:bodyPr/>
          <a:lstStyle/>
          <a:p>
            <a:fld id="{BA0420FF-E5B6-6E40-B042-B5CA0D8A2F91}" type="slidenum">
              <a:rPr lang="en-US" smtClean="0"/>
              <a:t>13</a:t>
            </a:fld>
            <a:endParaRPr lang="en-US"/>
          </a:p>
        </p:txBody>
      </p:sp>
    </p:spTree>
    <p:extLst>
      <p:ext uri="{BB962C8B-B14F-4D97-AF65-F5344CB8AC3E}">
        <p14:creationId xmlns:p14="http://schemas.microsoft.com/office/powerpoint/2010/main" val="1177956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93DF7-967C-D47A-7229-FEB4CF24A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86CD8-1764-BE78-4F26-0DE6E2F1770D}"/>
              </a:ext>
            </a:extLst>
          </p:cNvPr>
          <p:cNvSpPr>
            <a:spLocks noGrp="1"/>
          </p:cNvSpPr>
          <p:nvPr>
            <p:ph type="title"/>
          </p:nvPr>
        </p:nvSpPr>
        <p:spPr>
          <a:xfrm>
            <a:off x="838200" y="681037"/>
            <a:ext cx="10515600" cy="841014"/>
          </a:xfrm>
        </p:spPr>
        <p:txBody>
          <a:bodyPr anchor="ctr">
            <a:normAutofit/>
          </a:bodyPr>
          <a:lstStyle/>
          <a:p>
            <a:r>
              <a:rPr lang="en-US" sz="4000" b="1" dirty="0">
                <a:latin typeface="Century Gothic" panose="020B0502020202020204" pitchFamily="34" charset="0"/>
              </a:rPr>
              <a:t>Population and Sampling</a:t>
            </a:r>
          </a:p>
        </p:txBody>
      </p:sp>
      <p:graphicFrame>
        <p:nvGraphicFramePr>
          <p:cNvPr id="5" name="Content Placeholder 2">
            <a:extLst>
              <a:ext uri="{FF2B5EF4-FFF2-40B4-BE49-F238E27FC236}">
                <a16:creationId xmlns:a16="http://schemas.microsoft.com/office/drawing/2014/main" id="{D13AD080-CDAC-ED84-BC34-ED873E13569F}"/>
              </a:ext>
            </a:extLst>
          </p:cNvPr>
          <p:cNvGraphicFramePr>
            <a:graphicFrameLocks noGrp="1"/>
          </p:cNvGraphicFramePr>
          <p:nvPr>
            <p:ph idx="1"/>
            <p:extLst>
              <p:ext uri="{D42A27DB-BD31-4B8C-83A1-F6EECF244321}">
                <p14:modId xmlns:p14="http://schemas.microsoft.com/office/powerpoint/2010/main" val="425267350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45867A26-2BBB-A934-8E81-0B45C79BAAB9}"/>
              </a:ext>
            </a:extLst>
          </p:cNvPr>
          <p:cNvSpPr>
            <a:spLocks noGrp="1"/>
          </p:cNvSpPr>
          <p:nvPr>
            <p:ph type="sldNum" sz="quarter" idx="12"/>
          </p:nvPr>
        </p:nvSpPr>
        <p:spPr/>
        <p:txBody>
          <a:bodyPr/>
          <a:lstStyle/>
          <a:p>
            <a:fld id="{BA0420FF-E5B6-6E40-B042-B5CA0D8A2F91}" type="slidenum">
              <a:rPr lang="en-US" smtClean="0"/>
              <a:t>14</a:t>
            </a:fld>
            <a:endParaRPr lang="en-US"/>
          </a:p>
        </p:txBody>
      </p:sp>
    </p:spTree>
    <p:extLst>
      <p:ext uri="{BB962C8B-B14F-4D97-AF65-F5344CB8AC3E}">
        <p14:creationId xmlns:p14="http://schemas.microsoft.com/office/powerpoint/2010/main" val="109696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D1951-ED1D-54DF-88E6-0A9C0376D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C72BDB-06B2-F125-11CC-B2ABD5CC7ED6}"/>
              </a:ext>
            </a:extLst>
          </p:cNvPr>
          <p:cNvSpPr>
            <a:spLocks noGrp="1"/>
          </p:cNvSpPr>
          <p:nvPr>
            <p:ph type="title"/>
          </p:nvPr>
        </p:nvSpPr>
        <p:spPr>
          <a:xfrm>
            <a:off x="838200" y="568686"/>
            <a:ext cx="10515600" cy="841014"/>
          </a:xfrm>
        </p:spPr>
        <p:txBody>
          <a:bodyPr>
            <a:normAutofit/>
          </a:bodyPr>
          <a:lstStyle/>
          <a:p>
            <a:pPr>
              <a:lnSpc>
                <a:spcPct val="100000"/>
              </a:lnSpc>
            </a:pPr>
            <a:r>
              <a:rPr lang="en-US" sz="4000" b="1" dirty="0">
                <a:latin typeface="Century Gothic" panose="020B0502020202020204" pitchFamily="34" charset="0"/>
                <a:ea typeface="Segoe UI" panose="020B0502040204020203" pitchFamily="34" charset="0"/>
                <a:cs typeface="Segoe UI" panose="020B0502040204020203" pitchFamily="34" charset="0"/>
              </a:rPr>
              <a:t>Data Collection and Analysis (1)</a:t>
            </a:r>
          </a:p>
        </p:txBody>
      </p:sp>
      <p:sp>
        <p:nvSpPr>
          <p:cNvPr id="3" name="Content Placeholder 2">
            <a:extLst>
              <a:ext uri="{FF2B5EF4-FFF2-40B4-BE49-F238E27FC236}">
                <a16:creationId xmlns:a16="http://schemas.microsoft.com/office/drawing/2014/main" id="{2E065FE5-2E1E-8466-AA61-BD02936B6004}"/>
              </a:ext>
            </a:extLst>
          </p:cNvPr>
          <p:cNvSpPr>
            <a:spLocks noGrp="1"/>
          </p:cNvSpPr>
          <p:nvPr>
            <p:ph idx="1"/>
          </p:nvPr>
        </p:nvSpPr>
        <p:spPr>
          <a:xfrm>
            <a:off x="838200" y="1409700"/>
            <a:ext cx="10515600" cy="4902200"/>
          </a:xfrm>
        </p:spPr>
        <p:txBody>
          <a:bodyPr>
            <a:normAutofit/>
          </a:bodyPr>
          <a:lstStyle/>
          <a:p>
            <a:pPr marL="0" indent="0">
              <a:buNone/>
            </a:pPr>
            <a:r>
              <a:rPr lang="en-US" b="1" dirty="0">
                <a:latin typeface="Century Gothic" panose="020B0502020202020204" pitchFamily="34" charset="0"/>
              </a:rPr>
              <a:t>Triangulated Data Collection:</a:t>
            </a:r>
            <a:endParaRPr lang="en-US" dirty="0">
              <a:latin typeface="Century Gothic" panose="020B0502020202020204" pitchFamily="34" charset="0"/>
            </a:endParaRPr>
          </a:p>
          <a:p>
            <a:r>
              <a:rPr lang="en-US" sz="2600" b="1" dirty="0">
                <a:latin typeface="Century Gothic" panose="020B0502020202020204" pitchFamily="34" charset="0"/>
              </a:rPr>
              <a:t>Semi-structured Interviews</a:t>
            </a:r>
            <a:endParaRPr lang="en-US" sz="2600" dirty="0">
              <a:latin typeface="Century Gothic" panose="020B0502020202020204" pitchFamily="34" charset="0"/>
            </a:endParaRPr>
          </a:p>
          <a:p>
            <a:pPr lvl="1">
              <a:buFont typeface="Wingdings" pitchFamily="2" charset="2"/>
              <a:buChar char="ü"/>
            </a:pPr>
            <a:r>
              <a:rPr lang="en-US" dirty="0">
                <a:latin typeface="Century Gothic" panose="020B0502020202020204" pitchFamily="34" charset="0"/>
              </a:rPr>
              <a:t>10–15 minutes, flexible format, audio recorded.</a:t>
            </a:r>
          </a:p>
          <a:p>
            <a:pPr lvl="1">
              <a:buFont typeface="Wingdings" pitchFamily="2" charset="2"/>
              <a:buChar char="ü"/>
            </a:pPr>
            <a:r>
              <a:rPr lang="en-US" dirty="0">
                <a:latin typeface="Century Gothic" panose="020B0502020202020204" pitchFamily="34" charset="0"/>
              </a:rPr>
              <a:t>Purposive sample of 10 participants across departments and hierarchy</a:t>
            </a:r>
          </a:p>
          <a:p>
            <a:r>
              <a:rPr lang="en-US" sz="2600" b="1" dirty="0">
                <a:latin typeface="Century Gothic" panose="020B0502020202020204" pitchFamily="34" charset="0"/>
              </a:rPr>
              <a:t>Online Surveys</a:t>
            </a:r>
            <a:r>
              <a:rPr lang="en-US" sz="2600" dirty="0">
                <a:latin typeface="Century Gothic" panose="020B0502020202020204" pitchFamily="34" charset="0"/>
              </a:rPr>
              <a:t> </a:t>
            </a:r>
          </a:p>
          <a:p>
            <a:pPr lvl="1">
              <a:buFont typeface="Wingdings" pitchFamily="2" charset="2"/>
              <a:buChar char="ü"/>
            </a:pPr>
            <a:r>
              <a:rPr lang="en-US" dirty="0">
                <a:latin typeface="Century Gothic" panose="020B0502020202020204" pitchFamily="34" charset="0"/>
              </a:rPr>
              <a:t>Mix of open &amp; closed questions</a:t>
            </a:r>
          </a:p>
          <a:p>
            <a:pPr lvl="1">
              <a:buFont typeface="Wingdings" pitchFamily="2" charset="2"/>
              <a:buChar char="ü"/>
            </a:pPr>
            <a:r>
              <a:rPr lang="en-US" dirty="0">
                <a:latin typeface="Century Gothic" panose="020B0502020202020204" pitchFamily="34" charset="0"/>
              </a:rPr>
              <a:t>Ensures anonymity, accessibility, and candid responses.</a:t>
            </a:r>
          </a:p>
          <a:p>
            <a:r>
              <a:rPr lang="en-US" sz="2600" b="1" dirty="0">
                <a:latin typeface="Century Gothic" panose="020B0502020202020204" pitchFamily="34" charset="0"/>
              </a:rPr>
              <a:t>Document Analysis</a:t>
            </a:r>
            <a:r>
              <a:rPr lang="en-US" sz="2600" dirty="0">
                <a:latin typeface="Century Gothic" panose="020B0502020202020204" pitchFamily="34" charset="0"/>
              </a:rPr>
              <a:t> </a:t>
            </a:r>
          </a:p>
          <a:p>
            <a:pPr lvl="1">
              <a:buFont typeface="Wingdings" pitchFamily="2" charset="2"/>
              <a:buChar char="ü"/>
            </a:pPr>
            <a:r>
              <a:rPr lang="en-US" dirty="0">
                <a:latin typeface="Century Gothic" panose="020B0502020202020204" pitchFamily="34" charset="0"/>
              </a:rPr>
              <a:t>Review of policies, training logs, and incident reports.</a:t>
            </a:r>
          </a:p>
          <a:p>
            <a:pPr lvl="1">
              <a:buFont typeface="Wingdings" pitchFamily="2" charset="2"/>
              <a:buChar char="ü"/>
            </a:pPr>
            <a:r>
              <a:rPr lang="en-US" dirty="0">
                <a:latin typeface="Century Gothic" panose="020B0502020202020204" pitchFamily="34" charset="0"/>
              </a:rPr>
              <a:t>Provides critical contextual depth.</a:t>
            </a:r>
          </a:p>
        </p:txBody>
      </p:sp>
      <p:sp>
        <p:nvSpPr>
          <p:cNvPr id="4" name="Slide Number Placeholder 3">
            <a:extLst>
              <a:ext uri="{FF2B5EF4-FFF2-40B4-BE49-F238E27FC236}">
                <a16:creationId xmlns:a16="http://schemas.microsoft.com/office/drawing/2014/main" id="{952C49B3-6715-AB41-9793-A8E6E741BFD2}"/>
              </a:ext>
            </a:extLst>
          </p:cNvPr>
          <p:cNvSpPr>
            <a:spLocks noGrp="1"/>
          </p:cNvSpPr>
          <p:nvPr>
            <p:ph type="sldNum" sz="quarter" idx="12"/>
          </p:nvPr>
        </p:nvSpPr>
        <p:spPr/>
        <p:txBody>
          <a:bodyPr/>
          <a:lstStyle/>
          <a:p>
            <a:fld id="{BA0420FF-E5B6-6E40-B042-B5CA0D8A2F91}" type="slidenum">
              <a:rPr lang="en-US" smtClean="0"/>
              <a:t>15</a:t>
            </a:fld>
            <a:endParaRPr lang="en-US"/>
          </a:p>
        </p:txBody>
      </p:sp>
    </p:spTree>
    <p:extLst>
      <p:ext uri="{BB962C8B-B14F-4D97-AF65-F5344CB8AC3E}">
        <p14:creationId xmlns:p14="http://schemas.microsoft.com/office/powerpoint/2010/main" val="3031757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BC91B-36A4-AE8C-1DF4-126A05283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42815-1A28-605E-C2AE-3B433EF6D87A}"/>
              </a:ext>
            </a:extLst>
          </p:cNvPr>
          <p:cNvSpPr>
            <a:spLocks noGrp="1"/>
          </p:cNvSpPr>
          <p:nvPr>
            <p:ph type="title"/>
          </p:nvPr>
        </p:nvSpPr>
        <p:spPr>
          <a:xfrm>
            <a:off x="838200" y="581386"/>
            <a:ext cx="10515600" cy="841014"/>
          </a:xfrm>
        </p:spPr>
        <p:txBody>
          <a:bodyPr>
            <a:normAutofit/>
          </a:bodyPr>
          <a:lstStyle/>
          <a:p>
            <a:pPr>
              <a:lnSpc>
                <a:spcPct val="100000"/>
              </a:lnSpc>
            </a:pPr>
            <a:r>
              <a:rPr lang="en-US" sz="4000" b="1" dirty="0">
                <a:latin typeface="Century Gothic" panose="020B0502020202020204" pitchFamily="34" charset="0"/>
                <a:ea typeface="Segoe UI" panose="020B0502040204020203" pitchFamily="34" charset="0"/>
                <a:cs typeface="Segoe UI" panose="020B0502040204020203" pitchFamily="34" charset="0"/>
              </a:rPr>
              <a:t>Data Collection and Analysis (2)</a:t>
            </a:r>
          </a:p>
        </p:txBody>
      </p:sp>
      <p:sp>
        <p:nvSpPr>
          <p:cNvPr id="3" name="Content Placeholder 2">
            <a:extLst>
              <a:ext uri="{FF2B5EF4-FFF2-40B4-BE49-F238E27FC236}">
                <a16:creationId xmlns:a16="http://schemas.microsoft.com/office/drawing/2014/main" id="{F07D76FF-85A9-A2DB-413C-0E7AC93D61D5}"/>
              </a:ext>
            </a:extLst>
          </p:cNvPr>
          <p:cNvSpPr>
            <a:spLocks noGrp="1"/>
          </p:cNvSpPr>
          <p:nvPr>
            <p:ph idx="1"/>
          </p:nvPr>
        </p:nvSpPr>
        <p:spPr>
          <a:xfrm>
            <a:off x="838200" y="1422400"/>
            <a:ext cx="10515600" cy="5003800"/>
          </a:xfrm>
        </p:spPr>
        <p:txBody>
          <a:bodyPr>
            <a:normAutofit fontScale="92500" lnSpcReduction="10000"/>
          </a:bodyPr>
          <a:lstStyle/>
          <a:p>
            <a:pPr marL="0" indent="0">
              <a:buNone/>
            </a:pPr>
            <a:r>
              <a:rPr lang="en-US" sz="2600" b="1" dirty="0">
                <a:latin typeface="Century Gothic" panose="020B0502020202020204" pitchFamily="34" charset="0"/>
              </a:rPr>
              <a:t>Data Analysis </a:t>
            </a:r>
          </a:p>
          <a:p>
            <a:r>
              <a:rPr lang="en-US" sz="2400" b="1" dirty="0">
                <a:latin typeface="Century Gothic" panose="020B0502020202020204" pitchFamily="34" charset="0"/>
              </a:rPr>
              <a:t>Thematic Analysis Framework</a:t>
            </a:r>
            <a:endParaRPr lang="en-US" sz="2400" dirty="0">
              <a:latin typeface="Century Gothic" panose="020B0502020202020204" pitchFamily="34" charset="0"/>
            </a:endParaRPr>
          </a:p>
          <a:p>
            <a:pPr lvl="1">
              <a:buFont typeface="Wingdings" pitchFamily="2" charset="2"/>
              <a:buChar char="ü"/>
            </a:pPr>
            <a:r>
              <a:rPr lang="en-US" sz="2000" dirty="0">
                <a:latin typeface="Century Gothic" panose="020B0502020202020204" pitchFamily="34" charset="0"/>
              </a:rPr>
              <a:t>Braun &amp; Clarke’s 6-step process to identify key themes from textual data.</a:t>
            </a:r>
          </a:p>
          <a:p>
            <a:pPr lvl="1">
              <a:buFont typeface="Wingdings" pitchFamily="2" charset="2"/>
              <a:buChar char="ü"/>
            </a:pPr>
            <a:r>
              <a:rPr lang="en-US" sz="2000" dirty="0">
                <a:latin typeface="Century Gothic" panose="020B0502020202020204" pitchFamily="34" charset="0"/>
              </a:rPr>
              <a:t>Coding phases: open coding → axial coding → theme development.</a:t>
            </a:r>
          </a:p>
          <a:p>
            <a:pPr lvl="1">
              <a:buFont typeface="Wingdings" pitchFamily="2" charset="2"/>
              <a:buChar char="ü"/>
            </a:pPr>
            <a:r>
              <a:rPr lang="en-US" sz="2000" dirty="0">
                <a:latin typeface="Century Gothic" panose="020B0502020202020204" pitchFamily="34" charset="0"/>
              </a:rPr>
              <a:t>Example themes: </a:t>
            </a:r>
            <a:r>
              <a:rPr lang="en-US" sz="2000" i="1" dirty="0">
                <a:latin typeface="Century Gothic" panose="020B0502020202020204" pitchFamily="34" charset="0"/>
              </a:rPr>
              <a:t>Cybersecurity Awareness</a:t>
            </a:r>
            <a:r>
              <a:rPr lang="en-US" sz="2000" dirty="0">
                <a:latin typeface="Century Gothic" panose="020B0502020202020204" pitchFamily="34" charset="0"/>
              </a:rPr>
              <a:t>, </a:t>
            </a:r>
            <a:r>
              <a:rPr lang="en-US" sz="2000" i="1" dirty="0">
                <a:latin typeface="Century Gothic" panose="020B0502020202020204" pitchFamily="34" charset="0"/>
              </a:rPr>
              <a:t>Training Effectiveness</a:t>
            </a:r>
            <a:r>
              <a:rPr lang="en-US" sz="2000" dirty="0">
                <a:latin typeface="Century Gothic" panose="020B0502020202020204" pitchFamily="34" charset="0"/>
              </a:rPr>
              <a:t>, </a:t>
            </a:r>
            <a:r>
              <a:rPr lang="en-US" sz="2000" i="1" dirty="0">
                <a:latin typeface="Century Gothic" panose="020B0502020202020204" pitchFamily="34" charset="0"/>
              </a:rPr>
              <a:t>Policy Enforcement</a:t>
            </a:r>
            <a:r>
              <a:rPr lang="en-US" sz="2000" dirty="0">
                <a:latin typeface="Century Gothic" panose="020B0502020202020204" pitchFamily="34" charset="0"/>
              </a:rPr>
              <a:t>.</a:t>
            </a:r>
          </a:p>
          <a:p>
            <a:r>
              <a:rPr lang="en-US" sz="2400" b="1" dirty="0">
                <a:latin typeface="Century Gothic" panose="020B0502020202020204" pitchFamily="34" charset="0"/>
              </a:rPr>
              <a:t>Analysis Process</a:t>
            </a:r>
            <a:endParaRPr lang="en-US" sz="2400" dirty="0">
              <a:latin typeface="Century Gothic" panose="020B0502020202020204" pitchFamily="34" charset="0"/>
            </a:endParaRPr>
          </a:p>
          <a:p>
            <a:pPr lvl="1">
              <a:buFont typeface="Wingdings" pitchFamily="2" charset="2"/>
              <a:buChar char="ü"/>
            </a:pPr>
            <a:r>
              <a:rPr lang="en-US" sz="2000" dirty="0">
                <a:latin typeface="Century Gothic" panose="020B0502020202020204" pitchFamily="34" charset="0"/>
              </a:rPr>
              <a:t>Coding of interviews, surveys, and documents to reveal patterns (e.g., “fragmented cybersecurity culture”).</a:t>
            </a:r>
          </a:p>
          <a:p>
            <a:pPr lvl="1">
              <a:buFont typeface="Wingdings" pitchFamily="2" charset="2"/>
              <a:buChar char="ü"/>
            </a:pPr>
            <a:r>
              <a:rPr lang="en-US" sz="2000" dirty="0">
                <a:latin typeface="Century Gothic" panose="020B0502020202020204" pitchFamily="34" charset="0"/>
              </a:rPr>
              <a:t>Thematic maps visualize relationships among themes.</a:t>
            </a:r>
          </a:p>
          <a:p>
            <a:pPr lvl="1">
              <a:buFont typeface="Wingdings" pitchFamily="2" charset="2"/>
              <a:buChar char="ü"/>
            </a:pPr>
            <a:r>
              <a:rPr lang="en-US" sz="2000" dirty="0">
                <a:latin typeface="Century Gothic" panose="020B0502020202020204" pitchFamily="34" charset="0"/>
              </a:rPr>
              <a:t>Findings linked to research questions and existing literature for rich interpretation.</a:t>
            </a:r>
          </a:p>
          <a:p>
            <a:r>
              <a:rPr lang="en-US" sz="2400" b="1" dirty="0">
                <a:latin typeface="Century Gothic" panose="020B0502020202020204" pitchFamily="34" charset="0"/>
              </a:rPr>
              <a:t>Triangulation for Validity</a:t>
            </a:r>
            <a:endParaRPr lang="en-US" sz="2400" dirty="0">
              <a:latin typeface="Century Gothic" panose="020B0502020202020204" pitchFamily="34" charset="0"/>
            </a:endParaRPr>
          </a:p>
          <a:p>
            <a:pPr lvl="1">
              <a:buFont typeface="Wingdings" pitchFamily="2" charset="2"/>
              <a:buChar char="ü"/>
            </a:pPr>
            <a:r>
              <a:rPr lang="en-US" sz="2000" dirty="0">
                <a:latin typeface="Century Gothic" panose="020B0502020202020204" pitchFamily="34" charset="0"/>
              </a:rPr>
              <a:t>Cross-verification of data from interviews, surveys, and documents.</a:t>
            </a:r>
          </a:p>
          <a:p>
            <a:pPr lvl="1">
              <a:buFont typeface="Wingdings" pitchFamily="2" charset="2"/>
              <a:buChar char="ü"/>
            </a:pPr>
            <a:r>
              <a:rPr lang="en-US" sz="2000" dirty="0">
                <a:latin typeface="Century Gothic" panose="020B0502020202020204" pitchFamily="34" charset="0"/>
              </a:rPr>
              <a:t>Enhances credibility and reduces bias (Fusch et al., 2018).</a:t>
            </a:r>
          </a:p>
          <a:p>
            <a:pPr lvl="1">
              <a:buFont typeface="Wingdings" pitchFamily="2" charset="2"/>
              <a:buChar char="ü"/>
            </a:pPr>
            <a:r>
              <a:rPr lang="en-US" sz="2000" dirty="0">
                <a:latin typeface="Century Gothic" panose="020B0502020202020204" pitchFamily="34" charset="0"/>
              </a:rPr>
              <a:t>Ensures a comprehensive and trustworthy understanding of cybersecurity culture and practices.</a:t>
            </a:r>
          </a:p>
          <a:p>
            <a:endParaRPr lang="en-US" sz="2400" dirty="0">
              <a:latin typeface="Segoe UI" panose="020B0502040204020203" pitchFamily="34" charset="0"/>
              <a:ea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175F083B-1BF7-198E-BC68-63FBB40F8939}"/>
              </a:ext>
            </a:extLst>
          </p:cNvPr>
          <p:cNvSpPr>
            <a:spLocks noGrp="1"/>
          </p:cNvSpPr>
          <p:nvPr>
            <p:ph type="sldNum" sz="quarter" idx="12"/>
          </p:nvPr>
        </p:nvSpPr>
        <p:spPr/>
        <p:txBody>
          <a:bodyPr/>
          <a:lstStyle/>
          <a:p>
            <a:fld id="{BA0420FF-E5B6-6E40-B042-B5CA0D8A2F91}" type="slidenum">
              <a:rPr lang="en-US" smtClean="0"/>
              <a:t>16</a:t>
            </a:fld>
            <a:endParaRPr lang="en-US"/>
          </a:p>
        </p:txBody>
      </p:sp>
    </p:spTree>
    <p:extLst>
      <p:ext uri="{BB962C8B-B14F-4D97-AF65-F5344CB8AC3E}">
        <p14:creationId xmlns:p14="http://schemas.microsoft.com/office/powerpoint/2010/main" val="320793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6359-A4E7-1126-85CA-520512591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AB309-BBF5-97B7-0983-A800E030D82C}"/>
              </a:ext>
            </a:extLst>
          </p:cNvPr>
          <p:cNvSpPr>
            <a:spLocks noGrp="1"/>
          </p:cNvSpPr>
          <p:nvPr>
            <p:ph type="title"/>
          </p:nvPr>
        </p:nvSpPr>
        <p:spPr>
          <a:xfrm>
            <a:off x="425245" y="681037"/>
            <a:ext cx="10928555" cy="857305"/>
          </a:xfrm>
        </p:spPr>
        <p:txBody>
          <a:bodyPr anchor="ctr">
            <a:normAutofit fontScale="90000"/>
          </a:bodyPr>
          <a:lstStyle/>
          <a:p>
            <a:br>
              <a:rPr lang="en-US" sz="1800" dirty="0"/>
            </a:br>
            <a:r>
              <a:rPr lang="en-US" b="1" dirty="0">
                <a:latin typeface="Century Gothic" panose="020B0502020202020204" pitchFamily="34" charset="0"/>
              </a:rPr>
              <a:t>Results, Discussion and Implications (1)</a:t>
            </a:r>
            <a:br>
              <a:rPr lang="en-US" sz="1800" dirty="0"/>
            </a:br>
            <a:endParaRPr lang="en-US" sz="1800" dirty="0"/>
          </a:p>
        </p:txBody>
      </p:sp>
      <p:graphicFrame>
        <p:nvGraphicFramePr>
          <p:cNvPr id="5" name="Content Placeholder 2">
            <a:extLst>
              <a:ext uri="{FF2B5EF4-FFF2-40B4-BE49-F238E27FC236}">
                <a16:creationId xmlns:a16="http://schemas.microsoft.com/office/drawing/2014/main" id="{92F45C70-E6B6-D152-6F56-A792844F5557}"/>
              </a:ext>
            </a:extLst>
          </p:cNvPr>
          <p:cNvGraphicFramePr>
            <a:graphicFrameLocks noGrp="1"/>
          </p:cNvGraphicFramePr>
          <p:nvPr>
            <p:ph sz="half" idx="1"/>
            <p:extLst>
              <p:ext uri="{D42A27DB-BD31-4B8C-83A1-F6EECF244321}">
                <p14:modId xmlns:p14="http://schemas.microsoft.com/office/powerpoint/2010/main" val="1700169367"/>
              </p:ext>
            </p:extLst>
          </p:nvPr>
        </p:nvGraphicFramePr>
        <p:xfrm>
          <a:off x="5768788" y="1538342"/>
          <a:ext cx="5997967" cy="48180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Content Placeholder 12" descr="A diagram of a diagram&#10;&#10;AI-generated content may be incorrect.">
            <a:extLst>
              <a:ext uri="{FF2B5EF4-FFF2-40B4-BE49-F238E27FC236}">
                <a16:creationId xmlns:a16="http://schemas.microsoft.com/office/drawing/2014/main" id="{BCF3D39A-FFC2-A9BA-13D4-8601D6BF02CE}"/>
              </a:ext>
            </a:extLst>
          </p:cNvPr>
          <p:cNvPicPr>
            <a:picLocks noGrp="1" noChangeAspect="1"/>
          </p:cNvPicPr>
          <p:nvPr>
            <p:ph sz="half" idx="2"/>
          </p:nvPr>
        </p:nvPicPr>
        <p:blipFill>
          <a:blip r:embed="rId7"/>
          <a:stretch>
            <a:fillRect/>
          </a:stretch>
        </p:blipFill>
        <p:spPr>
          <a:xfrm>
            <a:off x="425245" y="1538342"/>
            <a:ext cx="5181600" cy="2920017"/>
          </a:xfrm>
        </p:spPr>
      </p:pic>
      <p:sp>
        <p:nvSpPr>
          <p:cNvPr id="3" name="Slide Number Placeholder 2">
            <a:extLst>
              <a:ext uri="{FF2B5EF4-FFF2-40B4-BE49-F238E27FC236}">
                <a16:creationId xmlns:a16="http://schemas.microsoft.com/office/drawing/2014/main" id="{30672825-BFA6-4027-1ECC-BFD5CF099BA8}"/>
              </a:ext>
            </a:extLst>
          </p:cNvPr>
          <p:cNvSpPr>
            <a:spLocks noGrp="1"/>
          </p:cNvSpPr>
          <p:nvPr>
            <p:ph type="sldNum" sz="quarter" idx="12"/>
          </p:nvPr>
        </p:nvSpPr>
        <p:spPr/>
        <p:txBody>
          <a:bodyPr/>
          <a:lstStyle/>
          <a:p>
            <a:fld id="{BA0420FF-E5B6-6E40-B042-B5CA0D8A2F91}" type="slidenum">
              <a:rPr lang="en-US" smtClean="0"/>
              <a:t>17</a:t>
            </a:fld>
            <a:endParaRPr lang="en-US"/>
          </a:p>
        </p:txBody>
      </p:sp>
    </p:spTree>
    <p:extLst>
      <p:ext uri="{BB962C8B-B14F-4D97-AF65-F5344CB8AC3E}">
        <p14:creationId xmlns:p14="http://schemas.microsoft.com/office/powerpoint/2010/main" val="2534490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AFE-AFBF-4280-8179-C8B6EBB2B3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B3436-054F-A675-5D3E-2625F2B1DF69}"/>
              </a:ext>
            </a:extLst>
          </p:cNvPr>
          <p:cNvSpPr>
            <a:spLocks noGrp="1"/>
          </p:cNvSpPr>
          <p:nvPr>
            <p:ph type="title"/>
          </p:nvPr>
        </p:nvSpPr>
        <p:spPr>
          <a:xfrm>
            <a:off x="425245" y="681037"/>
            <a:ext cx="10928555" cy="857305"/>
          </a:xfrm>
        </p:spPr>
        <p:txBody>
          <a:bodyPr anchor="ctr">
            <a:normAutofit fontScale="90000"/>
          </a:bodyPr>
          <a:lstStyle/>
          <a:p>
            <a:br>
              <a:rPr lang="en-US" sz="1800" dirty="0"/>
            </a:br>
            <a:r>
              <a:rPr lang="en-US" b="1" dirty="0">
                <a:latin typeface="Century Gothic" panose="020B0502020202020204" pitchFamily="34" charset="0"/>
              </a:rPr>
              <a:t>Results, Discussion and Implications (1)</a:t>
            </a:r>
            <a:br>
              <a:rPr lang="en-US" sz="1800" dirty="0"/>
            </a:br>
            <a:endParaRPr lang="en-US" sz="1800" dirty="0"/>
          </a:p>
        </p:txBody>
      </p:sp>
      <p:graphicFrame>
        <p:nvGraphicFramePr>
          <p:cNvPr id="5" name="Content Placeholder 2">
            <a:extLst>
              <a:ext uri="{FF2B5EF4-FFF2-40B4-BE49-F238E27FC236}">
                <a16:creationId xmlns:a16="http://schemas.microsoft.com/office/drawing/2014/main" id="{34FAC733-0F3D-3C5C-DD27-4FBB0D463AC5}"/>
              </a:ext>
            </a:extLst>
          </p:cNvPr>
          <p:cNvGraphicFramePr>
            <a:graphicFrameLocks noGrp="1"/>
          </p:cNvGraphicFramePr>
          <p:nvPr>
            <p:ph sz="half" idx="1"/>
          </p:nvPr>
        </p:nvGraphicFramePr>
        <p:xfrm>
          <a:off x="5768788" y="1538342"/>
          <a:ext cx="5997967" cy="48180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Content Placeholder 12" descr="A diagram of a diagram&#10;&#10;AI-generated content may be incorrect.">
            <a:extLst>
              <a:ext uri="{FF2B5EF4-FFF2-40B4-BE49-F238E27FC236}">
                <a16:creationId xmlns:a16="http://schemas.microsoft.com/office/drawing/2014/main" id="{86BE5843-A7BD-B034-B6F9-CC34CD43E023}"/>
              </a:ext>
            </a:extLst>
          </p:cNvPr>
          <p:cNvPicPr>
            <a:picLocks noGrp="1" noChangeAspect="1"/>
          </p:cNvPicPr>
          <p:nvPr>
            <p:ph sz="half" idx="2"/>
          </p:nvPr>
        </p:nvPicPr>
        <p:blipFill>
          <a:blip r:embed="rId8"/>
          <a:stretch>
            <a:fillRect/>
          </a:stretch>
        </p:blipFill>
        <p:spPr>
          <a:xfrm>
            <a:off x="425245" y="4482296"/>
            <a:ext cx="5181600" cy="2239179"/>
          </a:xfrm>
        </p:spPr>
      </p:pic>
      <p:sp>
        <p:nvSpPr>
          <p:cNvPr id="3" name="Slide Number Placeholder 2">
            <a:extLst>
              <a:ext uri="{FF2B5EF4-FFF2-40B4-BE49-F238E27FC236}">
                <a16:creationId xmlns:a16="http://schemas.microsoft.com/office/drawing/2014/main" id="{DEE69425-66B7-989F-8B16-E1FB08E9EB95}"/>
              </a:ext>
            </a:extLst>
          </p:cNvPr>
          <p:cNvSpPr>
            <a:spLocks noGrp="1"/>
          </p:cNvSpPr>
          <p:nvPr>
            <p:ph type="sldNum" sz="quarter" idx="12"/>
          </p:nvPr>
        </p:nvSpPr>
        <p:spPr/>
        <p:txBody>
          <a:bodyPr/>
          <a:lstStyle/>
          <a:p>
            <a:fld id="{BA0420FF-E5B6-6E40-B042-B5CA0D8A2F91}" type="slidenum">
              <a:rPr lang="en-US" smtClean="0"/>
              <a:t>18</a:t>
            </a:fld>
            <a:endParaRPr lang="en-US"/>
          </a:p>
        </p:txBody>
      </p:sp>
      <p:sp>
        <p:nvSpPr>
          <p:cNvPr id="4" name="TextBox 3">
            <a:extLst>
              <a:ext uri="{FF2B5EF4-FFF2-40B4-BE49-F238E27FC236}">
                <a16:creationId xmlns:a16="http://schemas.microsoft.com/office/drawing/2014/main" id="{3E457692-5532-AA6B-08B3-9E46A5006423}"/>
              </a:ext>
            </a:extLst>
          </p:cNvPr>
          <p:cNvSpPr txBox="1"/>
          <p:nvPr/>
        </p:nvSpPr>
        <p:spPr>
          <a:xfrm>
            <a:off x="425245" y="1538342"/>
            <a:ext cx="5181600" cy="2585323"/>
          </a:xfrm>
          <a:prstGeom prst="rect">
            <a:avLst/>
          </a:prstGeom>
          <a:noFill/>
          <a:ln w="28575">
            <a:solidFill>
              <a:srgbClr val="FF0000"/>
            </a:solidFill>
          </a:ln>
        </p:spPr>
        <p:txBody>
          <a:bodyPr wrap="square" rtlCol="0">
            <a:spAutoFit/>
          </a:bodyPr>
          <a:lstStyle/>
          <a:p>
            <a:pPr lvl="0" algn="ctr"/>
            <a:r>
              <a:rPr lang="en-US" b="1" dirty="0">
                <a:latin typeface="Century Gothic" panose="020B0502020202020204" pitchFamily="34" charset="0"/>
              </a:rPr>
              <a:t>Research Questions </a:t>
            </a:r>
          </a:p>
          <a:p>
            <a:pPr lvl="0"/>
            <a:r>
              <a:rPr lang="en-US" b="1" dirty="0">
                <a:latin typeface="Century Gothic" panose="020B0502020202020204" pitchFamily="34" charset="0"/>
              </a:rPr>
              <a:t>RQ1</a:t>
            </a:r>
            <a:r>
              <a:rPr lang="en-US" dirty="0">
                <a:latin typeface="Century Gothic" panose="020B0502020202020204" pitchFamily="34" charset="0"/>
              </a:rPr>
              <a:t>: What strategies and measures does K2 Partnering Solutions employ to mitigate and counter potential cyber threats to its systems and data?</a:t>
            </a:r>
          </a:p>
          <a:p>
            <a:pPr lvl="0"/>
            <a:r>
              <a:rPr lang="en-US" b="1" dirty="0">
                <a:latin typeface="Century Gothic" panose="020B0502020202020204" pitchFamily="34" charset="0"/>
              </a:rPr>
              <a:t>RQ2</a:t>
            </a:r>
            <a:r>
              <a:rPr lang="en-US" dirty="0">
                <a:latin typeface="Century Gothic" panose="020B0502020202020204" pitchFamily="34" charset="0"/>
              </a:rPr>
              <a:t>: What strategies does K2 Partnering Solutions implement to raise employee awareness and provide training to protect the business from potential cyberattacks?</a:t>
            </a:r>
          </a:p>
        </p:txBody>
      </p:sp>
    </p:spTree>
    <p:extLst>
      <p:ext uri="{BB962C8B-B14F-4D97-AF65-F5344CB8AC3E}">
        <p14:creationId xmlns:p14="http://schemas.microsoft.com/office/powerpoint/2010/main" val="3017785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04697-85CA-AD10-308B-E77EBE4588F5}"/>
              </a:ext>
            </a:extLst>
          </p:cNvPr>
          <p:cNvSpPr>
            <a:spLocks noGrp="1"/>
          </p:cNvSpPr>
          <p:nvPr>
            <p:ph type="title"/>
          </p:nvPr>
        </p:nvSpPr>
        <p:spPr>
          <a:xfrm>
            <a:off x="839788" y="365126"/>
            <a:ext cx="10644000" cy="978040"/>
          </a:xfrm>
        </p:spPr>
        <p:txBody>
          <a:bodyPr>
            <a:normAutofit/>
          </a:bodyPr>
          <a:lstStyle/>
          <a:p>
            <a:r>
              <a:rPr lang="en-US" sz="4000" b="1" dirty="0">
                <a:latin typeface="Century Gothic" panose="020B0502020202020204" pitchFamily="34" charset="0"/>
              </a:rPr>
              <a:t>Results, Discussion &amp; Implications (2)</a:t>
            </a:r>
            <a:endParaRPr lang="en-US" sz="4000" dirty="0"/>
          </a:p>
        </p:txBody>
      </p:sp>
      <p:sp>
        <p:nvSpPr>
          <p:cNvPr id="8" name="Text Placeholder 7">
            <a:extLst>
              <a:ext uri="{FF2B5EF4-FFF2-40B4-BE49-F238E27FC236}">
                <a16:creationId xmlns:a16="http://schemas.microsoft.com/office/drawing/2014/main" id="{D4DE3E28-76CA-72E5-8695-9182C5704809}"/>
              </a:ext>
            </a:extLst>
          </p:cNvPr>
          <p:cNvSpPr>
            <a:spLocks noGrp="1"/>
          </p:cNvSpPr>
          <p:nvPr>
            <p:ph type="body" idx="1"/>
          </p:nvPr>
        </p:nvSpPr>
        <p:spPr>
          <a:xfrm>
            <a:off x="836612" y="1343165"/>
            <a:ext cx="10515600" cy="577943"/>
          </a:xfrm>
        </p:spPr>
        <p:txBody>
          <a:bodyPr>
            <a:normAutofit fontScale="85000" lnSpcReduction="10000"/>
          </a:bodyPr>
          <a:lstStyle/>
          <a:p>
            <a:r>
              <a:rPr lang="en-US" sz="2800" b="0" i="1" dirty="0">
                <a:solidFill>
                  <a:srgbClr val="C00000"/>
                </a:solidFill>
                <a:latin typeface="Century Gothic" panose="020B0502020202020204" pitchFamily="34" charset="0"/>
              </a:rPr>
              <a:t>Theme 1: Organizational Cybersecurity Strategies &amp; Infrastructure</a:t>
            </a:r>
          </a:p>
        </p:txBody>
      </p:sp>
      <p:sp>
        <p:nvSpPr>
          <p:cNvPr id="3" name="Content Placeholder 2">
            <a:extLst>
              <a:ext uri="{FF2B5EF4-FFF2-40B4-BE49-F238E27FC236}">
                <a16:creationId xmlns:a16="http://schemas.microsoft.com/office/drawing/2014/main" id="{599F0E31-5937-CBB5-7614-D8D8BF31E070}"/>
              </a:ext>
            </a:extLst>
          </p:cNvPr>
          <p:cNvSpPr>
            <a:spLocks noGrp="1"/>
          </p:cNvSpPr>
          <p:nvPr>
            <p:ph sz="half" idx="2"/>
          </p:nvPr>
        </p:nvSpPr>
        <p:spPr>
          <a:xfrm>
            <a:off x="839788" y="1921108"/>
            <a:ext cx="5776165" cy="4466245"/>
          </a:xfrm>
        </p:spPr>
        <p:txBody>
          <a:bodyPr>
            <a:normAutofit fontScale="77500" lnSpcReduction="20000"/>
          </a:bodyPr>
          <a:lstStyle/>
          <a:p>
            <a:pPr marL="0" lvl="0" indent="0">
              <a:buNone/>
            </a:pPr>
            <a:r>
              <a:rPr lang="en-US" b="1" dirty="0">
                <a:latin typeface="Century Gothic" panose="020B0502020202020204" pitchFamily="34" charset="0"/>
              </a:rPr>
              <a:t>Key Threats:</a:t>
            </a:r>
            <a:endParaRPr lang="en-US" dirty="0">
              <a:latin typeface="Century Gothic" panose="020B0502020202020204" pitchFamily="34" charset="0"/>
            </a:endParaRPr>
          </a:p>
          <a:p>
            <a:pPr lvl="1"/>
            <a:r>
              <a:rPr lang="en-US" dirty="0">
                <a:latin typeface="Century Gothic" panose="020B0502020202020204" pitchFamily="34" charset="0"/>
              </a:rPr>
              <a:t>Phishing &amp; impersonation emails widespread</a:t>
            </a:r>
          </a:p>
          <a:p>
            <a:pPr lvl="1"/>
            <a:r>
              <a:rPr lang="en-US" dirty="0">
                <a:latin typeface="Century Gothic" panose="020B0502020202020204" pitchFamily="34" charset="0"/>
              </a:rPr>
              <a:t>Reactive approach via informal alerts (Slack)</a:t>
            </a:r>
          </a:p>
          <a:p>
            <a:pPr marL="0" lvl="0" indent="0">
              <a:buNone/>
            </a:pPr>
            <a:r>
              <a:rPr lang="en-US" b="1" dirty="0">
                <a:latin typeface="Century Gothic" panose="020B0502020202020204" pitchFamily="34" charset="0"/>
              </a:rPr>
              <a:t>Policies &amp; Tech:</a:t>
            </a:r>
            <a:endParaRPr lang="en-US" dirty="0">
              <a:latin typeface="Century Gothic" panose="020B0502020202020204" pitchFamily="34" charset="0"/>
            </a:endParaRPr>
          </a:p>
          <a:p>
            <a:pPr lvl="1"/>
            <a:r>
              <a:rPr lang="en-US" dirty="0">
                <a:latin typeface="Century Gothic" panose="020B0502020202020204" pitchFamily="34" charset="0"/>
              </a:rPr>
              <a:t>ISO/IEC 27001 framework adopted but poorly communicated</a:t>
            </a:r>
          </a:p>
          <a:p>
            <a:pPr lvl="1"/>
            <a:r>
              <a:rPr lang="en-US" dirty="0">
                <a:latin typeface="Century Gothic" panose="020B0502020202020204" pitchFamily="34" charset="0"/>
              </a:rPr>
              <a:t>Basic defenses: spam filters, 2FA; no advanced threat detection</a:t>
            </a:r>
          </a:p>
          <a:p>
            <a:pPr marL="0" lvl="0" indent="0">
              <a:buNone/>
            </a:pPr>
            <a:r>
              <a:rPr lang="en-US" b="1" dirty="0">
                <a:latin typeface="Century Gothic" panose="020B0502020202020204" pitchFamily="34" charset="0"/>
              </a:rPr>
              <a:t>Leadership Involvement:</a:t>
            </a:r>
            <a:endParaRPr lang="en-US" dirty="0">
              <a:latin typeface="Century Gothic" panose="020B0502020202020204" pitchFamily="34" charset="0"/>
            </a:endParaRPr>
          </a:p>
          <a:p>
            <a:pPr lvl="1"/>
            <a:r>
              <a:rPr lang="en-US" dirty="0">
                <a:latin typeface="Century Gothic" panose="020B0502020202020204" pitchFamily="34" charset="0"/>
              </a:rPr>
              <a:t>Formal policy endorsed, but low visible engagement</a:t>
            </a:r>
          </a:p>
          <a:p>
            <a:pPr lvl="1"/>
            <a:r>
              <a:rPr lang="en-US" sz="2500" dirty="0">
                <a:latin typeface="Century Gothic" panose="020B0502020202020204" pitchFamily="34" charset="0"/>
              </a:rPr>
              <a:t>Leadership Involvement perceived as weak across</a:t>
            </a:r>
            <a:endParaRPr lang="en-US" dirty="0">
              <a:latin typeface="Century Gothic" panose="020B0502020202020204" pitchFamily="34" charset="0"/>
            </a:endParaRPr>
          </a:p>
          <a:p>
            <a:pPr lvl="1"/>
            <a:r>
              <a:rPr lang="en-US" dirty="0">
                <a:latin typeface="Century Gothic" panose="020B0502020202020204" pitchFamily="34" charset="0"/>
              </a:rPr>
              <a:t>Disconnect limits strategic cybersecurity integration</a:t>
            </a:r>
          </a:p>
          <a:p>
            <a:endParaRPr lang="en-US" dirty="0"/>
          </a:p>
        </p:txBody>
      </p:sp>
      <p:pic>
        <p:nvPicPr>
          <p:cNvPr id="12" name="Content Placeholder 11" descr="A graph with text and numbers&#10;&#10;AI-generated content may be incorrect.">
            <a:extLst>
              <a:ext uri="{FF2B5EF4-FFF2-40B4-BE49-F238E27FC236}">
                <a16:creationId xmlns:a16="http://schemas.microsoft.com/office/drawing/2014/main" id="{F7310FF8-6980-8F42-5550-B9227DA71131}"/>
              </a:ext>
            </a:extLst>
          </p:cNvPr>
          <p:cNvPicPr>
            <a:picLocks noGrp="1" noChangeAspect="1"/>
          </p:cNvPicPr>
          <p:nvPr>
            <p:ph sz="quarter" idx="4"/>
          </p:nvPr>
        </p:nvPicPr>
        <p:blipFill>
          <a:blip r:embed="rId3"/>
          <a:stretch>
            <a:fillRect/>
          </a:stretch>
        </p:blipFill>
        <p:spPr>
          <a:xfrm>
            <a:off x="6913912" y="2044700"/>
            <a:ext cx="4438300" cy="2768600"/>
          </a:xfrm>
          <a:solidFill>
            <a:schemeClr val="bg1"/>
          </a:solidFill>
          <a:ln w="25400">
            <a:solidFill>
              <a:schemeClr val="tx1"/>
            </a:solidFill>
          </a:ln>
        </p:spPr>
      </p:pic>
      <p:sp>
        <p:nvSpPr>
          <p:cNvPr id="4" name="TextBox 3">
            <a:extLst>
              <a:ext uri="{FF2B5EF4-FFF2-40B4-BE49-F238E27FC236}">
                <a16:creationId xmlns:a16="http://schemas.microsoft.com/office/drawing/2014/main" id="{F59E1C83-A24F-8FB4-787D-F9DECC539555}"/>
              </a:ext>
            </a:extLst>
          </p:cNvPr>
          <p:cNvSpPr txBox="1"/>
          <p:nvPr/>
        </p:nvSpPr>
        <p:spPr>
          <a:xfrm>
            <a:off x="7217176" y="4936892"/>
            <a:ext cx="3831771" cy="369332"/>
          </a:xfrm>
          <a:prstGeom prst="rect">
            <a:avLst/>
          </a:prstGeom>
          <a:noFill/>
        </p:spPr>
        <p:txBody>
          <a:bodyPr wrap="square" rtlCol="0">
            <a:spAutoFit/>
          </a:bodyPr>
          <a:lstStyle/>
          <a:p>
            <a:pPr algn="ctr"/>
            <a:r>
              <a:rPr lang="en-US" i="1" dirty="0">
                <a:latin typeface="Century Gothic" panose="020B0502020202020204" pitchFamily="34" charset="0"/>
              </a:rPr>
              <a:t>Survey Data </a:t>
            </a:r>
          </a:p>
        </p:txBody>
      </p:sp>
      <p:sp>
        <p:nvSpPr>
          <p:cNvPr id="5" name="Slide Number Placeholder 4">
            <a:extLst>
              <a:ext uri="{FF2B5EF4-FFF2-40B4-BE49-F238E27FC236}">
                <a16:creationId xmlns:a16="http://schemas.microsoft.com/office/drawing/2014/main" id="{ED72A4EB-5606-FEB7-F1CF-BEE2829F53D9}"/>
              </a:ext>
            </a:extLst>
          </p:cNvPr>
          <p:cNvSpPr>
            <a:spLocks noGrp="1"/>
          </p:cNvSpPr>
          <p:nvPr>
            <p:ph type="sldNum" sz="quarter" idx="12"/>
          </p:nvPr>
        </p:nvSpPr>
        <p:spPr/>
        <p:txBody>
          <a:bodyPr/>
          <a:lstStyle/>
          <a:p>
            <a:fld id="{BA0420FF-E5B6-6E40-B042-B5CA0D8A2F91}" type="slidenum">
              <a:rPr lang="en-US" smtClean="0"/>
              <a:t>19</a:t>
            </a:fld>
            <a:endParaRPr lang="en-US"/>
          </a:p>
        </p:txBody>
      </p:sp>
    </p:spTree>
    <p:extLst>
      <p:ext uri="{BB962C8B-B14F-4D97-AF65-F5344CB8AC3E}">
        <p14:creationId xmlns:p14="http://schemas.microsoft.com/office/powerpoint/2010/main" val="51609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D6EA5-4175-C6BF-84B0-203B4A60F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84B1D-FB0B-9C52-0BF2-5608AA71A317}"/>
              </a:ext>
            </a:extLst>
          </p:cNvPr>
          <p:cNvSpPr>
            <a:spLocks noGrp="1"/>
          </p:cNvSpPr>
          <p:nvPr>
            <p:ph type="title"/>
          </p:nvPr>
        </p:nvSpPr>
        <p:spPr>
          <a:xfrm>
            <a:off x="836612" y="365125"/>
            <a:ext cx="10518776" cy="978039"/>
          </a:xfrm>
        </p:spPr>
        <p:txBody>
          <a:bodyPr>
            <a:normAutofit/>
          </a:bodyPr>
          <a:lstStyle/>
          <a:p>
            <a:r>
              <a:rPr lang="en-US" sz="4000" b="1" dirty="0">
                <a:latin typeface="Century Gothic" panose="020B0502020202020204" pitchFamily="34" charset="0"/>
              </a:rPr>
              <a:t>Results, Discussion &amp; Implications (3)</a:t>
            </a:r>
            <a:endParaRPr lang="en-US" sz="4000" dirty="0"/>
          </a:p>
        </p:txBody>
      </p:sp>
      <p:sp>
        <p:nvSpPr>
          <p:cNvPr id="8" name="Text Placeholder 7">
            <a:extLst>
              <a:ext uri="{FF2B5EF4-FFF2-40B4-BE49-F238E27FC236}">
                <a16:creationId xmlns:a16="http://schemas.microsoft.com/office/drawing/2014/main" id="{3CC08A5E-9EC8-CCD7-F9EA-570E2345DE12}"/>
              </a:ext>
            </a:extLst>
          </p:cNvPr>
          <p:cNvSpPr>
            <a:spLocks noGrp="1"/>
          </p:cNvSpPr>
          <p:nvPr>
            <p:ph type="body" idx="1"/>
          </p:nvPr>
        </p:nvSpPr>
        <p:spPr>
          <a:xfrm>
            <a:off x="991904" y="1128075"/>
            <a:ext cx="8571643" cy="496393"/>
          </a:xfrm>
        </p:spPr>
        <p:txBody>
          <a:bodyPr>
            <a:noAutofit/>
          </a:bodyPr>
          <a:lstStyle/>
          <a:p>
            <a:r>
              <a:rPr lang="en-US" b="0" i="1" dirty="0">
                <a:solidFill>
                  <a:srgbClr val="C00000"/>
                </a:solidFill>
                <a:latin typeface="Century Gothic" panose="020B0502020202020204" pitchFamily="34" charset="0"/>
              </a:rPr>
              <a:t>Theme 2: Awareness &amp; Training Culture</a:t>
            </a:r>
          </a:p>
        </p:txBody>
      </p:sp>
      <p:sp>
        <p:nvSpPr>
          <p:cNvPr id="3" name="Content Placeholder 2">
            <a:extLst>
              <a:ext uri="{FF2B5EF4-FFF2-40B4-BE49-F238E27FC236}">
                <a16:creationId xmlns:a16="http://schemas.microsoft.com/office/drawing/2014/main" id="{651855C5-4161-309D-7328-12321F0C7C10}"/>
              </a:ext>
            </a:extLst>
          </p:cNvPr>
          <p:cNvSpPr>
            <a:spLocks noGrp="1"/>
          </p:cNvSpPr>
          <p:nvPr>
            <p:ph sz="half" idx="2"/>
          </p:nvPr>
        </p:nvSpPr>
        <p:spPr>
          <a:xfrm>
            <a:off x="991904" y="1624468"/>
            <a:ext cx="5247531" cy="4997558"/>
          </a:xfrm>
        </p:spPr>
        <p:txBody>
          <a:bodyPr>
            <a:normAutofit lnSpcReduction="10000"/>
          </a:bodyPr>
          <a:lstStyle/>
          <a:p>
            <a:pPr marL="0" indent="0">
              <a:buNone/>
            </a:pPr>
            <a:r>
              <a:rPr lang="en-US" sz="2600" b="1" dirty="0">
                <a:latin typeface="Century Gothic" panose="020B0502020202020204" pitchFamily="34" charset="0"/>
              </a:rPr>
              <a:t>Training Delivery &amp; Effectiveness:</a:t>
            </a:r>
            <a:endParaRPr lang="en-US" sz="2600" dirty="0">
              <a:latin typeface="Century Gothic" panose="020B0502020202020204" pitchFamily="34" charset="0"/>
            </a:endParaRPr>
          </a:p>
          <a:p>
            <a:pPr lvl="1">
              <a:buFont typeface="Wingdings" pitchFamily="2" charset="2"/>
              <a:buChar char="ü"/>
            </a:pPr>
            <a:r>
              <a:rPr lang="en-US" sz="2000" dirty="0">
                <a:latin typeface="Century Gothic" panose="020B0502020202020204" pitchFamily="34" charset="0"/>
              </a:rPr>
              <a:t>Over 50% rarely or never trained; onboarding often the only exposure</a:t>
            </a:r>
          </a:p>
          <a:p>
            <a:pPr lvl="1">
              <a:buFont typeface="Wingdings" pitchFamily="2" charset="2"/>
              <a:buChar char="ü"/>
            </a:pPr>
            <a:r>
              <a:rPr lang="en-US" dirty="0">
                <a:latin typeface="Century Gothic" panose="020B0502020202020204" pitchFamily="34" charset="0"/>
              </a:rPr>
              <a:t>44% rated training as only moderately effective </a:t>
            </a:r>
            <a:endParaRPr lang="en-US" sz="2000" dirty="0">
              <a:latin typeface="Century Gothic" panose="020B0502020202020204" pitchFamily="34" charset="0"/>
            </a:endParaRPr>
          </a:p>
          <a:p>
            <a:pPr marL="0" indent="0">
              <a:buNone/>
            </a:pPr>
            <a:r>
              <a:rPr lang="en-US" sz="2600" b="1" dirty="0">
                <a:latin typeface="Century Gothic" panose="020B0502020202020204" pitchFamily="34" charset="0"/>
              </a:rPr>
              <a:t>Implications:</a:t>
            </a:r>
            <a:endParaRPr lang="en-US" sz="2600" dirty="0">
              <a:latin typeface="Century Gothic" panose="020B0502020202020204" pitchFamily="34" charset="0"/>
            </a:endParaRPr>
          </a:p>
          <a:p>
            <a:pPr lvl="1">
              <a:buFont typeface="Wingdings" pitchFamily="2" charset="2"/>
              <a:buChar char="ü"/>
            </a:pPr>
            <a:r>
              <a:rPr lang="en-US" sz="2100" dirty="0">
                <a:latin typeface="Century Gothic" panose="020B0502020202020204" pitchFamily="34" charset="0"/>
              </a:rPr>
              <a:t>Implement structured, recurring training programs</a:t>
            </a:r>
          </a:p>
          <a:p>
            <a:pPr lvl="1">
              <a:buFont typeface="Wingdings" pitchFamily="2" charset="2"/>
              <a:buChar char="ü"/>
            </a:pPr>
            <a:r>
              <a:rPr lang="en-US" sz="2100" dirty="0">
                <a:latin typeface="Century Gothic" panose="020B0502020202020204" pitchFamily="34" charset="0"/>
              </a:rPr>
              <a:t>Use experiential learning (simulations, case studies) over passive formats</a:t>
            </a:r>
          </a:p>
          <a:p>
            <a:pPr lvl="1">
              <a:buFont typeface="Wingdings" pitchFamily="2" charset="2"/>
              <a:buChar char="ü"/>
            </a:pPr>
            <a:r>
              <a:rPr lang="en-US" sz="2100" dirty="0">
                <a:latin typeface="Century Gothic" panose="020B0502020202020204" pitchFamily="34" charset="0"/>
              </a:rPr>
              <a:t>Introduce evaluation metrics (quizzes, follow-ups) to measure training impact</a:t>
            </a:r>
          </a:p>
          <a:p>
            <a:endParaRPr lang="en-US" dirty="0">
              <a:latin typeface="Century Gothic" panose="020B0502020202020204" pitchFamily="34" charset="0"/>
            </a:endParaRPr>
          </a:p>
          <a:p>
            <a:endParaRPr lang="en-US" dirty="0"/>
          </a:p>
        </p:txBody>
      </p:sp>
      <p:pic>
        <p:nvPicPr>
          <p:cNvPr id="7" name="Content Placeholder 6" descr="A graph of data on a white background&#10;&#10;AI-generated content may be incorrect.">
            <a:extLst>
              <a:ext uri="{FF2B5EF4-FFF2-40B4-BE49-F238E27FC236}">
                <a16:creationId xmlns:a16="http://schemas.microsoft.com/office/drawing/2014/main" id="{1DA5A4E3-A74A-8B2F-883A-E7B626993E9C}"/>
              </a:ext>
            </a:extLst>
          </p:cNvPr>
          <p:cNvPicPr>
            <a:picLocks noGrp="1" noChangeAspect="1"/>
          </p:cNvPicPr>
          <p:nvPr>
            <p:ph sz="quarter" idx="4"/>
          </p:nvPr>
        </p:nvPicPr>
        <p:blipFill>
          <a:blip r:embed="rId3"/>
          <a:stretch>
            <a:fillRect/>
          </a:stretch>
        </p:blipFill>
        <p:spPr>
          <a:xfrm>
            <a:off x="6841218" y="1751528"/>
            <a:ext cx="4358878" cy="2303824"/>
          </a:xfrm>
          <a:ln w="25400">
            <a:solidFill>
              <a:schemeClr val="tx1"/>
            </a:solidFill>
          </a:ln>
        </p:spPr>
      </p:pic>
      <p:graphicFrame>
        <p:nvGraphicFramePr>
          <p:cNvPr id="10" name="Chart 9">
            <a:extLst>
              <a:ext uri="{FF2B5EF4-FFF2-40B4-BE49-F238E27FC236}">
                <a16:creationId xmlns:a16="http://schemas.microsoft.com/office/drawing/2014/main" id="{EC4A9185-5B96-6B6D-5758-017B8F3EE12A}"/>
              </a:ext>
            </a:extLst>
          </p:cNvPr>
          <p:cNvGraphicFramePr/>
          <p:nvPr>
            <p:extLst>
              <p:ext uri="{D42A27DB-BD31-4B8C-83A1-F6EECF244321}">
                <p14:modId xmlns:p14="http://schemas.microsoft.com/office/powerpoint/2010/main" val="3912520051"/>
              </p:ext>
            </p:extLst>
          </p:nvPr>
        </p:nvGraphicFramePr>
        <p:xfrm>
          <a:off x="6841218" y="4221943"/>
          <a:ext cx="4358878" cy="2134407"/>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3">
            <a:extLst>
              <a:ext uri="{FF2B5EF4-FFF2-40B4-BE49-F238E27FC236}">
                <a16:creationId xmlns:a16="http://schemas.microsoft.com/office/drawing/2014/main" id="{E65418EA-2FB2-C682-01E2-3E87E7D0C59C}"/>
              </a:ext>
            </a:extLst>
          </p:cNvPr>
          <p:cNvSpPr txBox="1"/>
          <p:nvPr/>
        </p:nvSpPr>
        <p:spPr>
          <a:xfrm>
            <a:off x="7213600" y="1343164"/>
            <a:ext cx="3831771" cy="369332"/>
          </a:xfrm>
          <a:prstGeom prst="rect">
            <a:avLst/>
          </a:prstGeom>
          <a:noFill/>
        </p:spPr>
        <p:txBody>
          <a:bodyPr wrap="square" rtlCol="0">
            <a:spAutoFit/>
          </a:bodyPr>
          <a:lstStyle/>
          <a:p>
            <a:pPr algn="ctr"/>
            <a:r>
              <a:rPr lang="en-US" i="1" dirty="0">
                <a:latin typeface="Century Gothic" panose="020B0502020202020204" pitchFamily="34" charset="0"/>
              </a:rPr>
              <a:t>Survey Data </a:t>
            </a:r>
          </a:p>
        </p:txBody>
      </p:sp>
      <p:sp>
        <p:nvSpPr>
          <p:cNvPr id="5" name="Slide Number Placeholder 4">
            <a:extLst>
              <a:ext uri="{FF2B5EF4-FFF2-40B4-BE49-F238E27FC236}">
                <a16:creationId xmlns:a16="http://schemas.microsoft.com/office/drawing/2014/main" id="{3A5DABB0-1E38-CBBA-E86C-FB2E96B2A8AC}"/>
              </a:ext>
            </a:extLst>
          </p:cNvPr>
          <p:cNvSpPr>
            <a:spLocks noGrp="1"/>
          </p:cNvSpPr>
          <p:nvPr>
            <p:ph type="sldNum" sz="quarter" idx="12"/>
          </p:nvPr>
        </p:nvSpPr>
        <p:spPr/>
        <p:txBody>
          <a:bodyPr/>
          <a:lstStyle/>
          <a:p>
            <a:fld id="{BA0420FF-E5B6-6E40-B042-B5CA0D8A2F91}" type="slidenum">
              <a:rPr lang="en-US" smtClean="0"/>
              <a:t>20</a:t>
            </a:fld>
            <a:endParaRPr lang="en-US"/>
          </a:p>
        </p:txBody>
      </p:sp>
    </p:spTree>
    <p:extLst>
      <p:ext uri="{BB962C8B-B14F-4D97-AF65-F5344CB8AC3E}">
        <p14:creationId xmlns:p14="http://schemas.microsoft.com/office/powerpoint/2010/main" val="2860467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57404-C405-4F59-2C42-8AF5A4211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43C07-66F5-5040-1211-C576A9186E3C}"/>
              </a:ext>
            </a:extLst>
          </p:cNvPr>
          <p:cNvSpPr>
            <a:spLocks noGrp="1"/>
          </p:cNvSpPr>
          <p:nvPr>
            <p:ph type="title"/>
          </p:nvPr>
        </p:nvSpPr>
        <p:spPr/>
        <p:txBody>
          <a:bodyPr>
            <a:normAutofit/>
          </a:bodyPr>
          <a:lstStyle/>
          <a:p>
            <a:r>
              <a:rPr lang="en-US" sz="4000" b="1" dirty="0">
                <a:latin typeface="Century Gothic" panose="020B0502020202020204" pitchFamily="34" charset="0"/>
              </a:rPr>
              <a:t>Results, Discussion &amp; Implications (4)</a:t>
            </a:r>
            <a:endParaRPr lang="en-US" sz="4000" dirty="0"/>
          </a:p>
        </p:txBody>
      </p:sp>
      <p:sp>
        <p:nvSpPr>
          <p:cNvPr id="8" name="Text Placeholder 7">
            <a:extLst>
              <a:ext uri="{FF2B5EF4-FFF2-40B4-BE49-F238E27FC236}">
                <a16:creationId xmlns:a16="http://schemas.microsoft.com/office/drawing/2014/main" id="{B83B39CC-CC12-BF09-AB14-89FD8DDE620D}"/>
              </a:ext>
            </a:extLst>
          </p:cNvPr>
          <p:cNvSpPr>
            <a:spLocks noGrp="1"/>
          </p:cNvSpPr>
          <p:nvPr>
            <p:ph type="body" idx="1"/>
          </p:nvPr>
        </p:nvSpPr>
        <p:spPr>
          <a:xfrm>
            <a:off x="836612" y="1401716"/>
            <a:ext cx="10351341" cy="577943"/>
          </a:xfrm>
        </p:spPr>
        <p:txBody>
          <a:bodyPr>
            <a:normAutofit/>
          </a:bodyPr>
          <a:lstStyle/>
          <a:p>
            <a:r>
              <a:rPr lang="en-US" sz="3200" b="0" i="1" dirty="0">
                <a:solidFill>
                  <a:srgbClr val="C00000"/>
                </a:solidFill>
                <a:latin typeface="Century Gothic" panose="020B0502020202020204" pitchFamily="34" charset="0"/>
              </a:rPr>
              <a:t>Theme 3: Cybersecurity Culture &amp; Commitment</a:t>
            </a:r>
          </a:p>
        </p:txBody>
      </p:sp>
      <p:sp>
        <p:nvSpPr>
          <p:cNvPr id="3" name="Content Placeholder 2">
            <a:extLst>
              <a:ext uri="{FF2B5EF4-FFF2-40B4-BE49-F238E27FC236}">
                <a16:creationId xmlns:a16="http://schemas.microsoft.com/office/drawing/2014/main" id="{A7616A0D-6A3B-35D5-6B46-97315D971E14}"/>
              </a:ext>
            </a:extLst>
          </p:cNvPr>
          <p:cNvSpPr>
            <a:spLocks noGrp="1"/>
          </p:cNvSpPr>
          <p:nvPr>
            <p:ph sz="half" idx="2"/>
          </p:nvPr>
        </p:nvSpPr>
        <p:spPr>
          <a:xfrm>
            <a:off x="836612" y="1979659"/>
            <a:ext cx="5776165" cy="4649741"/>
          </a:xfrm>
        </p:spPr>
        <p:txBody>
          <a:bodyPr>
            <a:normAutofit/>
          </a:bodyPr>
          <a:lstStyle/>
          <a:p>
            <a:pPr lvl="1">
              <a:buFont typeface="Wingdings" pitchFamily="2" charset="2"/>
              <a:buChar char="ü"/>
            </a:pPr>
            <a:r>
              <a:rPr lang="en-US" sz="2200" dirty="0">
                <a:latin typeface="Century Gothic" panose="020B0502020202020204" pitchFamily="34" charset="0"/>
              </a:rPr>
              <a:t>Only 22% say cybersecurity culture promoted effectively</a:t>
            </a:r>
          </a:p>
          <a:p>
            <a:pPr lvl="1">
              <a:buFont typeface="Wingdings" pitchFamily="2" charset="2"/>
              <a:buChar char="ü"/>
            </a:pPr>
            <a:r>
              <a:rPr lang="en-US" sz="2200" dirty="0">
                <a:latin typeface="Century Gothic" panose="020B0502020202020204" pitchFamily="34" charset="0"/>
              </a:rPr>
              <a:t>Leadership support procedural, not participatory</a:t>
            </a:r>
          </a:p>
          <a:p>
            <a:pPr lvl="1">
              <a:buFont typeface="Wingdings" pitchFamily="2" charset="2"/>
              <a:buChar char="ü"/>
            </a:pPr>
            <a:r>
              <a:rPr lang="en-US" sz="2200" dirty="0">
                <a:latin typeface="Century Gothic" panose="020B0502020202020204" pitchFamily="34" charset="0"/>
              </a:rPr>
              <a:t>Lack of visible campaigns, drills, peer support</a:t>
            </a:r>
          </a:p>
          <a:p>
            <a:pPr marL="0" indent="0">
              <a:buNone/>
            </a:pPr>
            <a:r>
              <a:rPr lang="en-US" sz="2200" b="1" dirty="0">
                <a:latin typeface="Century Gothic" panose="020B0502020202020204" pitchFamily="34" charset="0"/>
                <a:cs typeface="Times New Roman" panose="02020603050405020304" pitchFamily="18" charset="0"/>
              </a:rPr>
              <a:t>Implications:</a:t>
            </a:r>
            <a:endParaRPr lang="en-US" sz="2200" dirty="0">
              <a:latin typeface="Century Gothic" panose="020B0502020202020204" pitchFamily="34" charset="0"/>
              <a:cs typeface="Times New Roman" panose="02020603050405020304" pitchFamily="18" charset="0"/>
            </a:endParaRPr>
          </a:p>
          <a:p>
            <a:pPr lvl="1">
              <a:buFont typeface="Wingdings" pitchFamily="2" charset="2"/>
              <a:buChar char="ü"/>
            </a:pPr>
            <a:r>
              <a:rPr lang="en-US" sz="2200" dirty="0">
                <a:latin typeface="Century Gothic" panose="020B0502020202020204" pitchFamily="34" charset="0"/>
              </a:rPr>
              <a:t>Leadership must role-model secure behaviors</a:t>
            </a:r>
          </a:p>
          <a:p>
            <a:pPr lvl="1">
              <a:buFont typeface="Wingdings" pitchFamily="2" charset="2"/>
              <a:buChar char="ü"/>
            </a:pPr>
            <a:r>
              <a:rPr lang="en-US" sz="2200" dirty="0">
                <a:latin typeface="Century Gothic" panose="020B0502020202020204" pitchFamily="34" charset="0"/>
              </a:rPr>
              <a:t>Launch organization-wide awareness campaigns</a:t>
            </a:r>
          </a:p>
          <a:p>
            <a:pPr lvl="1">
              <a:buFont typeface="Wingdings" pitchFamily="2" charset="2"/>
              <a:buChar char="ü"/>
            </a:pPr>
            <a:r>
              <a:rPr lang="en-US" sz="2200" dirty="0">
                <a:latin typeface="Century Gothic" panose="020B0502020202020204" pitchFamily="34" charset="0"/>
              </a:rPr>
              <a:t>Encourage cross-functional, peer-led security initiatives</a:t>
            </a:r>
          </a:p>
          <a:p>
            <a:endParaRPr lang="en-US" dirty="0"/>
          </a:p>
        </p:txBody>
      </p:sp>
      <p:pic>
        <p:nvPicPr>
          <p:cNvPr id="7" name="Content Placeholder 6" descr="A graph of a number of people&#10;&#10;AI-generated content may be incorrect.">
            <a:extLst>
              <a:ext uri="{FF2B5EF4-FFF2-40B4-BE49-F238E27FC236}">
                <a16:creationId xmlns:a16="http://schemas.microsoft.com/office/drawing/2014/main" id="{3C17C9F8-FDFF-BBE9-7A9B-FF386BF96D98}"/>
              </a:ext>
            </a:extLst>
          </p:cNvPr>
          <p:cNvPicPr>
            <a:picLocks noGrp="1" noChangeAspect="1"/>
          </p:cNvPicPr>
          <p:nvPr>
            <p:ph sz="quarter" idx="4"/>
          </p:nvPr>
        </p:nvPicPr>
        <p:blipFill>
          <a:blip r:embed="rId3"/>
          <a:stretch>
            <a:fillRect/>
          </a:stretch>
        </p:blipFill>
        <p:spPr>
          <a:xfrm>
            <a:off x="7070959" y="2163155"/>
            <a:ext cx="4597400" cy="2768600"/>
          </a:xfrm>
          <a:ln w="25400">
            <a:solidFill>
              <a:schemeClr val="tx1"/>
            </a:solidFill>
          </a:ln>
        </p:spPr>
      </p:pic>
      <p:sp>
        <p:nvSpPr>
          <p:cNvPr id="4" name="TextBox 3">
            <a:extLst>
              <a:ext uri="{FF2B5EF4-FFF2-40B4-BE49-F238E27FC236}">
                <a16:creationId xmlns:a16="http://schemas.microsoft.com/office/drawing/2014/main" id="{C24AA86F-308E-1B75-C16F-2D0FD4D4F508}"/>
              </a:ext>
            </a:extLst>
          </p:cNvPr>
          <p:cNvSpPr txBox="1"/>
          <p:nvPr/>
        </p:nvSpPr>
        <p:spPr>
          <a:xfrm>
            <a:off x="7453773" y="5017274"/>
            <a:ext cx="3831771" cy="369332"/>
          </a:xfrm>
          <a:prstGeom prst="rect">
            <a:avLst/>
          </a:prstGeom>
          <a:noFill/>
        </p:spPr>
        <p:txBody>
          <a:bodyPr wrap="square" rtlCol="0">
            <a:spAutoFit/>
          </a:bodyPr>
          <a:lstStyle/>
          <a:p>
            <a:pPr algn="ctr"/>
            <a:r>
              <a:rPr lang="en-US" i="1" dirty="0">
                <a:latin typeface="Century Gothic" panose="020B0502020202020204" pitchFamily="34" charset="0"/>
              </a:rPr>
              <a:t>Survey Data </a:t>
            </a:r>
          </a:p>
        </p:txBody>
      </p:sp>
      <p:sp>
        <p:nvSpPr>
          <p:cNvPr id="5" name="Slide Number Placeholder 4">
            <a:extLst>
              <a:ext uri="{FF2B5EF4-FFF2-40B4-BE49-F238E27FC236}">
                <a16:creationId xmlns:a16="http://schemas.microsoft.com/office/drawing/2014/main" id="{DA484DE4-F52E-7A1B-EF07-86DBD06C5AE8}"/>
              </a:ext>
            </a:extLst>
          </p:cNvPr>
          <p:cNvSpPr>
            <a:spLocks noGrp="1"/>
          </p:cNvSpPr>
          <p:nvPr>
            <p:ph type="sldNum" sz="quarter" idx="12"/>
          </p:nvPr>
        </p:nvSpPr>
        <p:spPr/>
        <p:txBody>
          <a:bodyPr/>
          <a:lstStyle/>
          <a:p>
            <a:fld id="{BA0420FF-E5B6-6E40-B042-B5CA0D8A2F91}" type="slidenum">
              <a:rPr lang="en-US" smtClean="0"/>
              <a:t>21</a:t>
            </a:fld>
            <a:endParaRPr lang="en-US"/>
          </a:p>
        </p:txBody>
      </p:sp>
    </p:spTree>
    <p:extLst>
      <p:ext uri="{BB962C8B-B14F-4D97-AF65-F5344CB8AC3E}">
        <p14:creationId xmlns:p14="http://schemas.microsoft.com/office/powerpoint/2010/main" val="4120334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55164-C153-60DB-7B81-2ABF6C930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86087-8723-9889-73BC-ADD5423BB303}"/>
              </a:ext>
            </a:extLst>
          </p:cNvPr>
          <p:cNvSpPr>
            <a:spLocks noGrp="1"/>
          </p:cNvSpPr>
          <p:nvPr>
            <p:ph type="title"/>
          </p:nvPr>
        </p:nvSpPr>
        <p:spPr>
          <a:xfrm>
            <a:off x="839788" y="365125"/>
            <a:ext cx="10515600" cy="1060263"/>
          </a:xfrm>
        </p:spPr>
        <p:txBody>
          <a:bodyPr>
            <a:normAutofit/>
          </a:bodyPr>
          <a:lstStyle/>
          <a:p>
            <a:r>
              <a:rPr lang="en-US" sz="4000" b="1" dirty="0">
                <a:latin typeface="Century Gothic" panose="020B0502020202020204" pitchFamily="34" charset="0"/>
              </a:rPr>
              <a:t>Results, Discussion &amp; Implications (5)</a:t>
            </a:r>
            <a:endParaRPr lang="en-US" sz="4000" dirty="0"/>
          </a:p>
        </p:txBody>
      </p:sp>
      <p:sp>
        <p:nvSpPr>
          <p:cNvPr id="8" name="Text Placeholder 7">
            <a:extLst>
              <a:ext uri="{FF2B5EF4-FFF2-40B4-BE49-F238E27FC236}">
                <a16:creationId xmlns:a16="http://schemas.microsoft.com/office/drawing/2014/main" id="{0C1008A4-6322-8500-0D45-13B580C5CA70}"/>
              </a:ext>
            </a:extLst>
          </p:cNvPr>
          <p:cNvSpPr>
            <a:spLocks noGrp="1"/>
          </p:cNvSpPr>
          <p:nvPr>
            <p:ph type="body" idx="1"/>
          </p:nvPr>
        </p:nvSpPr>
        <p:spPr>
          <a:xfrm>
            <a:off x="836612" y="1322271"/>
            <a:ext cx="10351341" cy="577943"/>
          </a:xfrm>
        </p:spPr>
        <p:txBody>
          <a:bodyPr>
            <a:normAutofit/>
          </a:bodyPr>
          <a:lstStyle/>
          <a:p>
            <a:r>
              <a:rPr lang="en-US" sz="3200" b="0" i="1" dirty="0">
                <a:solidFill>
                  <a:srgbClr val="C00000"/>
                </a:solidFill>
                <a:latin typeface="Century Gothic" panose="020B0502020202020204" pitchFamily="34" charset="0"/>
              </a:rPr>
              <a:t>Theme 4: Sustainability &amp; Strategic Impact</a:t>
            </a:r>
          </a:p>
        </p:txBody>
      </p:sp>
      <p:sp>
        <p:nvSpPr>
          <p:cNvPr id="3" name="Content Placeholder 2">
            <a:extLst>
              <a:ext uri="{FF2B5EF4-FFF2-40B4-BE49-F238E27FC236}">
                <a16:creationId xmlns:a16="http://schemas.microsoft.com/office/drawing/2014/main" id="{C1DBCA13-8BF9-E58B-959D-3AB51789326C}"/>
              </a:ext>
            </a:extLst>
          </p:cNvPr>
          <p:cNvSpPr>
            <a:spLocks noGrp="1"/>
          </p:cNvSpPr>
          <p:nvPr>
            <p:ph sz="half" idx="2"/>
          </p:nvPr>
        </p:nvSpPr>
        <p:spPr>
          <a:xfrm>
            <a:off x="836612" y="1900215"/>
            <a:ext cx="5776165" cy="4729186"/>
          </a:xfrm>
        </p:spPr>
        <p:txBody>
          <a:bodyPr>
            <a:normAutofit fontScale="92500" lnSpcReduction="10000"/>
          </a:bodyPr>
          <a:lstStyle/>
          <a:p>
            <a:pPr marL="0" indent="0">
              <a:buNone/>
            </a:pPr>
            <a:r>
              <a:rPr lang="en-US" sz="2400" b="1" dirty="0">
                <a:latin typeface="Century Gothic" panose="020B0502020202020204" pitchFamily="34" charset="0"/>
              </a:rPr>
              <a:t>Strategic Recognition</a:t>
            </a:r>
          </a:p>
          <a:p>
            <a:pPr lvl="1">
              <a:buFont typeface="Wingdings" pitchFamily="2" charset="2"/>
              <a:buChar char="ü"/>
            </a:pPr>
            <a:r>
              <a:rPr lang="en-US" sz="2200" dirty="0">
                <a:latin typeface="Century Gothic" panose="020B0502020202020204" pitchFamily="34" charset="0"/>
              </a:rPr>
              <a:t>72% agree cybersecurity affects long-term success </a:t>
            </a:r>
          </a:p>
          <a:p>
            <a:pPr lvl="1">
              <a:buFont typeface="Wingdings" pitchFamily="2" charset="2"/>
              <a:buChar char="ü"/>
            </a:pPr>
            <a:r>
              <a:rPr lang="en-US" sz="2200" dirty="0">
                <a:latin typeface="Century Gothic" panose="020B0502020202020204" pitchFamily="34" charset="0"/>
              </a:rPr>
              <a:t>Strategic opportunity: integrate security into business continuity</a:t>
            </a:r>
          </a:p>
          <a:p>
            <a:pPr lvl="1">
              <a:buFont typeface="Wingdings" pitchFamily="2" charset="2"/>
              <a:buChar char="ü"/>
            </a:pPr>
            <a:r>
              <a:rPr lang="en-US" sz="2200" dirty="0">
                <a:latin typeface="Century Gothic" panose="020B0502020202020204" pitchFamily="34" charset="0"/>
              </a:rPr>
              <a:t>Contractor model makes security critical</a:t>
            </a:r>
          </a:p>
          <a:p>
            <a:pPr marL="0" lvl="0" indent="0">
              <a:buNone/>
            </a:pPr>
            <a:r>
              <a:rPr lang="en-US" sz="2400" b="1" dirty="0">
                <a:latin typeface="Century Gothic" panose="020B0502020202020204" pitchFamily="34" charset="0"/>
              </a:rPr>
              <a:t>Implications:</a:t>
            </a:r>
            <a:endParaRPr lang="en-US" sz="2400" dirty="0">
              <a:latin typeface="Century Gothic" panose="020B0502020202020204" pitchFamily="34" charset="0"/>
            </a:endParaRPr>
          </a:p>
          <a:p>
            <a:pPr lvl="1">
              <a:buFont typeface="Wingdings" pitchFamily="2" charset="2"/>
              <a:buChar char="ü"/>
            </a:pPr>
            <a:r>
              <a:rPr lang="en-US" sz="2200" dirty="0">
                <a:latin typeface="Century Gothic" panose="020B0502020202020204" pitchFamily="34" charset="0"/>
              </a:rPr>
              <a:t>Cybersecurity must shift from reactive to proactive strategic pillar</a:t>
            </a:r>
          </a:p>
          <a:p>
            <a:pPr lvl="1">
              <a:buFont typeface="Wingdings" pitchFamily="2" charset="2"/>
              <a:buChar char="ü"/>
            </a:pPr>
            <a:r>
              <a:rPr lang="en-US" sz="2200" dirty="0">
                <a:latin typeface="Century Gothic" panose="020B0502020202020204" pitchFamily="34" charset="0"/>
              </a:rPr>
              <a:t>Leadership engagement &amp; culture-building essential for resilience</a:t>
            </a:r>
          </a:p>
          <a:p>
            <a:pPr lvl="1">
              <a:buFont typeface="Wingdings" pitchFamily="2" charset="2"/>
              <a:buChar char="ü"/>
            </a:pPr>
            <a:r>
              <a:rPr lang="en-US" sz="2200" dirty="0">
                <a:latin typeface="Century Gothic" panose="020B0502020202020204" pitchFamily="34" charset="0"/>
              </a:rPr>
              <a:t>Systematic training, continuous improvement, and compliance audits needed</a:t>
            </a:r>
          </a:p>
          <a:p>
            <a:endParaRPr lang="en-US" dirty="0"/>
          </a:p>
        </p:txBody>
      </p:sp>
      <p:pic>
        <p:nvPicPr>
          <p:cNvPr id="9" name="Content Placeholder 8" descr="A pie chart with text&#10;&#10;AI-generated content may be incorrect.">
            <a:extLst>
              <a:ext uri="{FF2B5EF4-FFF2-40B4-BE49-F238E27FC236}">
                <a16:creationId xmlns:a16="http://schemas.microsoft.com/office/drawing/2014/main" id="{81DE5603-30FB-B6AC-90D2-BD799FF5F8C0}"/>
              </a:ext>
            </a:extLst>
          </p:cNvPr>
          <p:cNvPicPr>
            <a:picLocks noGrp="1" noChangeAspect="1"/>
          </p:cNvPicPr>
          <p:nvPr>
            <p:ph sz="quarter" idx="4"/>
          </p:nvPr>
        </p:nvPicPr>
        <p:blipFill>
          <a:blip r:embed="rId3"/>
          <a:stretch>
            <a:fillRect/>
          </a:stretch>
        </p:blipFill>
        <p:spPr>
          <a:xfrm>
            <a:off x="6720843" y="1900214"/>
            <a:ext cx="5005212" cy="3057573"/>
          </a:xfrm>
          <a:ln w="25400">
            <a:solidFill>
              <a:schemeClr val="tx1"/>
            </a:solidFill>
          </a:ln>
        </p:spPr>
      </p:pic>
      <p:sp>
        <p:nvSpPr>
          <p:cNvPr id="4" name="Slide Number Placeholder 3">
            <a:extLst>
              <a:ext uri="{FF2B5EF4-FFF2-40B4-BE49-F238E27FC236}">
                <a16:creationId xmlns:a16="http://schemas.microsoft.com/office/drawing/2014/main" id="{398E0E4F-ECBD-083A-5880-A63FD8E79FCE}"/>
              </a:ext>
            </a:extLst>
          </p:cNvPr>
          <p:cNvSpPr>
            <a:spLocks noGrp="1"/>
          </p:cNvSpPr>
          <p:nvPr>
            <p:ph type="sldNum" sz="quarter" idx="12"/>
          </p:nvPr>
        </p:nvSpPr>
        <p:spPr/>
        <p:txBody>
          <a:bodyPr/>
          <a:lstStyle/>
          <a:p>
            <a:fld id="{BA0420FF-E5B6-6E40-B042-B5CA0D8A2F91}" type="slidenum">
              <a:rPr lang="en-US" smtClean="0"/>
              <a:t>22</a:t>
            </a:fld>
            <a:endParaRPr lang="en-US"/>
          </a:p>
        </p:txBody>
      </p:sp>
    </p:spTree>
    <p:extLst>
      <p:ext uri="{BB962C8B-B14F-4D97-AF65-F5344CB8AC3E}">
        <p14:creationId xmlns:p14="http://schemas.microsoft.com/office/powerpoint/2010/main" val="3885274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6BD2D-C93B-75A6-7E5F-A0F987C62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4D27A-52EF-BB8E-616F-1A0BDCB3642D}"/>
              </a:ext>
            </a:extLst>
          </p:cNvPr>
          <p:cNvSpPr>
            <a:spLocks noGrp="1"/>
          </p:cNvSpPr>
          <p:nvPr>
            <p:ph type="title"/>
          </p:nvPr>
        </p:nvSpPr>
        <p:spPr>
          <a:xfrm>
            <a:off x="838200" y="681037"/>
            <a:ext cx="10515600" cy="841014"/>
          </a:xfrm>
        </p:spPr>
        <p:txBody>
          <a:bodyPr>
            <a:normAutofit fontScale="90000"/>
          </a:bodyPr>
          <a:lstStyle/>
          <a:p>
            <a:br>
              <a:rPr lang="en-US" dirty="0">
                <a:latin typeface="Segoe UI" panose="020B0502040204020203" pitchFamily="34" charset="0"/>
                <a:ea typeface="Segoe UI" panose="020B0502040204020203" pitchFamily="34" charset="0"/>
                <a:cs typeface="Segoe UI" panose="020B0502040204020203" pitchFamily="34" charset="0"/>
              </a:rPr>
            </a:br>
            <a:r>
              <a:rPr lang="en-US" b="1" dirty="0">
                <a:latin typeface="Century Gothic" panose="020B0502020202020204" pitchFamily="34" charset="0"/>
                <a:ea typeface="Segoe UI" panose="020B0502040204020203" pitchFamily="34" charset="0"/>
                <a:cs typeface="Segoe UI" panose="020B0502040204020203" pitchFamily="34" charset="0"/>
              </a:rPr>
              <a:t>Recommendations for Future Research</a:t>
            </a:r>
            <a:br>
              <a:rPr lang="en-US" dirty="0">
                <a:latin typeface="Segoe UI" panose="020B0502040204020203" pitchFamily="34" charset="0"/>
                <a:ea typeface="Segoe UI" panose="020B0502040204020203" pitchFamily="34" charset="0"/>
                <a:cs typeface="Segoe UI" panose="020B0502040204020203" pitchFamily="34" charset="0"/>
              </a:rPr>
            </a:br>
            <a:endParaRPr lang="en-US" dirty="0"/>
          </a:p>
        </p:txBody>
      </p:sp>
      <p:sp>
        <p:nvSpPr>
          <p:cNvPr id="3" name="Content Placeholder 2">
            <a:extLst>
              <a:ext uri="{FF2B5EF4-FFF2-40B4-BE49-F238E27FC236}">
                <a16:creationId xmlns:a16="http://schemas.microsoft.com/office/drawing/2014/main" id="{8514A69C-F511-89E0-90BD-8C9220143719}"/>
              </a:ext>
            </a:extLst>
          </p:cNvPr>
          <p:cNvSpPr>
            <a:spLocks noGrp="1"/>
          </p:cNvSpPr>
          <p:nvPr>
            <p:ph idx="1"/>
          </p:nvPr>
        </p:nvSpPr>
        <p:spPr>
          <a:xfrm>
            <a:off x="838200" y="1409700"/>
            <a:ext cx="10515600" cy="4767264"/>
          </a:xfrm>
        </p:spPr>
        <p:txBody>
          <a:bodyPr>
            <a:normAutofit fontScale="85000" lnSpcReduction="10000"/>
          </a:bodyPr>
          <a:lstStyle/>
          <a:p>
            <a:pPr marL="0" indent="0">
              <a:buNone/>
            </a:pPr>
            <a:r>
              <a:rPr lang="en-US" b="1" dirty="0">
                <a:latin typeface="Century Gothic" panose="020B0502020202020204" pitchFamily="34" charset="0"/>
              </a:rPr>
              <a:t>Key Directions for Future Research</a:t>
            </a:r>
          </a:p>
          <a:p>
            <a:pPr marL="0" indent="0">
              <a:buNone/>
            </a:pPr>
            <a:r>
              <a:rPr lang="en-US" dirty="0">
                <a:latin typeface="Century Gothic" panose="020B0502020202020204" pitchFamily="34" charset="0"/>
              </a:rPr>
              <a:t>Advancing Cybersecurity Research in SMEs</a:t>
            </a:r>
            <a:br>
              <a:rPr lang="en-US" dirty="0">
                <a:latin typeface="Century Gothic" panose="020B0502020202020204" pitchFamily="34" charset="0"/>
              </a:rPr>
            </a:br>
            <a:endParaRPr lang="en-US" dirty="0">
              <a:latin typeface="Century Gothic" panose="020B0502020202020204" pitchFamily="34" charset="0"/>
            </a:endParaRPr>
          </a:p>
          <a:p>
            <a:r>
              <a:rPr lang="en-US" b="1" dirty="0">
                <a:latin typeface="Century Gothic" panose="020B0502020202020204" pitchFamily="34" charset="0"/>
              </a:rPr>
              <a:t>Longitudinal &amp; Comparative Studies</a:t>
            </a:r>
            <a:endParaRPr lang="en-US" dirty="0">
              <a:latin typeface="Century Gothic" panose="020B0502020202020204" pitchFamily="34" charset="0"/>
            </a:endParaRPr>
          </a:p>
          <a:p>
            <a:pPr lvl="1"/>
            <a:r>
              <a:rPr lang="en-US" dirty="0">
                <a:latin typeface="Century Gothic" panose="020B0502020202020204" pitchFamily="34" charset="0"/>
              </a:rPr>
              <a:t>Track culture, leadership, and training impact over time.</a:t>
            </a:r>
          </a:p>
          <a:p>
            <a:pPr lvl="1"/>
            <a:r>
              <a:rPr lang="en-US" dirty="0">
                <a:latin typeface="Century Gothic" panose="020B0502020202020204" pitchFamily="34" charset="0"/>
              </a:rPr>
              <a:t>Compare SMEs across industries/regions to identify context-specific maturity drivers.</a:t>
            </a:r>
          </a:p>
          <a:p>
            <a:r>
              <a:rPr lang="en-US" b="1" dirty="0">
                <a:latin typeface="Century Gothic" panose="020B0502020202020204" pitchFamily="34" charset="0"/>
              </a:rPr>
              <a:t>Socio-Technical &amp; Leadership Dynamics</a:t>
            </a:r>
            <a:endParaRPr lang="en-US" dirty="0">
              <a:latin typeface="Century Gothic" panose="020B0502020202020204" pitchFamily="34" charset="0"/>
            </a:endParaRPr>
          </a:p>
          <a:p>
            <a:pPr lvl="1"/>
            <a:r>
              <a:rPr lang="en-US" dirty="0">
                <a:latin typeface="Century Gothic" panose="020B0502020202020204" pitchFamily="34" charset="0"/>
              </a:rPr>
              <a:t>Examine informal communication (e.g., Slack) as agile awareness channels.</a:t>
            </a:r>
          </a:p>
          <a:p>
            <a:pPr lvl="1"/>
            <a:r>
              <a:rPr lang="en-US" dirty="0">
                <a:latin typeface="Century Gothic" panose="020B0502020202020204" pitchFamily="34" charset="0"/>
              </a:rPr>
              <a:t>Investigate executive decision-making, risk perception, and tech adoption barriers.</a:t>
            </a:r>
          </a:p>
          <a:p>
            <a:r>
              <a:rPr lang="en-US" b="1" dirty="0">
                <a:latin typeface="Century Gothic" panose="020B0502020202020204" pitchFamily="34" charset="0"/>
              </a:rPr>
              <a:t>Innovative Training &amp; Governance Models</a:t>
            </a:r>
            <a:endParaRPr lang="en-US" dirty="0">
              <a:latin typeface="Century Gothic" panose="020B0502020202020204" pitchFamily="34" charset="0"/>
            </a:endParaRPr>
          </a:p>
          <a:p>
            <a:pPr lvl="1"/>
            <a:r>
              <a:rPr lang="en-US" dirty="0">
                <a:latin typeface="Century Gothic" panose="020B0502020202020204" pitchFamily="34" charset="0"/>
              </a:rPr>
              <a:t>Test gamified, scenario-based training for behavioral impact.</a:t>
            </a:r>
          </a:p>
          <a:p>
            <a:pPr lvl="1"/>
            <a:r>
              <a:rPr lang="en-US" dirty="0">
                <a:latin typeface="Century Gothic" panose="020B0502020202020204" pitchFamily="34" charset="0"/>
              </a:rPr>
              <a:t>Integrate cybersecurity into enterprise risk management and cultural norms.</a:t>
            </a:r>
          </a:p>
          <a:p>
            <a:endParaRPr lang="en-US" dirty="0"/>
          </a:p>
        </p:txBody>
      </p:sp>
      <p:sp>
        <p:nvSpPr>
          <p:cNvPr id="4" name="Slide Number Placeholder 3">
            <a:extLst>
              <a:ext uri="{FF2B5EF4-FFF2-40B4-BE49-F238E27FC236}">
                <a16:creationId xmlns:a16="http://schemas.microsoft.com/office/drawing/2014/main" id="{CE4814EC-49F1-940C-AB98-41FA57A46C7B}"/>
              </a:ext>
            </a:extLst>
          </p:cNvPr>
          <p:cNvSpPr>
            <a:spLocks noGrp="1"/>
          </p:cNvSpPr>
          <p:nvPr>
            <p:ph type="sldNum" sz="quarter" idx="12"/>
          </p:nvPr>
        </p:nvSpPr>
        <p:spPr/>
        <p:txBody>
          <a:bodyPr/>
          <a:lstStyle/>
          <a:p>
            <a:fld id="{BA0420FF-E5B6-6E40-B042-B5CA0D8A2F91}" type="slidenum">
              <a:rPr lang="en-US" smtClean="0"/>
              <a:t>23</a:t>
            </a:fld>
            <a:endParaRPr lang="en-US"/>
          </a:p>
        </p:txBody>
      </p:sp>
    </p:spTree>
    <p:extLst>
      <p:ext uri="{BB962C8B-B14F-4D97-AF65-F5344CB8AC3E}">
        <p14:creationId xmlns:p14="http://schemas.microsoft.com/office/powerpoint/2010/main" val="2018392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674"/>
            <a:ext cx="10515600" cy="841014"/>
          </a:xfrm>
        </p:spPr>
        <p:txBody>
          <a:bodyPr anchor="ctr">
            <a:normAutofit/>
          </a:bodyPr>
          <a:lstStyle/>
          <a:p>
            <a:r>
              <a:rPr lang="en-US" sz="4000" b="1" dirty="0">
                <a:latin typeface="Century Gothic" panose="020B0502020202020204" pitchFamily="34" charset="0"/>
              </a:rPr>
              <a:t>Closing Remarks</a:t>
            </a:r>
          </a:p>
        </p:txBody>
      </p:sp>
      <p:graphicFrame>
        <p:nvGraphicFramePr>
          <p:cNvPr id="5" name="Content Placeholder 2">
            <a:extLst>
              <a:ext uri="{FF2B5EF4-FFF2-40B4-BE49-F238E27FC236}">
                <a16:creationId xmlns:a16="http://schemas.microsoft.com/office/drawing/2014/main" id="{2BBC5AA4-16C7-1D9D-8127-E052262622EE}"/>
              </a:ext>
            </a:extLst>
          </p:cNvPr>
          <p:cNvGraphicFramePr>
            <a:graphicFrameLocks noGrp="1"/>
          </p:cNvGraphicFramePr>
          <p:nvPr>
            <p:ph idx="1"/>
            <p:extLst>
              <p:ext uri="{D42A27DB-BD31-4B8C-83A1-F6EECF244321}">
                <p14:modId xmlns:p14="http://schemas.microsoft.com/office/powerpoint/2010/main" val="71994754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1AC9DD26-3ECF-6969-80C9-148F4E173AE0}"/>
              </a:ext>
            </a:extLst>
          </p:cNvPr>
          <p:cNvSpPr>
            <a:spLocks noGrp="1"/>
          </p:cNvSpPr>
          <p:nvPr>
            <p:ph type="sldNum" sz="quarter" idx="12"/>
          </p:nvPr>
        </p:nvSpPr>
        <p:spPr/>
        <p:txBody>
          <a:bodyPr/>
          <a:lstStyle/>
          <a:p>
            <a:fld id="{BA0420FF-E5B6-6E40-B042-B5CA0D8A2F91}" type="slidenum">
              <a:rPr lang="en-US" smtClean="0"/>
              <a:t>24</a:t>
            </a:fld>
            <a:endParaRPr lang="en-US"/>
          </a:p>
        </p:txBody>
      </p:sp>
    </p:spTree>
    <p:extLst>
      <p:ext uri="{BB962C8B-B14F-4D97-AF65-F5344CB8AC3E}">
        <p14:creationId xmlns:p14="http://schemas.microsoft.com/office/powerpoint/2010/main" val="2490226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7C7AE-2185-0C39-9D96-414D6979C34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B9D1C1A-06F8-BB4A-023E-FA8D71598B89}"/>
              </a:ext>
            </a:extLst>
          </p:cNvPr>
          <p:cNvSpPr>
            <a:spLocks noGrp="1"/>
          </p:cNvSpPr>
          <p:nvPr>
            <p:ph type="title"/>
          </p:nvPr>
        </p:nvSpPr>
        <p:spPr>
          <a:xfrm>
            <a:off x="838200" y="849674"/>
            <a:ext cx="10515600" cy="841014"/>
          </a:xfrm>
        </p:spPr>
        <p:txBody>
          <a:bodyPr anchor="ctr">
            <a:normAutofit/>
          </a:bodyPr>
          <a:lstStyle/>
          <a:p>
            <a:r>
              <a:rPr lang="en-US" sz="4000" b="1" dirty="0">
                <a:latin typeface="Century Gothic" panose="020B0502020202020204" pitchFamily="34" charset="0"/>
              </a:rPr>
              <a:t>Acknowledgments</a:t>
            </a:r>
          </a:p>
        </p:txBody>
      </p:sp>
      <p:graphicFrame>
        <p:nvGraphicFramePr>
          <p:cNvPr id="8" name="Content Placeholder 5">
            <a:extLst>
              <a:ext uri="{FF2B5EF4-FFF2-40B4-BE49-F238E27FC236}">
                <a16:creationId xmlns:a16="http://schemas.microsoft.com/office/drawing/2014/main" id="{80513CD7-16D6-0601-38D0-6E8B550FB62B}"/>
              </a:ext>
            </a:extLst>
          </p:cNvPr>
          <p:cNvGraphicFramePr>
            <a:graphicFrameLocks noGrp="1"/>
          </p:cNvGraphicFramePr>
          <p:nvPr>
            <p:ph idx="1"/>
            <p:extLst>
              <p:ext uri="{D42A27DB-BD31-4B8C-83A1-F6EECF244321}">
                <p14:modId xmlns:p14="http://schemas.microsoft.com/office/powerpoint/2010/main" val="394502860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96C987E6-3171-0D7A-39EB-74A9BB402EDB}"/>
              </a:ext>
            </a:extLst>
          </p:cNvPr>
          <p:cNvSpPr>
            <a:spLocks noGrp="1"/>
          </p:cNvSpPr>
          <p:nvPr>
            <p:ph type="sldNum" sz="quarter" idx="12"/>
          </p:nvPr>
        </p:nvSpPr>
        <p:spPr/>
        <p:txBody>
          <a:bodyPr/>
          <a:lstStyle/>
          <a:p>
            <a:fld id="{BA0420FF-E5B6-6E40-B042-B5CA0D8A2F91}" type="slidenum">
              <a:rPr lang="en-US" smtClean="0"/>
              <a:t>25</a:t>
            </a:fld>
            <a:endParaRPr lang="en-US"/>
          </a:p>
        </p:txBody>
      </p:sp>
    </p:spTree>
    <p:extLst>
      <p:ext uri="{BB962C8B-B14F-4D97-AF65-F5344CB8AC3E}">
        <p14:creationId xmlns:p14="http://schemas.microsoft.com/office/powerpoint/2010/main" val="3231687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9A3-E57C-6E61-1812-CBDACE594636}"/>
              </a:ext>
            </a:extLst>
          </p:cNvPr>
          <p:cNvSpPr>
            <a:spLocks noGrp="1"/>
          </p:cNvSpPr>
          <p:nvPr>
            <p:ph type="title"/>
          </p:nvPr>
        </p:nvSpPr>
        <p:spPr>
          <a:xfrm>
            <a:off x="838200" y="849674"/>
            <a:ext cx="10515600" cy="4042960"/>
          </a:xfrm>
        </p:spPr>
        <p:txBody>
          <a:bodyPr>
            <a:normAutofit/>
          </a:bodyPr>
          <a:lstStyle/>
          <a:p>
            <a:pPr algn="ctr"/>
            <a:r>
              <a:rPr lang="en-US" sz="4000" b="1" dirty="0">
                <a:latin typeface="Century Gothic" panose="020B0502020202020204" pitchFamily="34" charset="0"/>
              </a:rPr>
              <a:t>Q &amp; As </a:t>
            </a:r>
          </a:p>
        </p:txBody>
      </p:sp>
      <p:sp>
        <p:nvSpPr>
          <p:cNvPr id="4" name="Slide Number Placeholder 3">
            <a:extLst>
              <a:ext uri="{FF2B5EF4-FFF2-40B4-BE49-F238E27FC236}">
                <a16:creationId xmlns:a16="http://schemas.microsoft.com/office/drawing/2014/main" id="{20EDBFCE-3188-C48B-11E9-FAC08333EDCB}"/>
              </a:ext>
            </a:extLst>
          </p:cNvPr>
          <p:cNvSpPr>
            <a:spLocks noGrp="1"/>
          </p:cNvSpPr>
          <p:nvPr>
            <p:ph type="sldNum" sz="quarter" idx="12"/>
          </p:nvPr>
        </p:nvSpPr>
        <p:spPr/>
        <p:txBody>
          <a:bodyPr/>
          <a:lstStyle/>
          <a:p>
            <a:fld id="{BA0420FF-E5B6-6E40-B042-B5CA0D8A2F91}" type="slidenum">
              <a:rPr lang="en-US" smtClean="0"/>
              <a:t>26</a:t>
            </a:fld>
            <a:endParaRPr lang="en-US"/>
          </a:p>
        </p:txBody>
      </p:sp>
    </p:spTree>
    <p:extLst>
      <p:ext uri="{BB962C8B-B14F-4D97-AF65-F5344CB8AC3E}">
        <p14:creationId xmlns:p14="http://schemas.microsoft.com/office/powerpoint/2010/main" val="187127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374D6EE-7D72-414A-B0A7-F39DB066C767}" vid="{C96247E4-47B3-3043-8A53-B5D124733A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84F4A53-ADFB-E043-BF2F-0E74E1581DF9}">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CIU Letter Head PPT Template</Template>
  <TotalTime>5860</TotalTime>
  <Words>4373</Words>
  <Application>Microsoft Macintosh PowerPoint</Application>
  <PresentationFormat>Widescreen</PresentationFormat>
  <Paragraphs>417</Paragraphs>
  <Slides>26</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Arial</vt:lpstr>
      <vt:lpstr>Calibri</vt:lpstr>
      <vt:lpstr>Calibri Light</vt:lpstr>
      <vt:lpstr>Century Gothic</vt:lpstr>
      <vt:lpstr>Segoe UI</vt:lpstr>
      <vt:lpstr>Wingdings</vt:lpstr>
      <vt:lpstr>Office Theme</vt:lpstr>
      <vt:lpstr>Doctoral Research Project Oral Presentation</vt:lpstr>
      <vt:lpstr>Contents</vt:lpstr>
      <vt:lpstr>Background to the Study (1)</vt:lpstr>
      <vt:lpstr>Background to the Study (2)</vt:lpstr>
      <vt:lpstr>General &amp; Specific Problem Statements</vt:lpstr>
      <vt:lpstr>Purpose of the Study</vt:lpstr>
      <vt:lpstr>Significance of the study</vt:lpstr>
      <vt:lpstr>Literature Support (1) </vt:lpstr>
      <vt:lpstr>Literature Support (2)</vt:lpstr>
      <vt:lpstr>Research Framework</vt:lpstr>
      <vt:lpstr>Assumptions, Limitations and Delimitations</vt:lpstr>
      <vt:lpstr>Research Methodology (1)</vt:lpstr>
      <vt:lpstr>Research Methodology (2)</vt:lpstr>
      <vt:lpstr>Population and Sampling</vt:lpstr>
      <vt:lpstr>Data Collection and Analysis (1)</vt:lpstr>
      <vt:lpstr>Data Collection and Analysis (2)</vt:lpstr>
      <vt:lpstr> Results, Discussion and Implications (1) </vt:lpstr>
      <vt:lpstr> Results, Discussion and Implications (1) </vt:lpstr>
      <vt:lpstr>Results, Discussion &amp; Implications (2)</vt:lpstr>
      <vt:lpstr>Results, Discussion &amp; Implications (3)</vt:lpstr>
      <vt:lpstr>Results, Discussion &amp; Implications (4)</vt:lpstr>
      <vt:lpstr>Results, Discussion &amp; Implications (5)</vt:lpstr>
      <vt:lpstr> Recommendations for Future Research </vt:lpstr>
      <vt:lpstr>Closing Remarks</vt:lpstr>
      <vt:lpstr>Acknowledgments</vt:lpstr>
      <vt:lpstr>Q &amp; 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Terrance Woods</dc:creator>
  <cp:lastModifiedBy>Rodger Lutalo</cp:lastModifiedBy>
  <cp:revision>92</cp:revision>
  <dcterms:created xsi:type="dcterms:W3CDTF">2021-12-16T20:54:51Z</dcterms:created>
  <dcterms:modified xsi:type="dcterms:W3CDTF">2025-08-13T17:50:19Z</dcterms:modified>
</cp:coreProperties>
</file>